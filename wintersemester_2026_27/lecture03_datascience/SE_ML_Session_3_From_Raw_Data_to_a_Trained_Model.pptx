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09" r:id="rId60"/>
    <p:sldId id="310" r:id="rId61"/>
    <p:sldId id="327" r:id="rId78"/>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8" r:id="rId79"/>
    <p:sldId id="329" r:id="rId80"/>
    <p:sldId id="330" r:id="rId81"/>
    <p:sldId id="331" r:id="rId82"/>
    <p:sldId id="325" r:id="rId76"/>
    <p:sldId id="326" r:id="rId77"/>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6181D"/>
                </a:solidFill>
                <a:latin typeface="IBM Plex Sans"/>
              </a:rPr>
              <a:t>Mean mpg by origin</a:t>
            </a:r>
          </a:p>
        </c:rich>
      </c:tx>
      <c:layout/>
      <c:overlay val="0"/>
    </c:title>
    <c:autoTitleDeleted val="0"/>
    <c:plotArea>
      <c:barChart>
        <c:barDir val="bar"/>
        <c:grouping val="clustered"/>
        <c:ser>
          <c:idx val="0"/>
          <c:order val="0"/>
          <c:tx>
            <c:strRef>
              <c:f>Sheet1!$B$1</c:f>
              <c:strCache>
                <c:ptCount val="1"/>
                <c:pt idx="0">
                  <c:v>v</c:v>
                </c:pt>
              </c:strCache>
            </c:strRef>
          </c:tx>
          <c:spPr>
            <a:solidFill>
              <a:srgbClr val="FF7A45"/>
            </a:solidFill>
          </c:spPr>
          <c:cat>
            <c:strRef>
              <c:f>Sheet1!$A$2:$A$4</c:f>
              <c:strCache>
                <c:ptCount val="3"/>
                <c:pt idx="0">
                  <c:v>USA</c:v>
                </c:pt>
                <c:pt idx="1">
                  <c:v>Europe</c:v>
                </c:pt>
                <c:pt idx="2">
                  <c:v>Japan</c:v>
                </c:pt>
              </c:strCache>
            </c:strRef>
          </c:cat>
          <c:val>
            <c:numRef>
              <c:f>Sheet1!$B$2:$B$4</c:f>
              <c:numCache>
                <c:formatCode>General</c:formatCode>
                <c:ptCount val="3"/>
                <c:pt idx="0">
                  <c:v>20.08</c:v>
                </c:pt>
                <c:pt idx="1">
                  <c:v>27.89</c:v>
                </c:pt>
                <c:pt idx="2">
                  <c:v>30.45</c:v>
                </c:pt>
              </c:numCache>
            </c:numRef>
          </c:val>
        </c:ser>
        <c:dLbls>
          <c:numFmt formatCode="0.0" sourceLinked="0"/>
          <c:txPr>
            <a:bodyPr/>
            <a:lstStyle/>
            <a:p>
              <a:pPr>
                <a:defRPr sz="1100">
                  <a:solidFill>
                    <a:srgbClr val="16181D"/>
                  </a:solidFill>
                  <a:latin typeface="JetBrains Mono"/>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solidFill>
                  <a:srgbClr val="545A66"/>
                </a:solidFill>
                <a:latin typeface="IBM Plex Sans"/>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6181D"/>
                </a:solidFill>
                <a:latin typeface="IBM Plex Sans"/>
              </a:rPr>
              <a:t>Feature importance, random forest</a:t>
            </a:r>
          </a:p>
        </c:rich>
      </c:tx>
      <c:layout/>
      <c:overlay val="0"/>
    </c:title>
    <c:autoTitleDeleted val="0"/>
    <c:plotArea>
      <c:barChart>
        <c:barDir val="bar"/>
        <c:grouping val="clustered"/>
        <c:ser>
          <c:idx val="0"/>
          <c:order val="0"/>
          <c:tx>
            <c:strRef>
              <c:f>Sheet1!$B$1</c:f>
              <c:strCache>
                <c:ptCount val="1"/>
                <c:pt idx="0">
                  <c:v>v</c:v>
                </c:pt>
              </c:strCache>
            </c:strRef>
          </c:tx>
          <c:spPr>
            <a:solidFill>
              <a:srgbClr val="FF7A45"/>
            </a:solidFill>
          </c:spPr>
          <c:cat>
            <c:strRef>
              <c:f>Sheet1!$A$2:$A$9</c:f>
              <c:strCache>
                <c:ptCount val="8"/>
                <c:pt idx="0">
                  <c:v>origin (all 3)</c:v>
                </c:pt>
                <c:pt idx="1">
                  <c:v>power_to_weight</c:v>
                </c:pt>
                <c:pt idx="2">
                  <c:v>acceleration</c:v>
                </c:pt>
                <c:pt idx="3">
                  <c:v>model_year</c:v>
                </c:pt>
                <c:pt idx="4">
                  <c:v>horsepower</c:v>
                </c:pt>
                <c:pt idx="5">
                  <c:v>cylinders</c:v>
                </c:pt>
                <c:pt idx="6">
                  <c:v>weight</c:v>
                </c:pt>
                <c:pt idx="7">
                  <c:v>displacement</c:v>
                </c:pt>
              </c:strCache>
            </c:strRef>
          </c:cat>
          <c:val>
            <c:numRef>
              <c:f>Sheet1!$B$2:$B$9</c:f>
              <c:numCache>
                <c:formatCode>General</c:formatCode>
                <c:ptCount val="8"/>
                <c:pt idx="0">
                  <c:v>0.006</c:v>
                </c:pt>
                <c:pt idx="1">
                  <c:v>0.018</c:v>
                </c:pt>
                <c:pt idx="2">
                  <c:v>0.022</c:v>
                </c:pt>
                <c:pt idx="3">
                  <c:v>0.118</c:v>
                </c:pt>
                <c:pt idx="4">
                  <c:v>0.125</c:v>
                </c:pt>
                <c:pt idx="5">
                  <c:v>0.163</c:v>
                </c:pt>
                <c:pt idx="6">
                  <c:v>0.171</c:v>
                </c:pt>
                <c:pt idx="7">
                  <c:v>0.376</c:v>
                </c:pt>
              </c:numCache>
            </c:numRef>
          </c:val>
        </c:ser>
        <c:dLbls>
          <c:numFmt formatCode="0%" sourceLinked="0"/>
          <c:txPr>
            <a:bodyPr/>
            <a:lstStyle/>
            <a:p>
              <a:pPr>
                <a:defRPr sz="1100">
                  <a:solidFill>
                    <a:srgbClr val="16181D"/>
                  </a:solidFill>
                  <a:latin typeface="JetBrains Mono"/>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solidFill>
                  <a:srgbClr val="545A66"/>
                </a:solidFill>
                <a:latin typeface="IBM Plex Sans"/>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continue chapter 02 Data and end with training. Everything is live-coded in the notebook; the slides are the scaffold.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process as last time, now with a real dataset. Why not the stock data? Time series need special care (no shuffling, split by time); we come back to it in the feature slide.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small companies this is one person. The analyst answers questions about the past, the scientist builds something that predicts the future. Today the students play both roles.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load it, df.head(), df.info(). Let students spot that horsepower has 392 instead of 398 values. The name column is also there (305 unique names). Not the house-price project dataset on purpose.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A divider.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df.isnull().sum(), df.duplicated().sum(), boxplots, IQR rule. Point out that the high-horsepower cars are a Chevrolet Impala, a Buick Estate Wagon... real 1970s cars, not data errors. Filling the missing values happens inside the pipeline after the split, see the leakage slide.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in the notebook. Let students guess the answers first.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numbers from the notebook. Reuse correlation vs. causation from last session: the confounder here is weight. US cars in the 1970s were large; that, not the country, explains the low mpg.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B divider.</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not usa=1, europe=2, japan=3? The model would think Japan is "three times" USA and Europe lies in between. One-hot avoids that fake order.</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to the red thread. The same idea as power_to_weight: the raw price alone says little, the engineered features carry the signal. Important difference: in a time series the split must be by date.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Leakage is the most common silent error in student projects. Here the effect is tiny on purpose, so students see the principle without drama. The pipeline on the next slides makes this mistake impossible.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 to session 2: the slope for the weight of "weight" is huge because the values are huge. The notebook shows it for real: SGDRegressor on unscaled data ends with weights around 10^12, after StandardScaler they are below 1.</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is also what goes into deployment later: one file that contains cleaning, scaling and the model.</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numbers from the notebook (test set, 80 cars, random_state=42). MAE = mean absolute error in mpg. RMSE punishes big misses more. Next session (chapter 04 Testing): is one split enough? Cross-validation and overfitting.</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Nice callback to the EDA slide: origin looked important in the groupby, but once weight is known it carries almost no extra information. That is the confounder from earlier, now visible in the model. power_to_weight is low here but helped the linear model: different models use features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classification project: DummyClassifier(strategy="most_frequent") as baseline, train_test_split(..., stratify=y).</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session: chapter 04 Testing. Cross-validation, overfitting, and metrics for classification.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Promised last time. Smallest possible example: one weight, one data point, no bias. Model y_hat = w*x with x = 2, true y = 6, so the right answer is w = 3. Start w = 1: y_hat = 2, error -4, loss 16. Slope without maths: nudge w to 1.01, the loss drops to 15.84, change -0.16 divided by 0.01 = -16. Same with the chain rule: d/dw (w*x - y)^2 = 2*(w*x - y)*x = 2*(-4)*2 = -16. Negative: increase w. Step with lr = 0.05: w = 1 - 0.05*(-16) = 1.8. Next round the slope is only -9.6, the steps get smaller by themselves, until w = 3 where error and slope are 0. In the NumPy code from last time this is grad_w, averaged over all points. For a network, loss.backward() computes this for every weight, given the current values of all other weights.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real depth-2 tree trained on the Auto MPG training data (rows with missing horsepower dropped). The tree found by itself that engine size is the first question to ask. Training a tree: try every feature and every threshold, keep the split that makes the two groups most uniform (lowest squared error). Then repeat inside each group. Honest point for the loop story from session 2: trees do not use gradient descent. A single deep tree gets MAE 2.21 in our test, but it memorises the training data.</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Wisdom of the crowd. One deep tree: MAE 2.21. 300 trees on random rows and random columns, averaged: MAE 1.63. For classification the forest takes a majority vote instead of the mean. Why it is the strong default for tables: little tuning, no scaling needed, handles mixed features, gives feature importance for free.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to memorise, a map. Classical ML wins on tables, almost always. Trees and forests are the exception to the gradient-descent story: they learn by splitting.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 learning wins on images, text, audio. The perceptron from session 2 is the smallest MLP, the autoencoder video was a small MLP-autoencoder, LLMs are transformers.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2EFE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6181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01"/>
            <a:ext cx="10566400" cy="4165699"/>
          </a:xfrm>
          <a:prstGeom prst="rect">
            <a:avLst/>
          </a:prstGeom>
          <a:noFill/>
          <a:ln/>
        </p:spPr>
        <p:txBody>
          <a:bodyPr wrap="square" lIns="0" tIns="0" rIns="0" bIns="0" rtlCol="0" anchor="t"/>
          <a:lstStyle>
            <a:lvl1pPr algn="l" indent="0" marL="0">
              <a:lnSpc>
                <a:spcPct val="140000"/>
              </a:lnSpc>
              <a:buNone/>
              <a:defRPr lang="en-US" sz="1600" dirty="0">
                <a:solidFill>
                  <a:srgbClr val="16181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EFE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6181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01"/>
            <a:ext cx="10566400" cy="4165699"/>
          </a:xfrm>
          <a:prstGeom prst="rect">
            <a:avLst/>
          </a:prstGeom>
          <a:noFill/>
          <a:ln/>
        </p:spPr>
        <p:txBody>
          <a:bodyPr wrap="square" lIns="0" tIns="0" rIns="0" bIns="0" rtlCol="0" anchor="t"/>
          <a:lstStyle>
            <a:lvl1pPr algn="l" indent="0" marL="0">
              <a:lnSpc>
                <a:spcPct val="140000"/>
              </a:lnSpc>
              <a:buNone/>
              <a:defRPr lang="en-US" sz="1600" dirty="0">
                <a:solidFill>
                  <a:srgbClr val="16181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5.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8.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60.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chart" Target="../charts/chart1.xml"/><Relationship Id="rId4" Type="http://schemas.openxmlformats.org/officeDocument/2006/relationships/notesSlide" Target="../notesSlides/notesSlide5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5.xml.rels><?xml version='1.0' encoding='UTF-8' standalone='yes'?>
<Relationships xmlns="http://schemas.openxmlformats.org/package/2006/relationships"><Relationship Id="rId1" Type="http://schemas.microsoft.com/office/2007/relationships/media" Target="../media/media6.mp4"/><Relationship Id="rId2" Type="http://schemas.openxmlformats.org/officeDocument/2006/relationships/slideLayout" Target="../slideLayouts/slideLayout2.xml"/><Relationship Id="rId3" Type="http://schemas.openxmlformats.org/officeDocument/2006/relationships/video" Target="../media/media6.mp4"/><Relationship Id="rId4" Type="http://schemas.openxmlformats.org/officeDocument/2006/relationships/image" Target="../media/image1.png"/><Relationship Id="rId5"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7.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8.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chart" Target="../charts/chart2.xml"/><Relationship Id="rId4" Type="http://schemas.openxmlformats.org/officeDocument/2006/relationships/notesSlide" Target="../notesSlides/notesSlide6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72.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6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4.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5.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72.xml"/></Relationships>
</file>

<file path=ppt/slides/slide53.xml><?xml version="1.0" encoding="utf-8"?>
<p:sld xmlns:a="http://schemas.openxmlformats.org/drawingml/2006/main" xmlns:r="http://schemas.openxmlformats.org/officeDocument/2006/relationships" xmlns:p="http://schemas.openxmlformats.org/presentationml/2006/main">
  <p:cSld name="Slide 1">
    <p:bg>
      <p:bgPr>
        <a:solidFill>
          <a:srgbClr val="0F1115"/>
        </a:solidFill>
      </p:bgPr>
    </p:bg>
    <p:spTree>
      <p:nvGrpSpPr>
        <p:cNvPr id="1" name=""/>
        <p:cNvGrpSpPr/>
        <p:nvPr/>
      </p:nvGrpSpPr>
      <p:grpSpPr>
        <a:xfrm>
          <a:off x="0" y="0"/>
          <a:ext cx="0" cy="0"/>
          <a:chOff x="0" y="0"/>
          <a:chExt cx="0" cy="0"/>
        </a:xfrm>
      </p:grpSpPr>
      <p:pic>
        <p:nvPicPr>
          <p:cNvPr id="2" name="Image 0" descr="Scatter plot: orange filled dots and blue rings separated by a dashed decision boundary">    </p:cNvPr>
          <p:cNvPicPr>
            <a:picLocks noChangeAspect="1"/>
          </p:cNvPicPr>
          <p:nvPr/>
        </p:nvPicPr>
        <p:blipFill>
          <a:blip r:embed="rId1">
            <a:alphaModFix amt="90000"/>
          </a:blip>
          <a:srcRect l="0" r="0" t="0" b="0"/>
          <a:stretch/>
        </p:blipFill>
        <p:spPr>
          <a:xfrm>
            <a:off x="7493000" y="825500"/>
            <a:ext cx="3886200" cy="49784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3A8B4"/>
                </a:solidFill>
                <a:latin typeface="JetBrains Mono" pitchFamily="49" charset="0"/>
                <a:ea typeface="JetBrains Mono" pitchFamily="49" charset="-122"/>
                <a:cs typeface="JetBrains Mono" pitchFamily="49" charset="-120"/>
              </a:rPr>
              <a:t>SOFTWARE ENGINEERING &amp; MACHINE LEARNING</a:t>
            </a:r>
            <a:endParaRPr lang="en-US" sz="1200" dirty="0"/>
          </a:p>
        </p:txBody>
      </p:sp>
      <p:sp>
        <p:nvSpPr>
          <p:cNvPr id="4" name="Text 1"/>
          <p:cNvSpPr/>
          <p:nvPr/>
        </p:nvSpPr>
        <p:spPr>
          <a:xfrm>
            <a:off x="812800" y="2084685"/>
            <a:ext cx="1168400" cy="314920"/>
          </a:xfrm>
          <a:prstGeom prst="roundRect">
            <a:avLst>
              <a:gd name="adj" fmla="val 50000"/>
            </a:avLst>
          </a:prstGeom>
          <a:solidFill>
            <a:srgbClr val="FF7A45"/>
          </a:solidFill>
          <a:ln/>
        </p:spPr>
        <p:txBody>
          <a:bodyPr wrap="none" lIns="0" tIns="0" rIns="0" bIns="0" rtlCol="0" anchor="ctr">
            <a:normAutofit/>
          </a:bodyPr>
          <a:lstStyle/>
          <a:p>
            <a:pPr algn="ctr" indent="0" marL="0">
              <a:lnSpc>
                <a:spcPts val="1680"/>
              </a:lnSpc>
              <a:buNone/>
            </a:pPr>
            <a:r>
              <a:rPr lang="en-US" sz="1200" b="1" dirty="0">
                <a:solidFill>
                  <a:srgbClr val="0F1115"/>
                </a:solidFill>
                <a:latin typeface="JetBrains Mono" pitchFamily="49" charset="0"/>
                <a:ea typeface="JetBrains Mono" pitchFamily="49" charset="-122"/>
                <a:cs typeface="JetBrains Mono" pitchFamily="49" charset="-120"/>
              </a:rPr>
              <a:t>SESSION 03</a:t>
            </a:r>
            <a:endParaRPr lang="en-US" sz="1200" dirty="0"/>
          </a:p>
        </p:txBody>
      </p:sp>
      <p:sp>
        <p:nvSpPr>
          <p:cNvPr id="5" name="Text 2"/>
          <p:cNvSpPr/>
          <p:nvPr>
            <p:ph type="title"/>
          </p:nvPr>
        </p:nvSpPr>
        <p:spPr>
          <a:xfrm>
            <a:off x="812800" y="2628205"/>
            <a:ext cx="6802120" cy="1268809"/>
          </a:xfrm>
          <a:prstGeom prst="rect">
            <a:avLst/>
          </a:prstGeom>
          <a:noFill/>
          <a:ln/>
        </p:spPr>
        <p:txBody>
          <a:bodyPr wrap="square" lIns="0" tIns="0" rIns="0" bIns="0" rtlCol="0" anchor="t">
            <a:normAutofit/>
          </a:bodyPr>
          <a:lstStyle/>
          <a:p>
            <a:pPr algn="l" indent="0" marL="0">
              <a:lnSpc>
                <a:spcPts val="4896"/>
              </a:lnSpc>
              <a:buNone/>
            </a:pPr>
            <a:r>
              <a:rPr lang="en-US" sz="4800" b="1" i="0" spc="-100" kern="0" dirty="0">
                <a:solidFill>
                  <a:srgbClr val="ECEAE4"/>
                </a:solidFill>
                <a:latin typeface="Space Grotesk" pitchFamily="34" charset="0"/>
                <a:ea typeface="Space Grotesk" pitchFamily="34" charset="-122"/>
                <a:cs typeface="Space Grotesk" pitchFamily="34" charset="-120"/>
              </a:rPr>
              <a:t>From raw data to a trained model</a:t>
            </a:r>
            <a:endParaRPr lang="en-US" sz="4800" dirty="0"/>
          </a:p>
        </p:txBody>
      </p:sp>
      <p:sp>
        <p:nvSpPr>
          <p:cNvPr id="6" name="Text 3"/>
          <p:cNvSpPr/>
          <p:nvPr/>
        </p:nvSpPr>
        <p:spPr>
          <a:xfrm>
            <a:off x="812800" y="4100215"/>
            <a:ext cx="58864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3A8B4"/>
                </a:solidFill>
                <a:latin typeface="IBM Plex Sans" pitchFamily="34" charset="0"/>
                <a:ea typeface="IBM Plex Sans" pitchFamily="34" charset="-122"/>
                <a:cs typeface="IBM Plex Sans" pitchFamily="34" charset="-120"/>
              </a:rPr>
              <a:t>Data analyst and data scientist, hands-on with 398 cars</a:t>
            </a:r>
            <a:endParaRPr lang="en-US" sz="1500" dirty="0"/>
          </a:p>
        </p:txBody>
      </p:sp>
      <p:sp>
        <p:nvSpPr>
          <p:cNvPr id="7" name="Text 4"/>
          <p:cNvSpPr/>
          <p:nvPr/>
        </p:nvSpPr>
        <p:spPr>
          <a:xfrm>
            <a:off x="815975" y="5695355"/>
            <a:ext cx="1108770" cy="346670"/>
          </a:xfrm>
          <a:prstGeom prst="roundRect">
            <a:avLst>
              <a:gd name="adj" fmla="val 50000"/>
            </a:avLst>
          </a:prstGeom>
          <a:noFill/>
          <a:ln w="6350">
            <a:solidFill>
              <a:srgbClr val="3A404D"/>
            </a:solidFill>
            <a:prstDash val="solid"/>
          </a:ln>
        </p:spPr>
        <p:txBody>
          <a:bodyPr wrap="none" lIns="0" tIns="0" rIns="0" bIns="0" rtlCol="0" anchor="ctr">
            <a:normAutofit/>
          </a:bodyPr>
          <a:lstStyle/>
          <a:p>
            <a:pPr algn="ctr" indent="0" marL="0">
              <a:lnSpc>
                <a:spcPts val="1680"/>
              </a:lnSpc>
              <a:buNone/>
            </a:pPr>
            <a:r>
              <a:rPr lang="en-US" sz="1200" dirty="0">
                <a:solidFill>
                  <a:srgbClr val="ECEAE4"/>
                </a:solidFill>
                <a:latin typeface="JetBrains Mono" pitchFamily="49" charset="0"/>
                <a:ea typeface="JetBrains Mono" pitchFamily="49" charset="-122"/>
                <a:cs typeface="JetBrains Mono" pitchFamily="49" charset="-120"/>
              </a:rPr>
              <a:t>1 Look</a:t>
            </a:r>
            <a:endParaRPr lang="en-US" sz="1200" dirty="0"/>
          </a:p>
        </p:txBody>
      </p:sp>
      <p:sp>
        <p:nvSpPr>
          <p:cNvPr id="8" name="Text 5"/>
          <p:cNvSpPr/>
          <p:nvPr/>
        </p:nvSpPr>
        <p:spPr>
          <a:xfrm>
            <a:off x="2029520" y="576203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2A3"/>
                </a:solidFill>
                <a:latin typeface="IBM Plex Sans" pitchFamily="34" charset="0"/>
                <a:ea typeface="IBM Plex Sans" pitchFamily="34" charset="-122"/>
                <a:cs typeface="IBM Plex Sans" pitchFamily="34" charset="-120"/>
              </a:rPr>
              <a:t>→</a:t>
            </a:r>
            <a:endParaRPr lang="en-US" sz="1200" dirty="0"/>
          </a:p>
        </p:txBody>
      </p:sp>
      <p:sp>
        <p:nvSpPr>
          <p:cNvPr id="9" name="Text 6"/>
          <p:cNvSpPr/>
          <p:nvPr/>
        </p:nvSpPr>
        <p:spPr>
          <a:xfrm>
            <a:off x="2286695" y="5695355"/>
            <a:ext cx="1108770" cy="346670"/>
          </a:xfrm>
          <a:prstGeom prst="roundRect">
            <a:avLst>
              <a:gd name="adj" fmla="val 50000"/>
            </a:avLst>
          </a:prstGeom>
          <a:noFill/>
          <a:ln w="6350">
            <a:solidFill>
              <a:srgbClr val="3A404D"/>
            </a:solidFill>
            <a:prstDash val="solid"/>
          </a:ln>
        </p:spPr>
        <p:txBody>
          <a:bodyPr wrap="none" lIns="0" tIns="0" rIns="0" bIns="0" rtlCol="0" anchor="ctr">
            <a:normAutofit/>
          </a:bodyPr>
          <a:lstStyle/>
          <a:p>
            <a:pPr algn="ctr" indent="0" marL="0">
              <a:lnSpc>
                <a:spcPts val="1680"/>
              </a:lnSpc>
              <a:buNone/>
            </a:pPr>
            <a:r>
              <a:rPr lang="en-US" sz="1200" dirty="0">
                <a:solidFill>
                  <a:srgbClr val="ECEAE4"/>
                </a:solidFill>
                <a:latin typeface="JetBrains Mono" pitchFamily="49" charset="0"/>
                <a:ea typeface="JetBrains Mono" pitchFamily="49" charset="-122"/>
                <a:cs typeface="JetBrains Mono" pitchFamily="49" charset="-120"/>
              </a:rPr>
              <a:t>2 Clean</a:t>
            </a:r>
            <a:endParaRPr lang="en-US" sz="1200" dirty="0"/>
          </a:p>
        </p:txBody>
      </p:sp>
      <p:sp>
        <p:nvSpPr>
          <p:cNvPr id="10" name="Text 7"/>
          <p:cNvSpPr/>
          <p:nvPr/>
        </p:nvSpPr>
        <p:spPr>
          <a:xfrm>
            <a:off x="3500239" y="576203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2A3"/>
                </a:solidFill>
                <a:latin typeface="IBM Plex Sans" pitchFamily="34" charset="0"/>
                <a:ea typeface="IBM Plex Sans" pitchFamily="34" charset="-122"/>
                <a:cs typeface="IBM Plex Sans" pitchFamily="34" charset="-120"/>
              </a:rPr>
              <a:t>→</a:t>
            </a:r>
            <a:endParaRPr lang="en-US" sz="1200" dirty="0"/>
          </a:p>
        </p:txBody>
      </p:sp>
      <p:sp>
        <p:nvSpPr>
          <p:cNvPr id="11" name="Text 8"/>
          <p:cNvSpPr/>
          <p:nvPr/>
        </p:nvSpPr>
        <p:spPr>
          <a:xfrm>
            <a:off x="3757414" y="5695355"/>
            <a:ext cx="1106424" cy="346670"/>
          </a:xfrm>
          <a:prstGeom prst="roundRect">
            <a:avLst>
              <a:gd name="adj" fmla="val 50000"/>
            </a:avLst>
          </a:prstGeom>
          <a:noFill/>
          <a:ln w="6350">
            <a:solidFill>
              <a:srgbClr val="3A404D"/>
            </a:solidFill>
            <a:prstDash val="solid"/>
          </a:ln>
        </p:spPr>
        <p:txBody>
          <a:bodyPr wrap="none" lIns="0" tIns="0" rIns="0" bIns="0" rtlCol="0" anchor="ctr">
            <a:normAutofit/>
          </a:bodyPr>
          <a:lstStyle/>
          <a:p>
            <a:pPr algn="ctr" indent="0" marL="0">
              <a:lnSpc>
                <a:spcPts val="1680"/>
              </a:lnSpc>
              <a:buNone/>
            </a:pPr>
            <a:r>
              <a:rPr lang="en-US" sz="1200" dirty="0">
                <a:solidFill>
                  <a:srgbClr val="ECEAE4"/>
                </a:solidFill>
                <a:latin typeface="JetBrains Mono" pitchFamily="49" charset="0"/>
                <a:ea typeface="JetBrains Mono" pitchFamily="49" charset="-122"/>
                <a:cs typeface="JetBrains Mono" pitchFamily="49" charset="-120"/>
              </a:rPr>
              <a:t>3 Features</a:t>
            </a:r>
            <a:endParaRPr lang="en-US" sz="1200" dirty="0"/>
          </a:p>
        </p:txBody>
      </p:sp>
      <p:sp>
        <p:nvSpPr>
          <p:cNvPr id="12" name="Text 9"/>
          <p:cNvSpPr/>
          <p:nvPr/>
        </p:nvSpPr>
        <p:spPr>
          <a:xfrm>
            <a:off x="4956048" y="576203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2A3"/>
                </a:solidFill>
                <a:latin typeface="IBM Plex Sans" pitchFamily="34" charset="0"/>
                <a:ea typeface="IBM Plex Sans" pitchFamily="34" charset="-122"/>
                <a:cs typeface="IBM Plex Sans" pitchFamily="34" charset="-120"/>
              </a:rPr>
              <a:t>→</a:t>
            </a:r>
            <a:endParaRPr lang="en-US" sz="1200" dirty="0"/>
          </a:p>
        </p:txBody>
      </p:sp>
      <p:sp>
        <p:nvSpPr>
          <p:cNvPr id="13" name="Text 10"/>
          <p:cNvSpPr/>
          <p:nvPr/>
        </p:nvSpPr>
        <p:spPr>
          <a:xfrm>
            <a:off x="5212080" y="5695355"/>
            <a:ext cx="1931690" cy="346670"/>
          </a:xfrm>
          <a:prstGeom prst="roundRect">
            <a:avLst>
              <a:gd name="adj" fmla="val 50000"/>
            </a:avLst>
          </a:prstGeom>
          <a:solidFill>
            <a:srgbClr val="FF7A45"/>
          </a:solidFill>
          <a:ln w="6350">
            <a:solidFill>
              <a:srgbClr val="FF7A45"/>
            </a:solidFill>
            <a:prstDash val="solid"/>
          </a:ln>
        </p:spPr>
        <p:txBody>
          <a:bodyPr wrap="none" lIns="0" tIns="0" rIns="0" bIns="0" rtlCol="0" anchor="ctr">
            <a:normAutofit/>
          </a:bodyPr>
          <a:lstStyle/>
          <a:p>
            <a:pPr algn="ctr" indent="0" marL="0">
              <a:lnSpc>
                <a:spcPts val="1680"/>
              </a:lnSpc>
              <a:buNone/>
            </a:pPr>
            <a:r>
              <a:rPr lang="en-US" sz="1200" b="1" dirty="0">
                <a:solidFill>
                  <a:srgbClr val="0F1115"/>
                </a:solidFill>
                <a:latin typeface="JetBrains Mono" pitchFamily="49" charset="0"/>
                <a:ea typeface="JetBrains Mono" pitchFamily="49" charset="-122"/>
                <a:cs typeface="JetBrains Mono" pitchFamily="49" charset="-120"/>
              </a:rPr>
              <a:t>4 Pipeline + train</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
    <p:bg>
      <p:bgPr>
        <a:solidFill>
          <a:srgbClr val="F2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2410C"/>
                </a:solidFill>
                <a:latin typeface="JetBrains Mono" pitchFamily="49" charset="0"/>
                <a:ea typeface="JetBrains Mono" pitchFamily="49" charset="-122"/>
                <a:cs typeface="JetBrains Mono" pitchFamily="49" charset="-120"/>
              </a:rPr>
              <a:t>RECAP · CHAPTER 02</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181D"/>
                </a:solidFill>
                <a:latin typeface="Space Grotesk" pitchFamily="34" charset="0"/>
                <a:ea typeface="Space Grotesk" pitchFamily="34" charset="-122"/>
                <a:cs typeface="Space Grotesk" pitchFamily="34" charset="-120"/>
              </a:rPr>
              <a:t>Today we walk through steps 02 to 05, live</a:t>
            </a:r>
            <a:endParaRPr lang="en-US" sz="3200" dirty="0"/>
          </a:p>
        </p:txBody>
      </p:sp>
      <p:sp>
        <p:nvSpPr>
          <p:cNvPr id="4" name="Shape 2"/>
          <p:cNvSpPr/>
          <p:nvPr/>
        </p:nvSpPr>
        <p:spPr>
          <a:xfrm>
            <a:off x="815975" y="1831876"/>
            <a:ext cx="1672134" cy="1949252"/>
          </a:xfrm>
          <a:prstGeom prst="roundRect">
            <a:avLst>
              <a:gd name="adj" fmla="val 7405"/>
            </a:avLst>
          </a:prstGeom>
          <a:solidFill>
            <a:srgbClr val="FBFAF6"/>
          </a:solidFill>
          <a:ln w="6350">
            <a:solidFill>
              <a:srgbClr val="E0DACB"/>
            </a:solidFill>
            <a:prstDash val="solid"/>
          </a:ln>
        </p:spPr>
        <p:txBody>
          <a:bodyPr/>
          <a:p/>
        </p:txBody>
      </p:sp>
      <p:sp>
        <p:nvSpPr>
          <p:cNvPr id="5" name="Text 3"/>
          <p:cNvSpPr/>
          <p:nvPr/>
        </p:nvSpPr>
        <p:spPr>
          <a:xfrm>
            <a:off x="996950" y="2012851"/>
            <a:ext cx="13609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10C"/>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996950" y="2302371"/>
            <a:ext cx="13609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81D"/>
                </a:solidFill>
                <a:latin typeface="Space Grotesk" pitchFamily="34" charset="0"/>
                <a:ea typeface="Space Grotesk" pitchFamily="34" charset="-122"/>
                <a:cs typeface="Space Grotesk" pitchFamily="34" charset="-120"/>
              </a:rPr>
              <a:t>Ask</a:t>
            </a:r>
            <a:endParaRPr lang="en-US" sz="1500" dirty="0"/>
          </a:p>
        </p:txBody>
      </p:sp>
      <p:sp>
        <p:nvSpPr>
          <p:cNvPr id="7" name="Text 5"/>
          <p:cNvSpPr/>
          <p:nvPr/>
        </p:nvSpPr>
        <p:spPr>
          <a:xfrm>
            <a:off x="996950" y="2607171"/>
            <a:ext cx="136098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What exactly do we want to know?</a:t>
            </a:r>
            <a:endParaRPr lang="en-US" sz="1200" dirty="0"/>
          </a:p>
        </p:txBody>
      </p:sp>
      <p:sp>
        <p:nvSpPr>
          <p:cNvPr id="8" name="Shape 6"/>
          <p:cNvSpPr/>
          <p:nvPr/>
        </p:nvSpPr>
        <p:spPr>
          <a:xfrm>
            <a:off x="2596059" y="1831876"/>
            <a:ext cx="1672233" cy="1949252"/>
          </a:xfrm>
          <a:prstGeom prst="roundRect">
            <a:avLst>
              <a:gd name="adj" fmla="val 7405"/>
            </a:avLst>
          </a:prstGeom>
          <a:solidFill>
            <a:srgbClr val="FBFAF6"/>
          </a:solidFill>
          <a:ln w="6350">
            <a:solidFill>
              <a:srgbClr val="E0DACB"/>
            </a:solidFill>
            <a:prstDash val="solid"/>
          </a:ln>
        </p:spPr>
        <p:txBody>
          <a:bodyPr/>
          <a:p/>
        </p:txBody>
      </p:sp>
      <p:sp>
        <p:nvSpPr>
          <p:cNvPr id="9" name="Text 7"/>
          <p:cNvSpPr/>
          <p:nvPr/>
        </p:nvSpPr>
        <p:spPr>
          <a:xfrm>
            <a:off x="2777034" y="2012851"/>
            <a:ext cx="136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10C"/>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2777034" y="2302371"/>
            <a:ext cx="136108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81D"/>
                </a:solidFill>
                <a:latin typeface="Space Grotesk" pitchFamily="34" charset="0"/>
                <a:ea typeface="Space Grotesk" pitchFamily="34" charset="-122"/>
                <a:cs typeface="Space Grotesk" pitchFamily="34" charset="-120"/>
              </a:rPr>
              <a:t>Collect</a:t>
            </a:r>
            <a:endParaRPr lang="en-US" sz="1500" dirty="0"/>
          </a:p>
        </p:txBody>
      </p:sp>
      <p:sp>
        <p:nvSpPr>
          <p:cNvPr id="11" name="Text 9"/>
          <p:cNvSpPr/>
          <p:nvPr/>
        </p:nvSpPr>
        <p:spPr>
          <a:xfrm>
            <a:off x="2777034" y="2607171"/>
            <a:ext cx="136108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APIs, databases, files, scraping</a:t>
            </a:r>
            <a:endParaRPr lang="en-US" sz="1200" dirty="0"/>
          </a:p>
        </p:txBody>
      </p:sp>
      <p:sp>
        <p:nvSpPr>
          <p:cNvPr id="12" name="Shape 10"/>
          <p:cNvSpPr/>
          <p:nvPr/>
        </p:nvSpPr>
        <p:spPr>
          <a:xfrm>
            <a:off x="4373066" y="1828701"/>
            <a:ext cx="1665784" cy="1955602"/>
          </a:xfrm>
          <a:prstGeom prst="roundRect">
            <a:avLst>
              <a:gd name="adj" fmla="val 7624"/>
            </a:avLst>
          </a:prstGeom>
          <a:solidFill>
            <a:srgbClr val="16181D"/>
          </a:solidFill>
          <a:ln/>
        </p:spPr>
        <p:txBody>
          <a:bodyPr/>
          <a:p/>
        </p:txBody>
      </p:sp>
      <p:sp>
        <p:nvSpPr>
          <p:cNvPr id="13" name="Text 11"/>
          <p:cNvSpPr/>
          <p:nvPr/>
        </p:nvSpPr>
        <p:spPr>
          <a:xfrm>
            <a:off x="4550866" y="2006501"/>
            <a:ext cx="13609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7A45"/>
                </a:solidFill>
                <a:latin typeface="JetBrains Mono" pitchFamily="49" charset="0"/>
                <a:ea typeface="JetBrains Mono" pitchFamily="49" charset="-122"/>
                <a:cs typeface="JetBrains Mono" pitchFamily="49" charset="-120"/>
              </a:rPr>
              <a:t>03</a:t>
            </a:r>
            <a:endParaRPr lang="en-US" sz="1200" dirty="0"/>
          </a:p>
        </p:txBody>
      </p:sp>
      <p:sp>
        <p:nvSpPr>
          <p:cNvPr id="14" name="Text 12"/>
          <p:cNvSpPr/>
          <p:nvPr/>
        </p:nvSpPr>
        <p:spPr>
          <a:xfrm>
            <a:off x="4550866" y="2296021"/>
            <a:ext cx="13609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CEAE4"/>
                </a:solidFill>
                <a:latin typeface="Space Grotesk" pitchFamily="34" charset="0"/>
                <a:ea typeface="Space Grotesk" pitchFamily="34" charset="-122"/>
                <a:cs typeface="Space Grotesk" pitchFamily="34" charset="-120"/>
              </a:rPr>
              <a:t>Clean</a:t>
            </a:r>
            <a:endParaRPr lang="en-US" sz="1500" dirty="0"/>
          </a:p>
        </p:txBody>
      </p:sp>
      <p:sp>
        <p:nvSpPr>
          <p:cNvPr id="15" name="Text 13"/>
          <p:cNvSpPr/>
          <p:nvPr/>
        </p:nvSpPr>
        <p:spPr>
          <a:xfrm>
            <a:off x="4550866" y="2600821"/>
            <a:ext cx="136098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3"/>
                </a:solidFill>
                <a:latin typeface="IBM Plex Sans" pitchFamily="34" charset="0"/>
                <a:ea typeface="IBM Plex Sans" pitchFamily="34" charset="-122"/>
                <a:cs typeface="IBM Plex Sans" pitchFamily="34" charset="-120"/>
              </a:rPr>
              <a:t>Missing values, duplicates, wrong types</a:t>
            </a:r>
            <a:endParaRPr lang="en-US" sz="1200" dirty="0"/>
          </a:p>
        </p:txBody>
      </p:sp>
      <p:sp>
        <p:nvSpPr>
          <p:cNvPr id="16" name="Text 14"/>
          <p:cNvSpPr/>
          <p:nvPr/>
        </p:nvSpPr>
        <p:spPr>
          <a:xfrm>
            <a:off x="4550866" y="3393182"/>
            <a:ext cx="13609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7A45"/>
                </a:solidFill>
                <a:latin typeface="JetBrains Mono" pitchFamily="49" charset="0"/>
                <a:ea typeface="JetBrains Mono" pitchFamily="49" charset="-122"/>
                <a:cs typeface="JetBrains Mono" pitchFamily="49" charset="-120"/>
              </a:rPr>
              <a:t>≈ 80% of the time</a:t>
            </a:r>
            <a:endParaRPr lang="en-US" sz="1200" dirty="0"/>
          </a:p>
        </p:txBody>
      </p:sp>
      <p:sp>
        <p:nvSpPr>
          <p:cNvPr id="17" name="Shape 15"/>
          <p:cNvSpPr/>
          <p:nvPr/>
        </p:nvSpPr>
        <p:spPr>
          <a:xfrm>
            <a:off x="6143625" y="1831876"/>
            <a:ext cx="1672233" cy="1949252"/>
          </a:xfrm>
          <a:prstGeom prst="roundRect">
            <a:avLst>
              <a:gd name="adj" fmla="val 7405"/>
            </a:avLst>
          </a:prstGeom>
          <a:solidFill>
            <a:srgbClr val="FBFAF6"/>
          </a:solidFill>
          <a:ln w="6350">
            <a:solidFill>
              <a:srgbClr val="E0DACB"/>
            </a:solidFill>
            <a:prstDash val="solid"/>
          </a:ln>
        </p:spPr>
        <p:txBody>
          <a:bodyPr/>
          <a:p/>
        </p:txBody>
      </p:sp>
      <p:sp>
        <p:nvSpPr>
          <p:cNvPr id="18" name="Text 16"/>
          <p:cNvSpPr/>
          <p:nvPr/>
        </p:nvSpPr>
        <p:spPr>
          <a:xfrm>
            <a:off x="6324600" y="2012851"/>
            <a:ext cx="13610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10C"/>
                </a:solidFill>
                <a:latin typeface="JetBrains Mono" pitchFamily="49" charset="0"/>
                <a:ea typeface="JetBrains Mono" pitchFamily="49" charset="-122"/>
                <a:cs typeface="JetBrains Mono" pitchFamily="49" charset="-120"/>
              </a:rPr>
              <a:t>04</a:t>
            </a:r>
            <a:endParaRPr lang="en-US" sz="1200" dirty="0"/>
          </a:p>
        </p:txBody>
      </p:sp>
      <p:sp>
        <p:nvSpPr>
          <p:cNvPr id="19" name="Text 17"/>
          <p:cNvSpPr/>
          <p:nvPr/>
        </p:nvSpPr>
        <p:spPr>
          <a:xfrm>
            <a:off x="6324600" y="2302371"/>
            <a:ext cx="136108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81D"/>
                </a:solidFill>
                <a:latin typeface="Space Grotesk" pitchFamily="34" charset="0"/>
                <a:ea typeface="Space Grotesk" pitchFamily="34" charset="-122"/>
                <a:cs typeface="Space Grotesk" pitchFamily="34" charset="-120"/>
              </a:rPr>
              <a:t>Explore</a:t>
            </a:r>
            <a:endParaRPr lang="en-US" sz="1500" dirty="0"/>
          </a:p>
        </p:txBody>
      </p:sp>
      <p:sp>
        <p:nvSpPr>
          <p:cNvPr id="20" name="Text 18"/>
          <p:cNvSpPr/>
          <p:nvPr/>
        </p:nvSpPr>
        <p:spPr>
          <a:xfrm>
            <a:off x="6324600" y="2607171"/>
            <a:ext cx="13610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Statistics and plots: look at it</a:t>
            </a:r>
            <a:endParaRPr lang="en-US" sz="1200" dirty="0"/>
          </a:p>
        </p:txBody>
      </p:sp>
      <p:sp>
        <p:nvSpPr>
          <p:cNvPr id="21" name="Shape 19"/>
          <p:cNvSpPr/>
          <p:nvPr/>
        </p:nvSpPr>
        <p:spPr>
          <a:xfrm>
            <a:off x="7923808" y="1831876"/>
            <a:ext cx="1672134" cy="1949252"/>
          </a:xfrm>
          <a:prstGeom prst="roundRect">
            <a:avLst>
              <a:gd name="adj" fmla="val 7405"/>
            </a:avLst>
          </a:prstGeom>
          <a:solidFill>
            <a:srgbClr val="FBFAF6"/>
          </a:solidFill>
          <a:ln w="6350">
            <a:solidFill>
              <a:srgbClr val="E0DACB"/>
            </a:solidFill>
            <a:prstDash val="solid"/>
          </a:ln>
        </p:spPr>
        <p:txBody>
          <a:bodyPr/>
          <a:p/>
        </p:txBody>
      </p:sp>
      <p:sp>
        <p:nvSpPr>
          <p:cNvPr id="22" name="Text 20"/>
          <p:cNvSpPr/>
          <p:nvPr/>
        </p:nvSpPr>
        <p:spPr>
          <a:xfrm>
            <a:off x="8104783" y="2012851"/>
            <a:ext cx="13609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10C"/>
                </a:solidFill>
                <a:latin typeface="JetBrains Mono" pitchFamily="49" charset="0"/>
                <a:ea typeface="JetBrains Mono" pitchFamily="49" charset="-122"/>
                <a:cs typeface="JetBrains Mono" pitchFamily="49" charset="-120"/>
              </a:rPr>
              <a:t>05</a:t>
            </a:r>
            <a:endParaRPr lang="en-US" sz="1200" dirty="0"/>
          </a:p>
        </p:txBody>
      </p:sp>
      <p:sp>
        <p:nvSpPr>
          <p:cNvPr id="23" name="Text 21"/>
          <p:cNvSpPr/>
          <p:nvPr/>
        </p:nvSpPr>
        <p:spPr>
          <a:xfrm>
            <a:off x="8104783" y="2302371"/>
            <a:ext cx="13609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81D"/>
                </a:solidFill>
                <a:latin typeface="Space Grotesk" pitchFamily="34" charset="0"/>
                <a:ea typeface="Space Grotesk" pitchFamily="34" charset="-122"/>
                <a:cs typeface="Space Grotesk" pitchFamily="34" charset="-120"/>
              </a:rPr>
              <a:t>Model</a:t>
            </a:r>
            <a:endParaRPr lang="en-US" sz="1500" dirty="0"/>
          </a:p>
        </p:txBody>
      </p:sp>
      <p:sp>
        <p:nvSpPr>
          <p:cNvPr id="24" name="Text 22"/>
          <p:cNvSpPr/>
          <p:nvPr/>
        </p:nvSpPr>
        <p:spPr>
          <a:xfrm>
            <a:off x="8104783" y="2607171"/>
            <a:ext cx="13609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Find the pattern, maybe with ML</a:t>
            </a:r>
            <a:endParaRPr lang="en-US" sz="1200" dirty="0"/>
          </a:p>
        </p:txBody>
      </p:sp>
      <p:sp>
        <p:nvSpPr>
          <p:cNvPr id="25" name="Shape 23"/>
          <p:cNvSpPr/>
          <p:nvPr/>
        </p:nvSpPr>
        <p:spPr>
          <a:xfrm>
            <a:off x="9703891" y="1831876"/>
            <a:ext cx="1672134" cy="1949252"/>
          </a:xfrm>
          <a:prstGeom prst="roundRect">
            <a:avLst>
              <a:gd name="adj" fmla="val 7405"/>
            </a:avLst>
          </a:prstGeom>
          <a:solidFill>
            <a:srgbClr val="FBFAF6"/>
          </a:solidFill>
          <a:ln w="6350">
            <a:solidFill>
              <a:srgbClr val="E0DACB"/>
            </a:solidFill>
            <a:prstDash val="solid"/>
          </a:ln>
        </p:spPr>
        <p:txBody>
          <a:bodyPr/>
          <a:p/>
        </p:txBody>
      </p:sp>
      <p:sp>
        <p:nvSpPr>
          <p:cNvPr id="26" name="Text 24"/>
          <p:cNvSpPr/>
          <p:nvPr/>
        </p:nvSpPr>
        <p:spPr>
          <a:xfrm>
            <a:off x="9884866" y="2012851"/>
            <a:ext cx="13609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2410C"/>
                </a:solidFill>
                <a:latin typeface="JetBrains Mono" pitchFamily="49" charset="0"/>
                <a:ea typeface="JetBrains Mono" pitchFamily="49" charset="-122"/>
                <a:cs typeface="JetBrains Mono" pitchFamily="49" charset="-120"/>
              </a:rPr>
              <a:t>06</a:t>
            </a:r>
            <a:endParaRPr lang="en-US" sz="1200" dirty="0"/>
          </a:p>
        </p:txBody>
      </p:sp>
      <p:sp>
        <p:nvSpPr>
          <p:cNvPr id="27" name="Text 25"/>
          <p:cNvSpPr/>
          <p:nvPr/>
        </p:nvSpPr>
        <p:spPr>
          <a:xfrm>
            <a:off x="9884866" y="2302371"/>
            <a:ext cx="13609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81D"/>
                </a:solidFill>
                <a:latin typeface="Space Grotesk" pitchFamily="34" charset="0"/>
                <a:ea typeface="Space Grotesk" pitchFamily="34" charset="-122"/>
                <a:cs typeface="Space Grotesk" pitchFamily="34" charset="-120"/>
              </a:rPr>
              <a:t>Communicate</a:t>
            </a:r>
            <a:endParaRPr lang="en-US" sz="1500" dirty="0"/>
          </a:p>
        </p:txBody>
      </p:sp>
      <p:sp>
        <p:nvSpPr>
          <p:cNvPr id="28" name="Text 26"/>
          <p:cNvSpPr/>
          <p:nvPr/>
        </p:nvSpPr>
        <p:spPr>
          <a:xfrm>
            <a:off x="9884866" y="2607171"/>
            <a:ext cx="136098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A number or chart someone acts on</a:t>
            </a:r>
            <a:endParaRPr lang="en-US" sz="1200" dirty="0"/>
          </a:p>
        </p:txBody>
      </p:sp>
      <p:sp>
        <p:nvSpPr>
          <p:cNvPr id="29" name="Text 27"/>
          <p:cNvSpPr/>
          <p:nvPr/>
        </p:nvSpPr>
        <p:spPr>
          <a:xfrm>
            <a:off x="812800" y="4089102"/>
            <a:ext cx="186948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2410C"/>
                </a:solidFill>
                <a:latin typeface="JetBrains Mono" pitchFamily="49" charset="0"/>
                <a:ea typeface="JetBrains Mono" pitchFamily="49" charset="-122"/>
                <a:cs typeface="JetBrains Mono" pitchFamily="49" charset="-120"/>
              </a:rPr>
              <a:t>TODAY WITH AUTO MPG</a:t>
            </a:r>
            <a:endParaRPr lang="en-US" sz="1200" dirty="0"/>
          </a:p>
        </p:txBody>
      </p:sp>
      <p:sp>
        <p:nvSpPr>
          <p:cNvPr id="30" name="Shape 28"/>
          <p:cNvSpPr/>
          <p:nvPr/>
        </p:nvSpPr>
        <p:spPr>
          <a:xfrm>
            <a:off x="2682280" y="4189413"/>
            <a:ext cx="5780683" cy="12700"/>
          </a:xfrm>
          <a:prstGeom prst="rect">
            <a:avLst/>
          </a:prstGeom>
          <a:solidFill>
            <a:srgbClr val="E0DACB"/>
          </a:solidFill>
          <a:ln/>
        </p:spPr>
        <p:txBody>
          <a:bodyPr/>
          <a:p/>
        </p:txBody>
      </p:sp>
      <p:sp>
        <p:nvSpPr>
          <p:cNvPr id="31" name="Text 29"/>
          <p:cNvSpPr/>
          <p:nvPr/>
        </p:nvSpPr>
        <p:spPr>
          <a:xfrm>
            <a:off x="8205153" y="4044652"/>
            <a:ext cx="3167698" cy="302220"/>
          </a:xfrm>
          <a:prstGeom prst="roundRect">
            <a:avLst>
              <a:gd name="adj" fmla="val 50000"/>
            </a:avLst>
          </a:prstGeom>
          <a:noFill/>
          <a:ln w="12700">
            <a:solidFill>
              <a:srgbClr val="C2410C"/>
            </a:solidFill>
            <a:prstDash val="dash"/>
          </a:ln>
        </p:spPr>
        <p:txBody>
          <a:bodyPr wrap="none" lIns="0" tIns="0" rIns="0" bIns="0" rtlCol="0" anchor="ctr">
            <a:normAutofit/>
          </a:bodyPr>
          <a:lstStyle/>
          <a:p>
            <a:pPr algn="ctr" indent="0" marL="0">
              <a:lnSpc>
                <a:spcPts val="1680"/>
              </a:lnSpc>
              <a:buNone/>
            </a:pPr>
            <a:r>
              <a:rPr lang="en-US" sz="1200" dirty="0">
                <a:solidFill>
                  <a:srgbClr val="16181D"/>
                </a:solidFill>
                <a:latin typeface="JetBrains Mono" pitchFamily="49" charset="0"/>
                <a:ea typeface="JetBrains Mono" pitchFamily="49" charset="-122"/>
                <a:cs typeface="JetBrains Mono" pitchFamily="49" charset="-120"/>
              </a:rPr>
              <a:t>↺ back to 01 anytime</a:t>
            </a:r>
            <a:endParaRPr lang="en-US" sz="1200" dirty="0"/>
          </a:p>
        </p:txBody>
      </p:sp>
      <p:sp>
        <p:nvSpPr>
          <p:cNvPr id="32" name="Text 30"/>
          <p:cNvSpPr/>
          <p:nvPr/>
        </p:nvSpPr>
        <p:spPr>
          <a:xfrm>
            <a:off x="812800" y="4607223"/>
            <a:ext cx="1676400" cy="868561"/>
          </a:xfrm>
          <a:prstGeom prst="roundRect">
            <a:avLst>
              <a:gd name="adj" fmla="val 10235"/>
            </a:avLst>
          </a:prstGeom>
          <a:solidFill>
            <a:srgbClr val="F6DCCD"/>
          </a:solidFill>
          <a:ln/>
        </p:spPr>
        <p:txBody>
          <a:bodyPr wrap="square" lIns="113662" tIns="88262" rIns="62862" bIns="62862" rtlCol="0" anchor="t">
            <a:normAutofit/>
          </a:bodyPr>
          <a:lstStyle/>
          <a:p>
            <a:pPr algn="l" indent="0" marL="0">
              <a:lnSpc>
                <a:spcPts val="1680"/>
              </a:lnSpc>
              <a:buNone/>
            </a:pPr>
            <a:r>
              <a:rPr lang="en-US" sz="1200" dirty="0">
                <a:solidFill>
                  <a:srgbClr val="16181D"/>
                </a:solidFill>
                <a:latin typeface="IBM Plex Sans" pitchFamily="34" charset="0"/>
                <a:ea typeface="IBM Plex Sans" pitchFamily="34" charset="-122"/>
                <a:cs typeface="IBM Plex Sans" pitchFamily="34" charset="-120"/>
              </a:rPr>
              <a:t>How efficient will a car be?</a:t>
            </a:r>
            <a:endParaRPr lang="en-US" sz="1200" dirty="0"/>
          </a:p>
        </p:txBody>
      </p:sp>
      <p:sp>
        <p:nvSpPr>
          <p:cNvPr id="33" name="Text 31"/>
          <p:cNvSpPr/>
          <p:nvPr/>
        </p:nvSpPr>
        <p:spPr>
          <a:xfrm>
            <a:off x="2590800" y="4607223"/>
            <a:ext cx="1676400" cy="868561"/>
          </a:xfrm>
          <a:prstGeom prst="roundRect">
            <a:avLst>
              <a:gd name="adj" fmla="val 10235"/>
            </a:avLst>
          </a:prstGeom>
          <a:solidFill>
            <a:srgbClr val="F6DCCD"/>
          </a:solidFill>
          <a:ln/>
        </p:spPr>
        <p:txBody>
          <a:bodyPr wrap="square" lIns="113662" tIns="88262" rIns="62862" bIns="62862" rtlCol="0" anchor="t">
            <a:normAutofit/>
          </a:bodyPr>
          <a:lstStyle/>
          <a:p>
            <a:pPr algn="l" indent="0" marL="0">
              <a:lnSpc>
                <a:spcPts val="1680"/>
              </a:lnSpc>
              <a:buNone/>
            </a:pPr>
            <a:r>
              <a:rPr lang="en-US" sz="1200" dirty="0">
                <a:solidFill>
                  <a:srgbClr val="16181D"/>
                </a:solidFill>
                <a:latin typeface="IBM Plex Sans" pitchFamily="34" charset="0"/>
                <a:ea typeface="IBM Plex Sans" pitchFamily="34" charset="-122"/>
                <a:cs typeface="IBM Plex Sans" pitchFamily="34" charset="-120"/>
              </a:rPr>
              <a:t>one CSV file, 398 cars</a:t>
            </a:r>
            <a:endParaRPr lang="en-US" sz="1200" dirty="0"/>
          </a:p>
        </p:txBody>
      </p:sp>
      <p:sp>
        <p:nvSpPr>
          <p:cNvPr id="34" name="Text 32"/>
          <p:cNvSpPr/>
          <p:nvPr/>
        </p:nvSpPr>
        <p:spPr>
          <a:xfrm>
            <a:off x="4368800" y="4607223"/>
            <a:ext cx="1676400" cy="868561"/>
          </a:xfrm>
          <a:prstGeom prst="roundRect">
            <a:avLst>
              <a:gd name="adj" fmla="val 10235"/>
            </a:avLst>
          </a:prstGeom>
          <a:solidFill>
            <a:srgbClr val="F6DCCD"/>
          </a:solidFill>
          <a:ln/>
        </p:spPr>
        <p:txBody>
          <a:bodyPr wrap="square" lIns="113662" tIns="88262" rIns="62862" bIns="62862" rtlCol="0" anchor="t">
            <a:normAutofit/>
          </a:bodyPr>
          <a:lstStyle/>
          <a:p>
            <a:pPr algn="l" indent="0" marL="0">
              <a:lnSpc>
                <a:spcPts val="1680"/>
              </a:lnSpc>
              <a:buNone/>
            </a:pPr>
            <a:r>
              <a:rPr lang="en-US" sz="1200" dirty="0">
                <a:solidFill>
                  <a:srgbClr val="16181D"/>
                </a:solidFill>
                <a:latin typeface="JetBrains Mono" pitchFamily="49" charset="0"/>
                <a:ea typeface="JetBrains Mono" pitchFamily="49" charset="-122"/>
                <a:cs typeface="JetBrains Mono" pitchFamily="49" charset="-120"/>
              </a:rPr>
              <a:t>missing values, outliers</a:t>
            </a:r>
            <a:endParaRPr lang="en-US" sz="1200" dirty="0"/>
          </a:p>
        </p:txBody>
      </p:sp>
      <p:sp>
        <p:nvSpPr>
          <p:cNvPr id="35" name="Text 33"/>
          <p:cNvSpPr/>
          <p:nvPr/>
        </p:nvSpPr>
        <p:spPr>
          <a:xfrm>
            <a:off x="6146800" y="4607223"/>
            <a:ext cx="1676400" cy="868561"/>
          </a:xfrm>
          <a:prstGeom prst="roundRect">
            <a:avLst>
              <a:gd name="adj" fmla="val 10235"/>
            </a:avLst>
          </a:prstGeom>
          <a:solidFill>
            <a:srgbClr val="F6DCCD"/>
          </a:solidFill>
          <a:ln/>
        </p:spPr>
        <p:txBody>
          <a:bodyPr wrap="square" lIns="113662" tIns="88262" rIns="62862" bIns="62862" rtlCol="0" anchor="t">
            <a:normAutofit/>
          </a:bodyPr>
          <a:lstStyle/>
          <a:p>
            <a:pPr algn="l" indent="0" marL="0">
              <a:lnSpc>
                <a:spcPts val="1680"/>
              </a:lnSpc>
              <a:buNone/>
            </a:pPr>
            <a:r>
              <a:rPr lang="en-US" sz="1200" dirty="0">
                <a:solidFill>
                  <a:srgbClr val="16181D"/>
                </a:solidFill>
                <a:latin typeface="IBM Plex Sans" pitchFamily="34" charset="0"/>
                <a:ea typeface="IBM Plex Sans" pitchFamily="34" charset="-122"/>
                <a:cs typeface="IBM Plex Sans" pitchFamily="34" charset="-120"/>
              </a:rPr>
              <a:t>groupby, plots, correlation</a:t>
            </a:r>
            <a:endParaRPr lang="en-US" sz="1200" dirty="0"/>
          </a:p>
        </p:txBody>
      </p:sp>
      <p:sp>
        <p:nvSpPr>
          <p:cNvPr id="36" name="Text 34"/>
          <p:cNvSpPr/>
          <p:nvPr/>
        </p:nvSpPr>
        <p:spPr>
          <a:xfrm>
            <a:off x="7924800" y="4607223"/>
            <a:ext cx="1676400" cy="868561"/>
          </a:xfrm>
          <a:prstGeom prst="roundRect">
            <a:avLst>
              <a:gd name="adj" fmla="val 10235"/>
            </a:avLst>
          </a:prstGeom>
          <a:solidFill>
            <a:srgbClr val="F6DCCD"/>
          </a:solidFill>
          <a:ln/>
        </p:spPr>
        <p:txBody>
          <a:bodyPr wrap="square" lIns="113662" tIns="88262" rIns="62862" bIns="62862" rtlCol="0" anchor="t">
            <a:normAutofit/>
          </a:bodyPr>
          <a:lstStyle/>
          <a:p>
            <a:pPr algn="l" indent="0" marL="0">
              <a:lnSpc>
                <a:spcPts val="1680"/>
              </a:lnSpc>
              <a:buNone/>
            </a:pPr>
            <a:r>
              <a:rPr lang="en-US" sz="1200" dirty="0">
                <a:solidFill>
                  <a:srgbClr val="16181D"/>
                </a:solidFill>
                <a:latin typeface="IBM Plex Sans" pitchFamily="34" charset="0"/>
                <a:ea typeface="IBM Plex Sans" pitchFamily="34" charset="-122"/>
                <a:cs typeface="IBM Plex Sans" pitchFamily="34" charset="-120"/>
              </a:rPr>
              <a:t>baseline → linear → forest</a:t>
            </a:r>
            <a:endParaRPr lang="en-US" sz="1200" dirty="0"/>
          </a:p>
        </p:txBody>
      </p:sp>
      <p:sp>
        <p:nvSpPr>
          <p:cNvPr id="37" name="Text 35"/>
          <p:cNvSpPr/>
          <p:nvPr/>
        </p:nvSpPr>
        <p:spPr>
          <a:xfrm>
            <a:off x="9702800" y="4607223"/>
            <a:ext cx="1676400" cy="868561"/>
          </a:xfrm>
          <a:prstGeom prst="roundRect">
            <a:avLst>
              <a:gd name="adj" fmla="val 10235"/>
            </a:avLst>
          </a:prstGeom>
          <a:solidFill>
            <a:srgbClr val="F6DCCD"/>
          </a:solidFill>
          <a:ln/>
        </p:spPr>
        <p:txBody>
          <a:bodyPr wrap="square" lIns="113662" tIns="88262" rIns="62862" bIns="62862" rtlCol="0" anchor="t">
            <a:normAutofit/>
          </a:bodyPr>
          <a:lstStyle/>
          <a:p>
            <a:pPr algn="l" indent="0" marL="0">
              <a:lnSpc>
                <a:spcPts val="1680"/>
              </a:lnSpc>
              <a:buNone/>
            </a:pPr>
            <a:r>
              <a:rPr lang="en-US" sz="1200" dirty="0">
                <a:solidFill>
                  <a:srgbClr val="16181D"/>
                </a:solidFill>
                <a:latin typeface="IBM Plex Sans" pitchFamily="34" charset="0"/>
                <a:ea typeface="IBM Plex Sans" pitchFamily="34" charset="-122"/>
                <a:cs typeface="IBM Plex Sans" pitchFamily="34" charset="-120"/>
              </a:rPr>
              <a:t>MAE in mpg, next session</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20">
    <p:bg>
      <p:bgPr>
        <a:solidFill>
          <a:srgbClr val="F2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2410C"/>
                </a:solidFill>
                <a:latin typeface="JetBrains Mono" pitchFamily="49" charset="0"/>
                <a:ea typeface="JetBrains Mono" pitchFamily="49" charset="-122"/>
                <a:cs typeface="JetBrains Mono" pitchFamily="49" charset="-120"/>
              </a:rPr>
              <a:t>02 · TWO ROLES, TWO QUESTIONS</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181D"/>
                </a:solidFill>
                <a:latin typeface="Space Grotesk" pitchFamily="34" charset="0"/>
                <a:ea typeface="Space Grotesk" pitchFamily="34" charset="-122"/>
                <a:cs typeface="Space Grotesk" pitchFamily="34" charset="-120"/>
              </a:rPr>
              <a:t>Data analyst vs. data scientist</a:t>
            </a:r>
            <a:endParaRPr lang="en-US" sz="3200" dirty="0"/>
          </a:p>
        </p:txBody>
      </p:sp>
      <p:sp>
        <p:nvSpPr>
          <p:cNvPr id="4" name="Shape 2"/>
          <p:cNvSpPr/>
          <p:nvPr/>
        </p:nvSpPr>
        <p:spPr>
          <a:xfrm>
            <a:off x="812800" y="1879501"/>
            <a:ext cx="10566400" cy="3712463"/>
          </a:xfrm>
          <a:prstGeom prst="roundRect">
            <a:avLst>
              <a:gd name="adj" fmla="val 4891"/>
            </a:avLst>
          </a:prstGeom>
          <a:solidFill>
            <a:srgbClr val="FBFAF6"/>
          </a:solidFill>
          <a:ln/>
        </p:spPr>
        <p:txBody>
          <a:bodyPr/>
          <a:p/>
        </p:txBody>
      </p:sp>
      <p:sp>
        <p:nvSpPr>
          <p:cNvPr id="5" name="Shape 3"/>
          <p:cNvSpPr/>
          <p:nvPr/>
        </p:nvSpPr>
        <p:spPr>
          <a:xfrm>
            <a:off x="812800" y="1879501"/>
            <a:ext cx="10566400" cy="3712463"/>
          </a:xfrm>
          <a:custGeom>
            <a:avLst/>
            <a:gdLst/>
            <a:ahLst/>
            <a:cxnLst/>
            <a:rect l="l" t="t" r="r" b="b"/>
            <a:pathLst>
              <a:path w="10566400" h="2596753">
                <a:moveTo>
                  <a:pt x="10439400" y="0"/>
                </a:moveTo>
                <a:lnTo>
                  <a:pt x="10439400" y="0"/>
                </a:lnTo>
                <a:arcTo hR="127000" wR="127000" stAng="16200000" swAng="5400000"/>
                <a:lnTo>
                  <a:pt x="10566400" y="2469753"/>
                </a:lnTo>
                <a:arcTo hR="127000" wR="127000" stAng="0" swAng="5400000"/>
                <a:lnTo>
                  <a:pt x="127000" y="2596753"/>
                </a:lnTo>
                <a:arcTo hR="127000" wR="127000" stAng="5400000" swAng="5400000"/>
                <a:lnTo>
                  <a:pt x="0" y="2469753"/>
                </a:lnTo>
                <a:arcTo hR="120650" wR="127000" stAng="10800000" swAng="-5400000"/>
                <a:lnTo>
                  <a:pt x="10439400" y="2590403"/>
                </a:lnTo>
                <a:arcTo hR="120650" wR="120650" stAng="5400000" swAng="-5400000"/>
                <a:lnTo>
                  <a:pt x="10560050" y="127000"/>
                </a:lnTo>
                <a:arcTo hR="127000" wR="120650" stAng="0" swAng="-5400000"/>
                <a:close/>
              </a:path>
            </a:pathLst>
          </a:custGeom>
          <a:solidFill>
            <a:srgbClr val="E0DACB"/>
          </a:solidFill>
          <a:ln/>
        </p:spPr>
        <p:txBody>
          <a:bodyPr/>
          <a:p/>
        </p:txBody>
      </p:sp>
      <p:sp>
        <p:nvSpPr>
          <p:cNvPr id="6" name="Shape 4"/>
          <p:cNvSpPr/>
          <p:nvPr/>
        </p:nvSpPr>
        <p:spPr>
          <a:xfrm>
            <a:off x="812800" y="1879501"/>
            <a:ext cx="10566400" cy="3712463"/>
          </a:xfrm>
          <a:custGeom>
            <a:avLst/>
            <a:gdLst/>
            <a:ahLst/>
            <a:cxnLst/>
            <a:rect l="l" t="t" r="r" b="b"/>
            <a:pathLst>
              <a:path w="10566400" h="2596753">
                <a:moveTo>
                  <a:pt x="127000" y="2596753"/>
                </a:moveTo>
                <a:lnTo>
                  <a:pt x="127000" y="2596753"/>
                </a:lnTo>
                <a:arcTo hR="127000" wR="127000" stAng="5400000" swAng="5400000"/>
                <a:lnTo>
                  <a:pt x="0" y="127000"/>
                </a:lnTo>
                <a:arcTo hR="127000" wR="127000" stAng="10800000" swAng="5400000"/>
                <a:lnTo>
                  <a:pt x="10439400" y="0"/>
                </a:lnTo>
                <a:arcTo hR="127000" wR="127000" stAng="16200000" swAng="5400000"/>
                <a:lnTo>
                  <a:pt x="10566400" y="127000"/>
                </a:lnTo>
                <a:arcTo hR="114300" wR="127000" stAng="0" swAng="-5400000"/>
                <a:lnTo>
                  <a:pt x="127000" y="12700"/>
                </a:lnTo>
                <a:arcTo hR="114300" wR="114300" stAng="16200000" swAng="-5400000"/>
                <a:lnTo>
                  <a:pt x="12700" y="2469753"/>
                </a:lnTo>
                <a:arcTo hR="127000" wR="114300" stAng="10800000" swAng="-5400000"/>
                <a:close/>
              </a:path>
            </a:pathLst>
          </a:custGeom>
          <a:solidFill>
            <a:srgbClr val="141413">
              <a:alpha val="22000"/>
            </a:srgbClr>
          </a:solidFill>
          <a:ln/>
        </p:spPr>
        <p:txBody>
          <a:bodyPr/>
          <a:p/>
        </p:txBody>
      </p:sp>
      <p:sp>
        <p:nvSpPr>
          <p:cNvPr id="7" name="Shape 5"/>
          <p:cNvSpPr/>
          <p:nvPr/>
        </p:nvSpPr>
        <p:spPr>
          <a:xfrm>
            <a:off x="825500" y="1892201"/>
            <a:ext cx="10547350" cy="515541"/>
          </a:xfrm>
          <a:custGeom>
            <a:avLst/>
            <a:gdLst/>
            <a:ahLst/>
            <a:cxnLst/>
            <a:rect l="l" t="t" r="r" b="b"/>
            <a:pathLst>
              <a:path w="10547350" h="515541">
                <a:moveTo>
                  <a:pt x="0" y="114300"/>
                </a:moveTo>
                <a:arcTo hR="114300" wR="114300" stAng="10800000" swAng="5400000"/>
                <a:lnTo>
                  <a:pt x="10426700" y="0"/>
                </a:lnTo>
                <a:arcTo hR="120650" wR="120650" stAng="16200000" swAng="5400000"/>
                <a:lnTo>
                  <a:pt x="10547350" y="515541"/>
                </a:lnTo>
                <a:lnTo>
                  <a:pt x="0" y="515541"/>
                </a:lnTo>
                <a:close/>
              </a:path>
            </a:pathLst>
          </a:custGeom>
          <a:solidFill>
            <a:srgbClr val="E9E8E4"/>
          </a:solidFill>
          <a:ln/>
        </p:spPr>
        <p:txBody>
          <a:bodyPr/>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43032" cy="3694175"/>
        </p:xfrm>
        <a:graphic>
          <a:graphicData uri="http://schemas.openxmlformats.org/drawingml/2006/table">
            <a:tbl>
              <a:tblPr/>
              <a:tblGrid>
                <a:gridCol w="2377440"/>
                <a:gridCol w="3931920"/>
                <a:gridCol w="4233672"/>
              </a:tblGrid>
              <a:tr h="512064">
                <a:tc>
                  <a:txBody>
                    <a:bodyPr/>
                    <a:lstStyle/>
                    <a:p>
                      <a:pPr indent="0" marL="0">
                        <a:lnSpc>
                          <a:spcPts val="1960"/>
                        </a:lnSpc>
                        <a:buNone/>
                      </a:pPr>
                      <a:r>
                        <a:rPr lang="en-US" sz="1400" dirty="0">
                          <a:solidFill>
                            <a:srgbClr val="8A909C"/>
                          </a:solidFill>
                          <a:latin typeface="IBM Plex Sans" charset="0"/>
                          <a:ea typeface="IBM Plex Sans" charset="0"/>
                          <a:cs typeface="IBM Plex Sans" charset="0"/>
                        </a:rPr>
                        <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BAB9B6"/>
                      </a:solidFill>
                      <a:prstDash val="solid"/>
                      <a:round/>
                      <a:headEnd type="none" w="med" len="med"/>
                      <a:tailEnd type="none" w="med" len="med"/>
                    </a:lnR>
                    <a:lnT w="0" cap="flat" cmpd="sng" algn="ctr">
                      <a:noFill/>
                    </a:lnT>
                    <a:lnB w="12700" cap="flat" cmpd="sng" algn="ctr">
                      <a:solidFill>
                        <a:srgbClr val="BAB9B6"/>
                      </a:solidFill>
                      <a:prstDash val="solid"/>
                      <a:round/>
                      <a:headEnd type="none" w="med" len="med"/>
                      <a:tailEnd type="none" w="med" len="med"/>
                    </a:lnB>
                  </a:tcPr>
                </a:tc>
                <a:tc>
                  <a:txBody>
                    <a:bodyPr/>
                    <a:lstStyle/>
                    <a:p>
                      <a:pPr indent="0" marL="0">
                        <a:lnSpc>
                          <a:spcPts val="1960"/>
                        </a:lnSpc>
                        <a:buNone/>
                      </a:pPr>
                      <a:r>
                        <a:rPr lang="en-US" sz="1400" b="1" dirty="0">
                          <a:solidFill>
                            <a:srgbClr val="C2410C"/>
                          </a:solidFill>
                          <a:latin typeface="IBM Plex Sans" pitchFamily="34" charset="0"/>
                          <a:ea typeface="IBM Plex Sans" pitchFamily="34" charset="-122"/>
                          <a:cs typeface="IBM Plex Sans" pitchFamily="34" charset="-120"/>
                        </a:rPr>
                        <a:t>Data analyst</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0" cap="flat" cmpd="sng" algn="ctr">
                      <a:noFill/>
                    </a:lnT>
                    <a:lnB w="12700" cap="flat" cmpd="sng" algn="ctr">
                      <a:solidFill>
                        <a:srgbClr val="BAB9B6"/>
                      </a:solidFill>
                      <a:prstDash val="solid"/>
                      <a:round/>
                      <a:headEnd type="none" w="med" len="med"/>
                      <a:tailEnd type="none" w="med" len="med"/>
                    </a:lnB>
                  </a:tcPr>
                </a:tc>
                <a:tc>
                  <a:txBody>
                    <a:bodyPr/>
                    <a:lstStyle/>
                    <a:p>
                      <a:pPr indent="0" marL="0">
                        <a:lnSpc>
                          <a:spcPts val="1960"/>
                        </a:lnSpc>
                        <a:buNone/>
                      </a:pPr>
                      <a:r>
                        <a:rPr lang="en-US" sz="1400" b="1" dirty="0">
                          <a:solidFill>
                            <a:srgbClr val="1D5FD6"/>
                          </a:solidFill>
                          <a:latin typeface="IBM Plex Sans" pitchFamily="34" charset="0"/>
                          <a:ea typeface="IBM Plex Sans" pitchFamily="34" charset="-122"/>
                          <a:cs typeface="IBM Plex Sans" pitchFamily="34" charset="-120"/>
                        </a:rPr>
                        <a:t>Data scientist</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0" cap="flat" cmpd="sng" algn="ctr">
                      <a:noFill/>
                    </a:lnT>
                    <a:lnB w="12700" cap="flat" cmpd="sng" algn="ctr">
                      <a:solidFill>
                        <a:srgbClr val="BAB9B6"/>
                      </a:solidFill>
                      <a:prstDash val="solid"/>
                      <a:round/>
                      <a:headEnd type="none" w="med" len="med"/>
                      <a:tailEnd type="none" w="med" len="med"/>
                    </a:lnB>
                  </a:tcPr>
                </a:tc>
              </a:tr>
              <a:tr h="530352">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Main question</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What happened, and why?</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What will happen?</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530352">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Looks at</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the past, as it is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patterns that generalise</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530352">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Typical output</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a chart, a dashboard, a number</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a model that predicts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530352">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Typical tools</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SQL, Excel, pandas, Power BI</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pandas, scikit-learn, PyTorch</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530352">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Success means</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a decision gets made</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good predictions on new data</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530352">
                <a:tc>
                  <a:txBody>
                    <a:bodyPr/>
                    <a:lstStyle/>
                    <a:p>
                      <a:pPr indent="0" marL="0">
                        <a:lnSpc>
                          <a:spcPts val="1960"/>
                        </a:lnSpc>
                        <a:buNone/>
                      </a:pPr>
                      <a:r>
                        <a:rPr lang="en-US" sz="1400" dirty="0">
                          <a:solidFill>
                            <a:srgbClr val="FF7A45"/>
                          </a:solidFill>
                          <a:latin typeface="IBM Plex Sans" pitchFamily="34" charset="0"/>
                          <a:ea typeface="IBM Plex Sans" pitchFamily="34" charset="-122"/>
                          <a:cs typeface="IBM Plex Sans" pitchFamily="34" charset="-120"/>
                        </a:rPr>
                        <a:t>Today</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16171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71B"/>
                      </a:solidFill>
                      <a:prstDash val="solid"/>
                      <a:round/>
                      <a:headEnd type="none" w="med" len="med"/>
                      <a:tailEnd type="none" w="med" len="med"/>
                    </a:lnB>
                    <a:solidFill>
                      <a:srgbClr val="16181D"/>
                    </a:solidFill>
                  </a:tcPr>
                </a:tc>
                <a:tc>
                  <a:txBody>
                    <a:bodyPr/>
                    <a:lstStyle/>
                    <a:p>
                      <a:pPr indent="0" marL="0">
                        <a:lnSpc>
                          <a:spcPts val="1960"/>
                        </a:lnSpc>
                        <a:buNone/>
                      </a:pPr>
                      <a:r>
                        <a:rPr lang="en-US" sz="1400" dirty="0">
                          <a:solidFill>
                            <a:srgbClr val="ECEAE4"/>
                          </a:solidFill>
                          <a:latin typeface="IBM Plex Sans" pitchFamily="34" charset="0"/>
                          <a:ea typeface="IBM Plex Sans" pitchFamily="34" charset="-122"/>
                          <a:cs typeface="IBM Plex Sans" pitchFamily="34" charset="-120"/>
                        </a:rPr>
                        <a:t>Part A: clean and explore</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16171B"/>
                      </a:solidFill>
                      <a:prstDash val="solid"/>
                      <a:round/>
                      <a:headEnd type="none" w="med" len="med"/>
                      <a:tailEnd type="none" w="med" len="med"/>
                    </a:lnL>
                    <a:lnR w="12700" cap="flat" cmpd="sng" algn="ctr">
                      <a:solidFill>
                        <a:srgbClr val="16171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71B"/>
                      </a:solidFill>
                      <a:prstDash val="solid"/>
                      <a:round/>
                      <a:headEnd type="none" w="med" len="med"/>
                      <a:tailEnd type="none" w="med" len="med"/>
                    </a:lnB>
                    <a:solidFill>
                      <a:srgbClr val="16181D"/>
                    </a:solidFill>
                  </a:tcPr>
                </a:tc>
                <a:tc>
                  <a:txBody>
                    <a:bodyPr/>
                    <a:lstStyle/>
                    <a:p>
                      <a:pPr indent="0" marL="0">
                        <a:lnSpc>
                          <a:spcPts val="1960"/>
                        </a:lnSpc>
                        <a:buNone/>
                      </a:pPr>
                      <a:r>
                        <a:rPr lang="en-US" sz="1400" dirty="0">
                          <a:solidFill>
                            <a:srgbClr val="ECEAE4"/>
                          </a:solidFill>
                          <a:latin typeface="IBM Plex Sans" pitchFamily="34" charset="0"/>
                          <a:ea typeface="IBM Plex Sans" pitchFamily="34" charset="-122"/>
                          <a:cs typeface="IBM Plex Sans" pitchFamily="34" charset="-120"/>
                        </a:rPr>
                        <a:t>Part B: features, pipeline, train</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16171B"/>
                      </a:solidFill>
                      <a:prstDash val="solid"/>
                      <a:round/>
                      <a:headEnd type="none" w="med" len="med"/>
                      <a:tailEnd type="none" w="med" len="med"/>
                    </a:lnL>
                    <a:lnR w="12700" cap="flat" cmpd="sng" algn="ctr">
                      <a:solidFill>
                        <a:srgbClr val="16171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71B"/>
                      </a:solidFill>
                      <a:prstDash val="solid"/>
                      <a:round/>
                      <a:headEnd type="none" w="med" len="med"/>
                      <a:tailEnd type="none" w="med" len="med"/>
                    </a:lnB>
                    <a:solidFill>
                      <a:srgbClr val="16181D"/>
                    </a:solidFill>
                  </a:tcPr>
                </a:tc>
              </a:tr>
            </a:tbl>
          </a:graphicData>
        </a:graphic>
      </p:graphicFrame>
      <p:pic>
        <p:nvPicPr>
          <p:cNvPr id="9" name="Image 0" descr="Lightbulb">    </p:cNvPr>
          <p:cNvPicPr>
            <a:picLocks noChangeAspect="1"/>
          </p:cNvPicPr>
          <p:nvPr/>
        </p:nvPicPr>
        <p:blipFill>
          <a:blip r:embed="rId1"/>
          <a:srcRect l="0" r="0" t="0" b="0"/>
          <a:stretch/>
        </p:blipFill>
        <p:spPr>
          <a:xfrm>
            <a:off x="812800" y="5861303"/>
            <a:ext cx="279400" cy="279400"/>
          </a:xfrm>
          <a:prstGeom prst="rect">
            <a:avLst/>
          </a:prstGeom>
        </p:spPr>
      </p:pic>
      <p:sp>
        <p:nvSpPr>
          <p:cNvPr id="10" name="Text 6"/>
          <p:cNvSpPr/>
          <p:nvPr/>
        </p:nvSpPr>
        <p:spPr>
          <a:xfrm>
            <a:off x="1219200" y="5870447"/>
            <a:ext cx="878609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181D"/>
                </a:solidFill>
                <a:latin typeface="IBM Plex Sans" pitchFamily="34" charset="0"/>
                <a:ea typeface="IBM Plex Sans" pitchFamily="34" charset="-122"/>
                <a:cs typeface="IBM Plex Sans" pitchFamily="34" charset="-120"/>
              </a:rPr>
              <a:t>Both start the same way: load, clean, look. Only the last steps differ.</a:t>
            </a:r>
            <a:endParaRPr lang="en-US" sz="15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17">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F7A45"/>
                </a:solidFill>
                <a:latin typeface="JetBrains Mono" pitchFamily="49" charset="0"/>
                <a:ea typeface="JetBrains Mono" pitchFamily="49" charset="-122"/>
                <a:cs typeface="JetBrains Mono" pitchFamily="49" charset="-120"/>
              </a:rPr>
              <a:t>02 · THE DATASET</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ECEAE4"/>
                </a:solidFill>
                <a:latin typeface="Space Grotesk" pitchFamily="34" charset="0"/>
                <a:ea typeface="Space Grotesk" pitchFamily="34" charset="-122"/>
                <a:cs typeface="Space Grotesk" pitchFamily="34" charset="-120"/>
              </a:rPr>
              <a:t>Meet the data: Auto MPG</a:t>
            </a:r>
            <a:endParaRPr lang="en-US" sz="3200" dirty="0"/>
          </a:p>
        </p:txBody>
      </p:sp>
      <p:sp>
        <p:nvSpPr>
          <p:cNvPr id="4" name="Shape 2"/>
          <p:cNvSpPr/>
          <p:nvPr/>
        </p:nvSpPr>
        <p:spPr>
          <a:xfrm>
            <a:off x="815975" y="1831876"/>
            <a:ext cx="6750050" cy="4210149"/>
          </a:xfrm>
          <a:prstGeom prst="roundRect">
            <a:avLst>
              <a:gd name="adj" fmla="val 3544"/>
            </a:avLst>
          </a:prstGeom>
          <a:solidFill>
            <a:srgbClr val="171B23"/>
          </a:solidFill>
          <a:ln w="6350">
            <a:solidFill>
              <a:srgbClr val="2A2F3A"/>
            </a:solidFill>
            <a:prstDash val="solid"/>
          </a:ln>
        </p:spPr>
        <p:txBody>
          <a:bodyPr/>
          <a:p/>
        </p:txBody>
      </p:sp>
      <p:sp>
        <p:nvSpPr>
          <p:cNvPr id="5" name="Shape 3"/>
          <p:cNvSpPr/>
          <p:nvPr/>
        </p:nvSpPr>
        <p:spPr>
          <a:xfrm>
            <a:off x="819150" y="1835051"/>
            <a:ext cx="6743700" cy="422870"/>
          </a:xfrm>
          <a:custGeom>
            <a:avLst/>
            <a:gdLst/>
            <a:ahLst/>
            <a:cxnLst/>
            <a:rect l="l" t="t" r="r" b="b"/>
            <a:pathLst>
              <a:path w="6743700" h="422870">
                <a:moveTo>
                  <a:pt x="0" y="416520"/>
                </a:moveTo>
                <a:lnTo>
                  <a:pt x="6743700" y="416520"/>
                </a:lnTo>
                <a:lnTo>
                  <a:pt x="6743700" y="422870"/>
                </a:lnTo>
                <a:lnTo>
                  <a:pt x="0" y="422870"/>
                </a:lnTo>
                <a:lnTo>
                  <a:pt x="0" y="416520"/>
                </a:lnTo>
                <a:close/>
              </a:path>
            </a:pathLst>
          </a:custGeom>
          <a:solidFill>
            <a:srgbClr val="2A2F3A"/>
          </a:solidFill>
          <a:ln/>
        </p:spPr>
        <p:txBody>
          <a:bodyPr/>
          <a:p/>
        </p:txBody>
      </p:sp>
      <p:sp>
        <p:nvSpPr>
          <p:cNvPr id="6" name="Shape 4"/>
          <p:cNvSpPr/>
          <p:nvPr/>
        </p:nvSpPr>
        <p:spPr>
          <a:xfrm>
            <a:off x="996950" y="1998861"/>
            <a:ext cx="88900" cy="88900"/>
          </a:xfrm>
          <a:prstGeom prst="roundRect">
            <a:avLst>
              <a:gd name="adj" fmla="val 50000"/>
            </a:avLst>
          </a:prstGeom>
          <a:solidFill>
            <a:srgbClr val="3A404D"/>
          </a:solidFill>
          <a:ln/>
        </p:spPr>
        <p:txBody>
          <a:bodyPr/>
          <a:p/>
        </p:txBody>
      </p:sp>
      <p:sp>
        <p:nvSpPr>
          <p:cNvPr id="7" name="Shape 5"/>
          <p:cNvSpPr/>
          <p:nvPr/>
        </p:nvSpPr>
        <p:spPr>
          <a:xfrm>
            <a:off x="1162050" y="1998861"/>
            <a:ext cx="88900" cy="88900"/>
          </a:xfrm>
          <a:prstGeom prst="roundRect">
            <a:avLst>
              <a:gd name="adj" fmla="val 50000"/>
            </a:avLst>
          </a:prstGeom>
          <a:solidFill>
            <a:srgbClr val="3A404D"/>
          </a:solidFill>
          <a:ln/>
        </p:spPr>
        <p:txBody>
          <a:bodyPr/>
          <a:p/>
        </p:txBody>
      </p:sp>
      <p:sp>
        <p:nvSpPr>
          <p:cNvPr id="8" name="Shape 6"/>
          <p:cNvSpPr/>
          <p:nvPr/>
        </p:nvSpPr>
        <p:spPr>
          <a:xfrm>
            <a:off x="1327150" y="1998861"/>
            <a:ext cx="88900" cy="88900"/>
          </a:xfrm>
          <a:prstGeom prst="roundRect">
            <a:avLst>
              <a:gd name="adj" fmla="val 50000"/>
            </a:avLst>
          </a:prstGeom>
          <a:solidFill>
            <a:srgbClr val="3A404D"/>
          </a:solidFill>
          <a:ln/>
        </p:spPr>
        <p:txBody>
          <a:bodyPr/>
          <a:p/>
        </p:txBody>
      </p:sp>
      <p:sp>
        <p:nvSpPr>
          <p:cNvPr id="9" name="Text 7"/>
          <p:cNvSpPr/>
          <p:nvPr/>
        </p:nvSpPr>
        <p:spPr>
          <a:xfrm>
            <a:off x="1568450" y="1936651"/>
            <a:ext cx="6584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2A3"/>
                </a:solidFill>
                <a:latin typeface="JetBrains Mono" pitchFamily="49" charset="0"/>
                <a:ea typeface="JetBrains Mono" pitchFamily="49" charset="-122"/>
                <a:cs typeface="JetBrains Mono" pitchFamily="49" charset="-120"/>
              </a:rPr>
              <a:t>first_look.py</a:t>
            </a:r>
            <a:endParaRPr lang="en-US" sz="1200" dirty="0"/>
          </a:p>
        </p:txBody>
      </p:sp>
      <p:sp>
        <p:nvSpPr>
          <p:cNvPr id="10" name="Text 8"/>
          <p:cNvSpPr/>
          <p:nvPr/>
        </p:nvSpPr>
        <p:spPr>
          <a:xfrm>
            <a:off x="6750050" y="1923951"/>
            <a:ext cx="635000" cy="238720"/>
          </a:xfrm>
          <a:custGeom>
            <a:avLst/>
            <a:gdLst/>
            <a:ahLst/>
            <a:cxnLst/>
            <a:rect l="l" t="t" r="r" b="b"/>
            <a:pathLst>
              <a:path w="635000" h="238720">
                <a:moveTo>
                  <a:pt x="119360" y="0"/>
                </a:moveTo>
                <a:lnTo>
                  <a:pt x="515640" y="0"/>
                </a:lnTo>
                <a:arcTo hR="119360" wR="119360" stAng="16200000" swAng="5400000"/>
                <a:lnTo>
                  <a:pt x="635000" y="119360"/>
                </a:lnTo>
                <a:arcTo hR="119360" wR="119360" stAng="0" swAng="5400000"/>
                <a:lnTo>
                  <a:pt x="119360" y="238720"/>
                </a:lnTo>
                <a:arcTo hR="119360" wR="119360" stAng="5400000" swAng="5400000"/>
                <a:lnTo>
                  <a:pt x="0" y="119360"/>
                </a:lnTo>
                <a:arcTo hR="119360" wR="119360" stAng="10800000" swAng="5400000"/>
                <a:close/>
              </a:path>
            </a:pathLst>
          </a:custGeom>
          <a:solidFill>
            <a:srgbClr val="F5B83D"/>
          </a:solidFill>
          <a:ln/>
        </p:spPr>
        <p:txBody>
          <a:bodyPr wrap="none" lIns="0" tIns="0" rIns="0" bIns="0" rtlCol="0" anchor="ctr">
            <a:normAutofit/>
          </a:bodyPr>
          <a:lstStyle/>
          <a:p>
            <a:pPr algn="ctr" indent="0" marL="0">
              <a:lnSpc>
                <a:spcPts val="1680"/>
              </a:lnSpc>
              <a:buNone/>
            </a:pPr>
            <a:r>
              <a:rPr lang="en-US" sz="1200" b="1" dirty="0">
                <a:solidFill>
                  <a:srgbClr val="0F1115"/>
                </a:solidFill>
                <a:latin typeface="JetBrains Mono" pitchFamily="49" charset="0"/>
                <a:ea typeface="JetBrains Mono" pitchFamily="49" charset="-122"/>
                <a:cs typeface="JetBrains Mono" pitchFamily="49" charset="-120"/>
              </a:rPr>
              <a:t>pandas</a:t>
            </a:r>
            <a:endParaRPr lang="en-US" sz="1200" dirty="0"/>
          </a:p>
        </p:txBody>
      </p:sp>
      <p:sp>
        <p:nvSpPr>
          <p:cNvPr id="11" name="Text 9"/>
          <p:cNvSpPr/>
          <p:nvPr/>
        </p:nvSpPr>
        <p:spPr>
          <a:xfrm>
            <a:off x="1047750" y="2514600"/>
            <a:ext cx="6475095" cy="3429000"/>
          </a:xfrm>
          <a:prstGeom prst="rect">
            <a:avLst/>
          </a:prstGeom>
          <a:noFill/>
          <a:ln/>
        </p:spPr>
        <p:txBody>
          <a:bodyPr wrap="square" lIns="0" tIns="0" rIns="0" bIns="0" rtlCol="0" anchor="t"/>
          <a:lstStyle/>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URL = </a:t>
            </a:r>
            <a:r>
              <a:rPr lang="en-US" sz="1300" dirty="0">
                <a:solidFill>
                  <a:srgbClr val="A6E3A1"/>
                </a:solidFill>
                <a:latin typeface="JetBrains Mono" pitchFamily="49" charset="0"/>
                <a:ea typeface="JetBrains Mono" pitchFamily="49" charset="-122"/>
                <a:cs typeface="JetBrains Mono" pitchFamily="49" charset="-120"/>
              </a:rPr>
              <a:t>"https://raw.githubusercontent.com/mwaskom/"</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      </a:t>
            </a:r>
            <a:r>
              <a:rPr lang="en-US" sz="1300" dirty="0">
                <a:solidFill>
                  <a:srgbClr val="A6E3A1"/>
                </a:solidFill>
                <a:latin typeface="JetBrains Mono" pitchFamily="49" charset="0"/>
                <a:ea typeface="JetBrains Mono" pitchFamily="49" charset="-122"/>
                <a:cs typeface="JetBrains Mono" pitchFamily="49" charset="-120"/>
              </a:rPr>
              <a:t>"seaborn-data/master/mpg.csv"</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df = pd.</a:t>
            </a:r>
            <a:r>
              <a:rPr lang="en-US" sz="1300" dirty="0">
                <a:solidFill>
                  <a:srgbClr val="8EC9FF"/>
                </a:solidFill>
                <a:latin typeface="JetBrains Mono" pitchFamily="49" charset="0"/>
                <a:ea typeface="JetBrains Mono" pitchFamily="49" charset="-122"/>
                <a:cs typeface="JetBrains Mono" pitchFamily="49" charset="-120"/>
              </a:rPr>
              <a:t>read_csv</a:t>
            </a:r>
            <a:r>
              <a:rPr lang="en-US" sz="1300" dirty="0">
                <a:solidFill>
                  <a:srgbClr val="E6E4DD"/>
                </a:solidFill>
                <a:latin typeface="JetBrains Mono" pitchFamily="49" charset="0"/>
                <a:ea typeface="JetBrains Mono" pitchFamily="49" charset="-122"/>
                <a:cs typeface="JetBrains Mono" pitchFamily="49" charset="-120"/>
              </a:rPr>
              <a:t>(URL)</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df.shape</a:t>
            </a:r>
            <a:r>
              <a:rPr lang="en-US" sz="1300" dirty="0">
                <a:solidFill>
                  <a:srgbClr val="8A92A3"/>
                </a:solidFill>
                <a:latin typeface="JetBrains Mono" pitchFamily="49" charset="0"/>
                <a:ea typeface="JetBrains Mono" pitchFamily="49" charset="-122"/>
                <a:cs typeface="JetBrains Mono" pitchFamily="49" charset="-120"/>
              </a:rPr>
              <a:t>              # (398, 9)</a:t>
            </a:r>
          </a:p>
          <a:p>
            <a:pPr algn="l" indent="0" marL="0">
              <a:lnSpc>
                <a:spcPts val="1750"/>
              </a:lnSpc>
              <a:buNone/>
            </a:pPr>
            <a:endParaRPr lang="en-US" sz="1300" dirty="0">
              <a:solidFill>
                <a:srgbClr val="8A92A3"/>
              </a:solidFill>
              <a:latin typeface="JetBrains Mono" pitchFamily="49" charset="0"/>
              <a:ea typeface="JetBrains Mono" pitchFamily="49" charset="-122"/>
              <a:cs typeface="JetBrains Mono" pitchFamily="49" charset="-120"/>
            </a:endParaRPr>
          </a:p>
          <a:p>
            <a:pPr algn="l" indent="0" marL="0">
              <a:lnSpc>
                <a:spcPts val="1750"/>
              </a:lnSpc>
              <a:buNone/>
            </a:pPr>
            <a:r>
              <a:rPr lang="en-US" sz="1300" dirty="0">
                <a:solidFill>
                  <a:srgbClr val="8A92A3"/>
                </a:solidFill>
                <a:latin typeface="JetBrains Mono" pitchFamily="49" charset="0"/>
                <a:ea typeface="JetBrains Mono" pitchFamily="49" charset="-122"/>
                <a:cs typeface="JetBrains Mono" pitchFamily="49" charset="-120"/>
              </a:rPr>
              <a:t>    mpg  cyl  displ   hp  weight  accel  year origin</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0  18.0    8  307.0  130    3504   12.0    70  usa</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1  15.0    8  350.0  165    3693   11.5    70  usa</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2  18.0    8  318.0  150    3436   11.0    70  usa</a:t>
            </a:r>
          </a:p>
          <a:p>
            <a:pPr algn="l" indent="0" marL="0">
              <a:lnSpc>
                <a:spcPts val="1750"/>
              </a:lnSpc>
              <a:buNone/>
            </a:pPr>
            <a:endParaRPr lang="en-US" sz="1300" dirty="0">
              <a:solidFill>
                <a:srgbClr val="8A92A3"/>
              </a:solidFill>
              <a:latin typeface="JetBrains Mono" pitchFamily="49" charset="0"/>
              <a:ea typeface="JetBrains Mono" pitchFamily="49" charset="-122"/>
              <a:cs typeface="JetBrains Mono" pitchFamily="49" charset="-120"/>
            </a:endParaRPr>
          </a:p>
          <a:p>
            <a:pPr algn="l" indent="0" marL="0">
              <a:lnSpc>
                <a:spcPts val="1750"/>
              </a:lnSpc>
              <a:buNone/>
            </a:pPr>
            <a:r>
              <a:rPr lang="en-US" sz="1300" dirty="0">
                <a:solidFill>
                  <a:srgbClr val="8A92A3"/>
                </a:solidFill>
                <a:latin typeface="JetBrains Mono" pitchFamily="49" charset="0"/>
                <a:ea typeface="JetBrains Mono" pitchFamily="49" charset="-122"/>
                <a:cs typeface="JetBrains Mono" pitchFamily="49" charset="-120"/>
              </a:rPr>
              <a:t># target: mpg = miles per gallon, higher = better</a:t>
            </a:r>
          </a:p>
        </p:txBody>
      </p:sp>
      <p:sp>
        <p:nvSpPr>
          <p:cNvPr id="12" name="Shape 10"/>
          <p:cNvSpPr/>
          <p:nvPr/>
        </p:nvSpPr>
        <p:spPr>
          <a:xfrm>
            <a:off x="7826375" y="1831876"/>
            <a:ext cx="3549650" cy="993775"/>
          </a:xfrm>
          <a:prstGeom prst="roundRect">
            <a:avLst>
              <a:gd name="adj" fmla="val 12460"/>
            </a:avLst>
          </a:prstGeom>
          <a:solidFill>
            <a:srgbClr val="171B23"/>
          </a:solidFill>
          <a:ln w="6350">
            <a:solidFill>
              <a:srgbClr val="2A2F3A"/>
            </a:solidFill>
            <a:prstDash val="solid"/>
          </a:ln>
        </p:spPr>
        <p:txBody>
          <a:bodyPr/>
          <a:p/>
        </p:txBody>
      </p:sp>
      <p:sp>
        <p:nvSpPr>
          <p:cNvPr id="13" name="Text 11"/>
          <p:cNvSpPr/>
          <p:nvPr/>
        </p:nvSpPr>
        <p:spPr>
          <a:xfrm>
            <a:off x="8007350" y="2095103"/>
            <a:ext cx="328333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CEAE4"/>
                </a:solidFill>
                <a:latin typeface="JetBrains Mono" pitchFamily="49" charset="0"/>
                <a:ea typeface="JetBrains Mono" pitchFamily="49" charset="-122"/>
                <a:cs typeface="JetBrains Mono" pitchFamily="49" charset="-120"/>
              </a:rPr>
              <a:t>398 cars</a:t>
            </a:r>
            <a:endParaRPr lang="en-US" sz="1500" dirty="0"/>
          </a:p>
        </p:txBody>
      </p:sp>
      <p:sp>
        <p:nvSpPr>
          <p:cNvPr id="14" name="Text 12"/>
          <p:cNvSpPr/>
          <p:nvPr/>
        </p:nvSpPr>
        <p:spPr>
          <a:xfrm>
            <a:off x="8007350" y="2349103"/>
            <a:ext cx="3283331" cy="5486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8B4"/>
                </a:solidFill>
                <a:latin typeface="IBM Plex Sans" pitchFamily="34" charset="0"/>
                <a:ea typeface="IBM Plex Sans" pitchFamily="34" charset="-122"/>
                <a:cs typeface="IBM Plex Sans" pitchFamily="34" charset="-120"/>
              </a:rPr>
              <a:t>Built 1970–1982 in the USA, Europe and Japan.</a:t>
            </a:r>
            <a:endParaRPr lang="en-US" sz="1200" dirty="0"/>
          </a:p>
        </p:txBody>
      </p:sp>
      <p:sp>
        <p:nvSpPr>
          <p:cNvPr id="15" name="Shape 13"/>
          <p:cNvSpPr/>
          <p:nvPr/>
        </p:nvSpPr>
        <p:spPr>
          <a:xfrm>
            <a:off x="7826375" y="2908201"/>
            <a:ext cx="3549650" cy="993874"/>
          </a:xfrm>
          <a:prstGeom prst="roundRect">
            <a:avLst>
              <a:gd name="adj" fmla="val 12459"/>
            </a:avLst>
          </a:prstGeom>
          <a:solidFill>
            <a:srgbClr val="171B23"/>
          </a:solidFill>
          <a:ln w="6350">
            <a:solidFill>
              <a:srgbClr val="2A2F3A"/>
            </a:solidFill>
            <a:prstDash val="solid"/>
          </a:ln>
        </p:spPr>
        <p:txBody>
          <a:bodyPr/>
          <a:p/>
        </p:txBody>
      </p:sp>
      <p:sp>
        <p:nvSpPr>
          <p:cNvPr id="16" name="Text 14"/>
          <p:cNvSpPr/>
          <p:nvPr/>
        </p:nvSpPr>
        <p:spPr>
          <a:xfrm>
            <a:off x="8007350" y="3171428"/>
            <a:ext cx="328333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CEAE4"/>
                </a:solidFill>
                <a:latin typeface="JetBrains Mono" pitchFamily="49" charset="0"/>
                <a:ea typeface="JetBrains Mono" pitchFamily="49" charset="-122"/>
                <a:cs typeface="JetBrains Mono" pitchFamily="49" charset="-120"/>
              </a:rPr>
              <a:t>7 features</a:t>
            </a:r>
            <a:endParaRPr lang="en-US" sz="1500" dirty="0"/>
          </a:p>
        </p:txBody>
      </p:sp>
      <p:sp>
        <p:nvSpPr>
          <p:cNvPr id="17" name="Text 15"/>
          <p:cNvSpPr/>
          <p:nvPr/>
        </p:nvSpPr>
        <p:spPr>
          <a:xfrm>
            <a:off x="8007350" y="3425428"/>
            <a:ext cx="3283331" cy="5486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8B4"/>
                </a:solidFill>
                <a:latin typeface="IBM Plex Sans" pitchFamily="34" charset="0"/>
                <a:ea typeface="IBM Plex Sans" pitchFamily="34" charset="-122"/>
                <a:cs typeface="IBM Plex Sans" pitchFamily="34" charset="-120"/>
              </a:rPr>
              <a:t>Cylinders, displacement, horsepower, weight, acceleration, year, origin.</a:t>
            </a:r>
            <a:endParaRPr lang="en-US" sz="1200" dirty="0"/>
          </a:p>
        </p:txBody>
      </p:sp>
      <p:sp>
        <p:nvSpPr>
          <p:cNvPr id="18" name="Shape 16"/>
          <p:cNvSpPr/>
          <p:nvPr/>
        </p:nvSpPr>
        <p:spPr>
          <a:xfrm>
            <a:off x="7826375" y="3984625"/>
            <a:ext cx="3549650" cy="993775"/>
          </a:xfrm>
          <a:prstGeom prst="roundRect">
            <a:avLst>
              <a:gd name="adj" fmla="val 12460"/>
            </a:avLst>
          </a:prstGeom>
          <a:solidFill>
            <a:srgbClr val="171B23"/>
          </a:solidFill>
          <a:ln w="6350">
            <a:solidFill>
              <a:srgbClr val="2A2F3A"/>
            </a:solidFill>
            <a:prstDash val="solid"/>
          </a:ln>
        </p:spPr>
        <p:txBody>
          <a:bodyPr/>
          <a:p/>
        </p:txBody>
      </p:sp>
      <p:sp>
        <p:nvSpPr>
          <p:cNvPr id="19" name="Text 17"/>
          <p:cNvSpPr/>
          <p:nvPr/>
        </p:nvSpPr>
        <p:spPr>
          <a:xfrm>
            <a:off x="8007350" y="4247852"/>
            <a:ext cx="328333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CEAE4"/>
                </a:solidFill>
                <a:latin typeface="JetBrains Mono" pitchFamily="49" charset="0"/>
                <a:ea typeface="JetBrains Mono" pitchFamily="49" charset="-122"/>
                <a:cs typeface="JetBrains Mono" pitchFamily="49" charset="-120"/>
              </a:rPr>
              <a:t>1 target</a:t>
            </a:r>
            <a:endParaRPr lang="en-US" sz="1500" dirty="0"/>
          </a:p>
        </p:txBody>
      </p:sp>
      <p:sp>
        <p:nvSpPr>
          <p:cNvPr id="20" name="Text 18"/>
          <p:cNvSpPr/>
          <p:nvPr/>
        </p:nvSpPr>
        <p:spPr>
          <a:xfrm>
            <a:off x="8007350" y="4501852"/>
            <a:ext cx="3283331" cy="5486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8B4"/>
                </a:solidFill>
                <a:latin typeface="IBM Plex Sans" pitchFamily="34" charset="0"/>
                <a:ea typeface="IBM Plex Sans" pitchFamily="34" charset="-122"/>
                <a:cs typeface="IBM Plex Sans" pitchFamily="34" charset="-120"/>
              </a:rPr>
              <a:t>mpg: fuel efficiency. A regression problem.</a:t>
            </a:r>
            <a:endParaRPr lang="en-US" sz="1200" dirty="0"/>
          </a:p>
        </p:txBody>
      </p:sp>
      <p:sp>
        <p:nvSpPr>
          <p:cNvPr id="21" name="Shape 19"/>
          <p:cNvSpPr/>
          <p:nvPr/>
        </p:nvSpPr>
        <p:spPr>
          <a:xfrm>
            <a:off x="7823200" y="5057775"/>
            <a:ext cx="3556000" cy="987425"/>
          </a:xfrm>
          <a:prstGeom prst="roundRect">
            <a:avLst>
              <a:gd name="adj" fmla="val 12862"/>
            </a:avLst>
          </a:prstGeom>
          <a:solidFill>
            <a:srgbClr val="FF7A45"/>
          </a:solidFill>
          <a:ln/>
        </p:spPr>
        <p:txBody>
          <a:bodyPr/>
          <a:p/>
        </p:txBody>
      </p:sp>
      <p:sp>
        <p:nvSpPr>
          <p:cNvPr id="22" name="Text 20"/>
          <p:cNvSpPr/>
          <p:nvPr/>
        </p:nvSpPr>
        <p:spPr>
          <a:xfrm>
            <a:off x="8001000" y="5211167"/>
            <a:ext cx="329641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115"/>
                </a:solidFill>
                <a:latin typeface="JetBrains Mono" pitchFamily="49" charset="0"/>
                <a:ea typeface="JetBrains Mono" pitchFamily="49" charset="-122"/>
                <a:cs typeface="JetBrains Mono" pitchFamily="49" charset="-120"/>
              </a:rPr>
              <a:t>Why this one?</a:t>
            </a:r>
            <a:endParaRPr lang="en-US" sz="1500" dirty="0"/>
          </a:p>
        </p:txBody>
      </p:sp>
      <p:sp>
        <p:nvSpPr>
          <p:cNvPr id="23" name="Text 21"/>
          <p:cNvSpPr/>
          <p:nvPr/>
        </p:nvSpPr>
        <p:spPr>
          <a:xfrm>
            <a:off x="8001000" y="5465167"/>
            <a:ext cx="329641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F1115"/>
                </a:solidFill>
                <a:latin typeface="IBM Plex Sans" pitchFamily="34" charset="0"/>
                <a:ea typeface="IBM Plex Sans" pitchFamily="34" charset="-122"/>
                <a:cs typeface="IBM Plex Sans" pitchFamily="34" charset="-120"/>
              </a:rPr>
              <a:t>Small, real, and dirty in all the right places.</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18">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594350" y="254000"/>
            <a:ext cx="5886450" cy="2565400"/>
          </a:xfrm>
          <a:prstGeom prst="rect">
            <a:avLst/>
          </a:prstGeom>
          <a:noFill/>
          <a:ln/>
        </p:spPr>
        <p:txBody>
          <a:bodyPr wrap="square" lIns="0" tIns="0" rIns="0" bIns="0" rtlCol="0" anchor="t">
            <a:normAutofit/>
          </a:bodyPr>
          <a:lstStyle/>
          <a:p>
            <a:pPr algn="r" indent="0" marL="0">
              <a:lnSpc>
                <a:spcPts val="20000"/>
              </a:lnSpc>
              <a:buNone/>
            </a:pPr>
            <a:r>
              <a:rPr lang="en-US" sz="20000" b="1" spc="-600" kern="0" dirty="0">
                <a:solidFill>
                  <a:srgbClr val="000000">
                    <a:alpha val="0"/>
                  </a:srgbClr>
                </a:solidFill>
                <a:latin typeface="Space Grotesk" pitchFamily="34" charset="0"/>
                <a:ea typeface="Space Grotesk" pitchFamily="34" charset="-122"/>
                <a:cs typeface="Space Grotesk" pitchFamily="34" charset="-120"/>
              </a:rPr>
              <a:t>A</a:t>
            </a:r>
            <a:endParaRPr lang="en-US" sz="20000" dirty="0"/>
          </a:p>
        </p:txBody>
      </p:sp>
      <p:sp>
        <p:nvSpPr>
          <p:cNvPr id="3" name="Text 1"/>
          <p:cNvSpPr/>
          <p:nvPr/>
        </p:nvSpPr>
        <p:spPr>
          <a:xfrm>
            <a:off x="812800" y="453707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F7A45"/>
                </a:solidFill>
                <a:latin typeface="JetBrains Mono" pitchFamily="49" charset="0"/>
                <a:ea typeface="JetBrains Mono" pitchFamily="49" charset="-122"/>
                <a:cs typeface="JetBrains Mono" pitchFamily="49" charset="-120"/>
              </a:rPr>
              <a:t>PART A · DATA ANALYST</a:t>
            </a:r>
            <a:endParaRPr lang="en-US" sz="1200" dirty="0"/>
          </a:p>
        </p:txBody>
      </p:sp>
      <p:sp>
        <p:nvSpPr>
          <p:cNvPr id="4" name="Text 2"/>
          <p:cNvSpPr/>
          <p:nvPr>
            <p:ph type="title"/>
          </p:nvPr>
        </p:nvSpPr>
        <p:spPr>
          <a:xfrm>
            <a:off x="812800" y="4953595"/>
            <a:ext cx="10881360" cy="647105"/>
          </a:xfrm>
          <a:prstGeom prst="rect">
            <a:avLst/>
          </a:prstGeom>
          <a:noFill/>
          <a:ln/>
        </p:spPr>
        <p:txBody>
          <a:bodyPr wrap="square" lIns="0" tIns="0" rIns="0" bIns="0" rtlCol="0" anchor="t">
            <a:normAutofit/>
          </a:bodyPr>
          <a:lstStyle/>
          <a:p>
            <a:pPr algn="l" indent="0" marL="0">
              <a:lnSpc>
                <a:spcPts val="4896"/>
              </a:lnSpc>
              <a:buNone/>
            </a:pPr>
            <a:r>
              <a:rPr lang="en-US" sz="4800" b="1" i="0" spc="-100" kern="0" dirty="0">
                <a:solidFill>
                  <a:srgbClr val="ECEAE4"/>
                </a:solidFill>
                <a:latin typeface="Space Grotesk" pitchFamily="34" charset="0"/>
                <a:ea typeface="Space Grotesk" pitchFamily="34" charset="-122"/>
                <a:cs typeface="Space Grotesk" pitchFamily="34" charset="-120"/>
              </a:rPr>
              <a:t>Clean it, then look at it</a:t>
            </a:r>
            <a:endParaRPr lang="en-US" sz="4800" dirty="0"/>
          </a:p>
        </p:txBody>
      </p:sp>
      <p:sp>
        <p:nvSpPr>
          <p:cNvPr id="5" name="Text 3"/>
          <p:cNvSpPr/>
          <p:nvPr/>
        </p:nvSpPr>
        <p:spPr>
          <a:xfrm>
            <a:off x="812800" y="5778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3A8B4"/>
                </a:solidFill>
                <a:latin typeface="IBM Plex Sans" pitchFamily="34" charset="0"/>
                <a:ea typeface="IBM Plex Sans" pitchFamily="34" charset="-122"/>
                <a:cs typeface="IBM Plex Sans" pitchFamily="34" charset="-120"/>
              </a:rPr>
              <a:t>Answer questions about the past, with data.</a:t>
            </a:r>
            <a:endParaRPr lang="en-US" sz="15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20">
    <p:bg>
      <p:bgPr>
        <a:solidFill>
          <a:srgbClr val="F2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2410C"/>
                </a:solidFill>
                <a:latin typeface="JetBrains Mono" pitchFamily="49" charset="0"/>
                <a:ea typeface="JetBrains Mono" pitchFamily="49" charset="-122"/>
                <a:cs typeface="JetBrains Mono" pitchFamily="49" charset="-120"/>
              </a:rPr>
              <a:t>02 · DATA QUALITY</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181D"/>
                </a:solidFill>
                <a:latin typeface="Space Grotesk" pitchFamily="34" charset="0"/>
                <a:ea typeface="Space Grotesk" pitchFamily="34" charset="-122"/>
                <a:cs typeface="Space Grotesk" pitchFamily="34" charset="-120"/>
              </a:rPr>
              <a:t>Four checks, one decision each</a:t>
            </a:r>
            <a:endParaRPr lang="en-US" sz="3200" dirty="0"/>
          </a:p>
        </p:txBody>
      </p:sp>
      <p:sp>
        <p:nvSpPr>
          <p:cNvPr id="4" name="Shape 2"/>
          <p:cNvSpPr/>
          <p:nvPr/>
        </p:nvSpPr>
        <p:spPr>
          <a:xfrm>
            <a:off x="812800" y="1879501"/>
            <a:ext cx="10566400" cy="2596753"/>
          </a:xfrm>
          <a:prstGeom prst="roundRect">
            <a:avLst>
              <a:gd name="adj" fmla="val 4891"/>
            </a:avLst>
          </a:prstGeom>
          <a:solidFill>
            <a:srgbClr val="FBFAF6"/>
          </a:solidFill>
          <a:ln/>
        </p:spPr>
        <p:txBody>
          <a:bodyPr/>
          <a:p/>
        </p:txBody>
      </p:sp>
      <p:sp>
        <p:nvSpPr>
          <p:cNvPr id="5" name="Shape 3"/>
          <p:cNvSpPr/>
          <p:nvPr/>
        </p:nvSpPr>
        <p:spPr>
          <a:xfrm>
            <a:off x="812800" y="1879501"/>
            <a:ext cx="10566400" cy="2596753"/>
          </a:xfrm>
          <a:custGeom>
            <a:avLst/>
            <a:gdLst/>
            <a:ahLst/>
            <a:cxnLst/>
            <a:rect l="l" t="t" r="r" b="b"/>
            <a:pathLst>
              <a:path w="10566400" h="2596753">
                <a:moveTo>
                  <a:pt x="10439400" y="0"/>
                </a:moveTo>
                <a:lnTo>
                  <a:pt x="10439400" y="0"/>
                </a:lnTo>
                <a:arcTo hR="127000" wR="127000" stAng="16200000" swAng="5400000"/>
                <a:lnTo>
                  <a:pt x="10566400" y="2469753"/>
                </a:lnTo>
                <a:arcTo hR="127000" wR="127000" stAng="0" swAng="5400000"/>
                <a:lnTo>
                  <a:pt x="127000" y="2596753"/>
                </a:lnTo>
                <a:arcTo hR="127000" wR="127000" stAng="5400000" swAng="5400000"/>
                <a:lnTo>
                  <a:pt x="0" y="2469753"/>
                </a:lnTo>
                <a:arcTo hR="120650" wR="127000" stAng="10800000" swAng="-5400000"/>
                <a:lnTo>
                  <a:pt x="10439400" y="2590403"/>
                </a:lnTo>
                <a:arcTo hR="120650" wR="120650" stAng="5400000" swAng="-5400000"/>
                <a:lnTo>
                  <a:pt x="10560050" y="127000"/>
                </a:lnTo>
                <a:arcTo hR="127000" wR="120650" stAng="0" swAng="-5400000"/>
                <a:close/>
              </a:path>
            </a:pathLst>
          </a:custGeom>
          <a:solidFill>
            <a:srgbClr val="E0DACB"/>
          </a:solidFill>
          <a:ln/>
        </p:spPr>
        <p:txBody>
          <a:bodyPr/>
          <a:p/>
        </p:txBody>
      </p:sp>
      <p:sp>
        <p:nvSpPr>
          <p:cNvPr id="6" name="Shape 4"/>
          <p:cNvSpPr/>
          <p:nvPr/>
        </p:nvSpPr>
        <p:spPr>
          <a:xfrm>
            <a:off x="812800" y="1879501"/>
            <a:ext cx="10566400" cy="2596753"/>
          </a:xfrm>
          <a:custGeom>
            <a:avLst/>
            <a:gdLst/>
            <a:ahLst/>
            <a:cxnLst/>
            <a:rect l="l" t="t" r="r" b="b"/>
            <a:pathLst>
              <a:path w="10566400" h="2596753">
                <a:moveTo>
                  <a:pt x="127000" y="2596753"/>
                </a:moveTo>
                <a:lnTo>
                  <a:pt x="127000" y="2596753"/>
                </a:lnTo>
                <a:arcTo hR="127000" wR="127000" stAng="5400000" swAng="5400000"/>
                <a:lnTo>
                  <a:pt x="0" y="127000"/>
                </a:lnTo>
                <a:arcTo hR="127000" wR="127000" stAng="10800000" swAng="5400000"/>
                <a:lnTo>
                  <a:pt x="10439400" y="0"/>
                </a:lnTo>
                <a:arcTo hR="127000" wR="127000" stAng="16200000" swAng="5400000"/>
                <a:lnTo>
                  <a:pt x="10566400" y="127000"/>
                </a:lnTo>
                <a:arcTo hR="114300" wR="127000" stAng="0" swAng="-5400000"/>
                <a:lnTo>
                  <a:pt x="127000" y="12700"/>
                </a:lnTo>
                <a:arcTo hR="114300" wR="114300" stAng="16200000" swAng="-5400000"/>
                <a:lnTo>
                  <a:pt x="12700" y="2469753"/>
                </a:lnTo>
                <a:arcTo hR="127000" wR="114300" stAng="10800000" swAng="-5400000"/>
                <a:close/>
              </a:path>
            </a:pathLst>
          </a:custGeom>
          <a:solidFill>
            <a:srgbClr val="141413">
              <a:alpha val="22000"/>
            </a:srgbClr>
          </a:solidFill>
          <a:ln/>
        </p:spPr>
        <p:txBody>
          <a:bodyPr/>
          <a:p/>
        </p:txBody>
      </p:sp>
      <p:sp>
        <p:nvSpPr>
          <p:cNvPr id="7" name="Shape 5"/>
          <p:cNvSpPr/>
          <p:nvPr/>
        </p:nvSpPr>
        <p:spPr>
          <a:xfrm>
            <a:off x="825500" y="1892201"/>
            <a:ext cx="10547350" cy="515541"/>
          </a:xfrm>
          <a:custGeom>
            <a:avLst/>
            <a:gdLst/>
            <a:ahLst/>
            <a:cxnLst/>
            <a:rect l="l" t="t" r="r" b="b"/>
            <a:pathLst>
              <a:path w="10547350" h="515541">
                <a:moveTo>
                  <a:pt x="0" y="114300"/>
                </a:moveTo>
                <a:arcTo hR="114300" wR="114300" stAng="10800000" swAng="5400000"/>
                <a:lnTo>
                  <a:pt x="10426700" y="0"/>
                </a:lnTo>
                <a:arcTo hR="120650" wR="120650" stAng="16200000" swAng="5400000"/>
                <a:lnTo>
                  <a:pt x="10547350" y="515541"/>
                </a:lnTo>
                <a:lnTo>
                  <a:pt x="0" y="515541"/>
                </a:lnTo>
                <a:close/>
              </a:path>
            </a:pathLst>
          </a:custGeom>
          <a:solidFill>
            <a:srgbClr val="E9E8E4"/>
          </a:solidFill>
          <a:ln/>
        </p:spPr>
        <p:txBody>
          <a:bodyPr/>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47350" cy="2577703"/>
        </p:xfrm>
        <a:graphic>
          <a:graphicData uri="http://schemas.openxmlformats.org/drawingml/2006/table">
            <a:tbl>
              <a:tblPr/>
              <a:tblGrid>
                <a:gridCol w="2320417"/>
                <a:gridCol w="2742311"/>
                <a:gridCol w="2742311"/>
                <a:gridCol w="2742311"/>
              </a:tblGrid>
              <a:tr h="515541">
                <a:tc>
                  <a:txBody>
                    <a:bodyPr/>
                    <a:lstStyle/>
                    <a:p>
                      <a:pPr indent="0" marL="0">
                        <a:lnSpc>
                          <a:spcPts val="1960"/>
                        </a:lnSpc>
                        <a:buNone/>
                      </a:pPr>
                      <a:r>
                        <a:rPr lang="en-US" sz="1400" dirty="0">
                          <a:solidFill>
                            <a:srgbClr val="8A909C"/>
                          </a:solidFill>
                          <a:latin typeface="IBM Plex Sans" charset="0"/>
                          <a:ea typeface="IBM Plex Sans" charset="0"/>
                          <a:cs typeface="IBM Plex Sans" charset="0"/>
                        </a:rPr>
                        <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BAB9B6"/>
                      </a:solidFill>
                      <a:prstDash val="solid"/>
                      <a:round/>
                      <a:headEnd type="none" w="med" len="med"/>
                      <a:tailEnd type="none" w="med" len="med"/>
                    </a:lnR>
                    <a:lnT w="0" cap="flat" cmpd="sng" algn="ctr">
                      <a:noFill/>
                    </a:lnT>
                    <a:lnB w="12700" cap="flat" cmpd="sng" algn="ctr">
                      <a:solidFill>
                        <a:srgbClr val="BAB9B6"/>
                      </a:solidFill>
                      <a:prstDash val="solid"/>
                      <a:round/>
                      <a:headEnd type="none" w="med" len="med"/>
                      <a:tailEnd type="none" w="med" len="med"/>
                    </a:lnB>
                  </a:tcPr>
                </a:tc>
                <a:tc>
                  <a:txBody>
                    <a:bodyPr/>
                    <a:lstStyle/>
                    <a:p>
                      <a:pPr indent="0" marL="0">
                        <a:lnSpc>
                          <a:spcPts val="1960"/>
                        </a:lnSpc>
                        <a:buNone/>
                      </a:pPr>
                      <a:r>
                        <a:rPr lang="en-US" sz="1400" b="1" dirty="0">
                          <a:solidFill>
                            <a:srgbClr val="C2410C"/>
                          </a:solidFill>
                          <a:latin typeface="IBM Plex Sans" pitchFamily="34" charset="0"/>
                          <a:ea typeface="IBM Plex Sans" pitchFamily="34" charset="-122"/>
                          <a:cs typeface="IBM Plex Sans" pitchFamily="34" charset="-120"/>
                        </a:rPr>
                        <a:t>What we found</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0" cap="flat" cmpd="sng" algn="ctr">
                      <a:noFill/>
                    </a:lnT>
                    <a:lnB w="12700" cap="flat" cmpd="sng" algn="ctr">
                      <a:solidFill>
                        <a:srgbClr val="BAB9B6"/>
                      </a:solidFill>
                      <a:prstDash val="solid"/>
                      <a:round/>
                      <a:headEnd type="none" w="med" len="med"/>
                      <a:tailEnd type="none" w="med" len="med"/>
                    </a:lnB>
                  </a:tcPr>
                </a:tc>
                <a:tc>
                  <a:txBody>
                    <a:bodyPr/>
                    <a:lstStyle/>
                    <a:p>
                      <a:pPr indent="0" marL="0">
                        <a:lnSpc>
                          <a:spcPts val="1960"/>
                        </a:lnSpc>
                        <a:buNone/>
                      </a:pPr>
                      <a:r>
                        <a:rPr lang="en-US" sz="1400" b="1" dirty="0">
                          <a:solidFill>
                            <a:srgbClr val="1D5FD6"/>
                          </a:solidFill>
                          <a:latin typeface="IBM Plex Sans" pitchFamily="34" charset="0"/>
                          <a:ea typeface="IBM Plex Sans" pitchFamily="34" charset="-122"/>
                          <a:cs typeface="IBM Plex Sans" pitchFamily="34" charset="-120"/>
                        </a:rPr>
                        <a:t>Options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0" cap="flat" cmpd="sng" algn="ctr">
                      <a:noFill/>
                    </a:lnT>
                    <a:lnB w="12700" cap="flat" cmpd="sng" algn="ctr">
                      <a:solidFill>
                        <a:srgbClr val="BAB9B6"/>
                      </a:solidFill>
                      <a:prstDash val="solid"/>
                      <a:round/>
                      <a:headEnd type="none" w="med" len="med"/>
                      <a:tailEnd type="none" w="med" len="med"/>
                    </a:lnB>
                  </a:tcPr>
                </a:tc>
                <a:tc>
                  <a:txBody>
                    <a:bodyPr/>
                    <a:lstStyle/>
                    <a:p>
                      <a:pPr indent="0" marL="0">
                        <a:lnSpc>
                          <a:spcPts val="1960"/>
                        </a:lnSpc>
                        <a:buNone/>
                      </a:pPr>
                      <a:r>
                        <a:rPr lang="en-US" sz="1400" b="1" dirty="0">
                          <a:solidFill>
                            <a:srgbClr val="2F855A"/>
                          </a:solidFill>
                          <a:latin typeface="IBM Plex Sans" pitchFamily="34" charset="0"/>
                          <a:ea typeface="IBM Plex Sans" pitchFamily="34" charset="-122"/>
                          <a:cs typeface="IBM Plex Sans" pitchFamily="34" charset="-120"/>
                        </a:rPr>
                        <a:t>Our decision</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0" cap="flat" cmpd="sng" algn="ctr">
                      <a:noFill/>
                    </a:lnT>
                    <a:lnB w="12700" cap="flat" cmpd="sng" algn="ctr">
                      <a:solidFill>
                        <a:srgbClr val="BAB9B6"/>
                      </a:solidFill>
                      <a:prstDash val="solid"/>
                      <a:round/>
                      <a:headEnd type="none" w="med" len="med"/>
                      <a:tailEnd type="none" w="med" len="med"/>
                    </a:lnB>
                  </a:tcPr>
                </a:tc>
              </a:tr>
              <a:tr h="515541">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Wrong types</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all fine</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convert with astype()</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nothing to do</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515541">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Duplicates</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none</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drop them</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nothing to do</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515541">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Outliers</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10 cars above 205 hp</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drop, cap, keep</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keep: real cars, no typos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515541">
                <a:tc>
                  <a:txBody>
                    <a:bodyPr/>
                    <a:lstStyle/>
                    <a:p>
                      <a:pPr indent="0" marL="0">
                        <a:lnSpc>
                          <a:spcPts val="1960"/>
                        </a:lnSpc>
                        <a:buNone/>
                      </a:pPr>
                      <a:r>
                        <a:rPr lang="en-US" sz="1400" dirty="0">
                          <a:solidFill>
                            <a:srgbClr val="FF7A45"/>
                          </a:solidFill>
                          <a:latin typeface="IBM Plex Sans" pitchFamily="34" charset="0"/>
                          <a:ea typeface="IBM Plex Sans" pitchFamily="34" charset="-122"/>
                          <a:cs typeface="IBM Plex Sans" pitchFamily="34" charset="-120"/>
                        </a:rPr>
                        <a:t>Missing values</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16171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71B"/>
                      </a:solidFill>
                      <a:prstDash val="solid"/>
                      <a:round/>
                      <a:headEnd type="none" w="med" len="med"/>
                      <a:tailEnd type="none" w="med" len="med"/>
                    </a:lnB>
                    <a:solidFill>
                      <a:srgbClr val="16181D"/>
                    </a:solidFill>
                  </a:tcPr>
                </a:tc>
                <a:tc>
                  <a:txBody>
                    <a:bodyPr/>
                    <a:lstStyle/>
                    <a:p>
                      <a:pPr indent="0" marL="0">
                        <a:lnSpc>
                          <a:spcPts val="1960"/>
                        </a:lnSpc>
                        <a:buNone/>
                      </a:pPr>
                      <a:r>
                        <a:rPr lang="en-US" sz="1400" dirty="0">
                          <a:solidFill>
                            <a:srgbClr val="ECEAE4"/>
                          </a:solidFill>
                          <a:latin typeface="IBM Plex Sans" pitchFamily="34" charset="0"/>
                          <a:ea typeface="IBM Plex Sans" pitchFamily="34" charset="-122"/>
                          <a:cs typeface="IBM Plex Sans" pitchFamily="34" charset="-120"/>
                        </a:rPr>
                        <a:t>6 × horsepower</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16171B"/>
                      </a:solidFill>
                      <a:prstDash val="solid"/>
                      <a:round/>
                      <a:headEnd type="none" w="med" len="med"/>
                      <a:tailEnd type="none" w="med" len="med"/>
                    </a:lnL>
                    <a:lnR w="12700" cap="flat" cmpd="sng" algn="ctr">
                      <a:solidFill>
                        <a:srgbClr val="16171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71B"/>
                      </a:solidFill>
                      <a:prstDash val="solid"/>
                      <a:round/>
                      <a:headEnd type="none" w="med" len="med"/>
                      <a:tailEnd type="none" w="med" len="med"/>
                    </a:lnB>
                    <a:solidFill>
                      <a:srgbClr val="16181D"/>
                    </a:solidFill>
                  </a:tcPr>
                </a:tc>
                <a:tc>
                  <a:txBody>
                    <a:bodyPr/>
                    <a:lstStyle/>
                    <a:p>
                      <a:pPr indent="0" marL="0">
                        <a:lnSpc>
                          <a:spcPts val="1960"/>
                        </a:lnSpc>
                        <a:buNone/>
                      </a:pPr>
                      <a:r>
                        <a:rPr lang="en-US" sz="1400" dirty="0">
                          <a:solidFill>
                            <a:srgbClr val="ECEAE4"/>
                          </a:solidFill>
                          <a:latin typeface="IBM Plex Sans" pitchFamily="34" charset="0"/>
                          <a:ea typeface="IBM Plex Sans" pitchFamily="34" charset="-122"/>
                          <a:cs typeface="IBM Plex Sans" pitchFamily="34" charset="-120"/>
                        </a:rPr>
                        <a:t>drop rows, fill with median</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16171B"/>
                      </a:solidFill>
                      <a:prstDash val="solid"/>
                      <a:round/>
                      <a:headEnd type="none" w="med" len="med"/>
                      <a:tailEnd type="none" w="med" len="med"/>
                    </a:lnL>
                    <a:lnR w="12700" cap="flat" cmpd="sng" algn="ctr">
                      <a:solidFill>
                        <a:srgbClr val="16171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71B"/>
                      </a:solidFill>
                      <a:prstDash val="solid"/>
                      <a:round/>
                      <a:headEnd type="none" w="med" len="med"/>
                      <a:tailEnd type="none" w="med" len="med"/>
                    </a:lnB>
                    <a:solidFill>
                      <a:srgbClr val="16181D"/>
                    </a:solidFill>
                  </a:tcPr>
                </a:tc>
                <a:tc>
                  <a:txBody>
                    <a:bodyPr/>
                    <a:lstStyle/>
                    <a:p>
                      <a:pPr indent="0" marL="0">
                        <a:lnSpc>
                          <a:spcPts val="1960"/>
                        </a:lnSpc>
                        <a:buNone/>
                      </a:pPr>
                      <a:r>
                        <a:rPr lang="en-US" sz="1400" dirty="0">
                          <a:solidFill>
                            <a:srgbClr val="ECEAE4"/>
                          </a:solidFill>
                          <a:latin typeface="IBM Plex Sans" pitchFamily="34" charset="0"/>
                          <a:ea typeface="IBM Plex Sans" pitchFamily="34" charset="-122"/>
                          <a:cs typeface="IBM Plex Sans" pitchFamily="34" charset="-120"/>
                        </a:rPr>
                        <a:t>fill, later, inside the pipeline</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16171B"/>
                      </a:solidFill>
                      <a:prstDash val="solid"/>
                      <a:round/>
                      <a:headEnd type="none" w="med" len="med"/>
                      <a:tailEnd type="none" w="med" len="med"/>
                    </a:lnL>
                    <a:lnR w="12700" cap="flat" cmpd="sng" algn="ctr">
                      <a:solidFill>
                        <a:srgbClr val="16171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71B"/>
                      </a:solidFill>
                      <a:prstDash val="solid"/>
                      <a:round/>
                      <a:headEnd type="none" w="med" len="med"/>
                      <a:tailEnd type="none" w="med" len="med"/>
                    </a:lnB>
                    <a:solidFill>
                      <a:srgbClr val="16181D"/>
                    </a:solidFill>
                  </a:tcPr>
                </a:tc>
              </a:tr>
            </a:tbl>
          </a:graphicData>
        </a:graphic>
      </p:graphicFrame>
      <p:pic>
        <p:nvPicPr>
          <p:cNvPr id="9" name="Image 0" descr="Lightbulb">    </p:cNvPr>
          <p:cNvPicPr>
            <a:picLocks noChangeAspect="1"/>
          </p:cNvPicPr>
          <p:nvPr/>
        </p:nvPicPr>
        <p:blipFill>
          <a:blip r:embed="rId1"/>
          <a:srcRect l="0" r="0" t="0" b="0"/>
          <a:stretch/>
        </p:blipFill>
        <p:spPr>
          <a:xfrm>
            <a:off x="812800" y="4781054"/>
            <a:ext cx="279400" cy="279400"/>
          </a:xfrm>
          <a:prstGeom prst="rect">
            <a:avLst/>
          </a:prstGeom>
        </p:spPr>
      </p:pic>
      <p:sp>
        <p:nvSpPr>
          <p:cNvPr id="10" name="Text 6"/>
          <p:cNvSpPr/>
          <p:nvPr/>
        </p:nvSpPr>
        <p:spPr>
          <a:xfrm>
            <a:off x="1219200" y="4787404"/>
            <a:ext cx="878609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181D"/>
                </a:solidFill>
                <a:latin typeface="IBM Plex Sans" pitchFamily="34" charset="0"/>
                <a:ea typeface="IBM Plex Sans" pitchFamily="34" charset="-122"/>
                <a:cs typeface="IBM Plex Sans" pitchFamily="34" charset="-120"/>
              </a:rPr>
              <a:t>Rule: never delete or fill without asking why the value is odd.</a:t>
            </a:r>
            <a:endParaRPr lang="en-US" sz="15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17">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F7A45"/>
                </a:solidFill>
                <a:latin typeface="JetBrains Mono" pitchFamily="49" charset="0"/>
                <a:ea typeface="JetBrains Mono" pitchFamily="49" charset="-122"/>
                <a:cs typeface="JetBrains Mono" pitchFamily="49" charset="-120"/>
              </a:rPr>
              <a:t>02 · EXPLORE · AS AN ANALYST</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ECEAE4"/>
                </a:solidFill>
                <a:latin typeface="Space Grotesk" pitchFamily="34" charset="0"/>
                <a:ea typeface="Space Grotesk" pitchFamily="34" charset="-122"/>
                <a:cs typeface="Space Grotesk" pitchFamily="34" charset="-120"/>
              </a:rPr>
              <a:t>Answer questions with data</a:t>
            </a:r>
            <a:endParaRPr lang="en-US" sz="3200" dirty="0"/>
          </a:p>
        </p:txBody>
      </p:sp>
      <p:sp>
        <p:nvSpPr>
          <p:cNvPr id="4" name="Shape 2"/>
          <p:cNvSpPr/>
          <p:nvPr/>
        </p:nvSpPr>
        <p:spPr>
          <a:xfrm>
            <a:off x="815975" y="1831876"/>
            <a:ext cx="6750050" cy="4210149"/>
          </a:xfrm>
          <a:prstGeom prst="roundRect">
            <a:avLst>
              <a:gd name="adj" fmla="val 3544"/>
            </a:avLst>
          </a:prstGeom>
          <a:solidFill>
            <a:srgbClr val="171B23"/>
          </a:solidFill>
          <a:ln w="6350">
            <a:solidFill>
              <a:srgbClr val="2A2F3A"/>
            </a:solidFill>
            <a:prstDash val="solid"/>
          </a:ln>
        </p:spPr>
        <p:txBody>
          <a:bodyPr/>
          <a:p/>
        </p:txBody>
      </p:sp>
      <p:sp>
        <p:nvSpPr>
          <p:cNvPr id="5" name="Shape 3"/>
          <p:cNvSpPr/>
          <p:nvPr/>
        </p:nvSpPr>
        <p:spPr>
          <a:xfrm>
            <a:off x="819150" y="1835051"/>
            <a:ext cx="6743700" cy="422870"/>
          </a:xfrm>
          <a:custGeom>
            <a:avLst/>
            <a:gdLst/>
            <a:ahLst/>
            <a:cxnLst/>
            <a:rect l="l" t="t" r="r" b="b"/>
            <a:pathLst>
              <a:path w="6743700" h="422870">
                <a:moveTo>
                  <a:pt x="0" y="416520"/>
                </a:moveTo>
                <a:lnTo>
                  <a:pt x="6743700" y="416520"/>
                </a:lnTo>
                <a:lnTo>
                  <a:pt x="6743700" y="422870"/>
                </a:lnTo>
                <a:lnTo>
                  <a:pt x="0" y="422870"/>
                </a:lnTo>
                <a:lnTo>
                  <a:pt x="0" y="416520"/>
                </a:lnTo>
                <a:close/>
              </a:path>
            </a:pathLst>
          </a:custGeom>
          <a:solidFill>
            <a:srgbClr val="2A2F3A"/>
          </a:solidFill>
          <a:ln/>
        </p:spPr>
        <p:txBody>
          <a:bodyPr/>
          <a:p/>
        </p:txBody>
      </p:sp>
      <p:sp>
        <p:nvSpPr>
          <p:cNvPr id="6" name="Shape 4"/>
          <p:cNvSpPr/>
          <p:nvPr/>
        </p:nvSpPr>
        <p:spPr>
          <a:xfrm>
            <a:off x="996950" y="1998861"/>
            <a:ext cx="88900" cy="88900"/>
          </a:xfrm>
          <a:prstGeom prst="roundRect">
            <a:avLst>
              <a:gd name="adj" fmla="val 50000"/>
            </a:avLst>
          </a:prstGeom>
          <a:solidFill>
            <a:srgbClr val="3A404D"/>
          </a:solidFill>
          <a:ln/>
        </p:spPr>
        <p:txBody>
          <a:bodyPr/>
          <a:p/>
        </p:txBody>
      </p:sp>
      <p:sp>
        <p:nvSpPr>
          <p:cNvPr id="7" name="Shape 5"/>
          <p:cNvSpPr/>
          <p:nvPr/>
        </p:nvSpPr>
        <p:spPr>
          <a:xfrm>
            <a:off x="1162050" y="1998861"/>
            <a:ext cx="88900" cy="88900"/>
          </a:xfrm>
          <a:prstGeom prst="roundRect">
            <a:avLst>
              <a:gd name="adj" fmla="val 50000"/>
            </a:avLst>
          </a:prstGeom>
          <a:solidFill>
            <a:srgbClr val="3A404D"/>
          </a:solidFill>
          <a:ln/>
        </p:spPr>
        <p:txBody>
          <a:bodyPr/>
          <a:p/>
        </p:txBody>
      </p:sp>
      <p:sp>
        <p:nvSpPr>
          <p:cNvPr id="8" name="Shape 6"/>
          <p:cNvSpPr/>
          <p:nvPr/>
        </p:nvSpPr>
        <p:spPr>
          <a:xfrm>
            <a:off x="1327150" y="1998861"/>
            <a:ext cx="88900" cy="88900"/>
          </a:xfrm>
          <a:prstGeom prst="roundRect">
            <a:avLst>
              <a:gd name="adj" fmla="val 50000"/>
            </a:avLst>
          </a:prstGeom>
          <a:solidFill>
            <a:srgbClr val="3A404D"/>
          </a:solidFill>
          <a:ln/>
        </p:spPr>
        <p:txBody>
          <a:bodyPr/>
          <a:p/>
        </p:txBody>
      </p:sp>
      <p:sp>
        <p:nvSpPr>
          <p:cNvPr id="9" name="Text 7"/>
          <p:cNvSpPr/>
          <p:nvPr/>
        </p:nvSpPr>
        <p:spPr>
          <a:xfrm>
            <a:off x="1568450" y="1936651"/>
            <a:ext cx="6584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2A3"/>
                </a:solidFill>
                <a:latin typeface="JetBrains Mono" pitchFamily="49" charset="0"/>
                <a:ea typeface="JetBrains Mono" pitchFamily="49" charset="-122"/>
                <a:cs typeface="JetBrains Mono" pitchFamily="49" charset="-120"/>
              </a:rPr>
              <a:t>eda.py</a:t>
            </a:r>
            <a:endParaRPr lang="en-US" sz="1200" dirty="0"/>
          </a:p>
        </p:txBody>
      </p:sp>
      <p:sp>
        <p:nvSpPr>
          <p:cNvPr id="10" name="Text 8"/>
          <p:cNvSpPr/>
          <p:nvPr/>
        </p:nvSpPr>
        <p:spPr>
          <a:xfrm>
            <a:off x="6750050" y="1923951"/>
            <a:ext cx="635000" cy="238720"/>
          </a:xfrm>
          <a:custGeom>
            <a:avLst/>
            <a:gdLst/>
            <a:ahLst/>
            <a:cxnLst/>
            <a:rect l="l" t="t" r="r" b="b"/>
            <a:pathLst>
              <a:path w="635000" h="238720">
                <a:moveTo>
                  <a:pt x="119360" y="0"/>
                </a:moveTo>
                <a:lnTo>
                  <a:pt x="515640" y="0"/>
                </a:lnTo>
                <a:arcTo hR="119360" wR="119360" stAng="16200000" swAng="5400000"/>
                <a:lnTo>
                  <a:pt x="635000" y="119360"/>
                </a:lnTo>
                <a:arcTo hR="119360" wR="119360" stAng="0" swAng="5400000"/>
                <a:lnTo>
                  <a:pt x="119360" y="238720"/>
                </a:lnTo>
                <a:arcTo hR="119360" wR="119360" stAng="5400000" swAng="5400000"/>
                <a:lnTo>
                  <a:pt x="0" y="119360"/>
                </a:lnTo>
                <a:arcTo hR="119360" wR="119360" stAng="10800000" swAng="5400000"/>
                <a:close/>
              </a:path>
            </a:pathLst>
          </a:custGeom>
          <a:solidFill>
            <a:srgbClr val="F5B83D"/>
          </a:solidFill>
          <a:ln/>
        </p:spPr>
        <p:txBody>
          <a:bodyPr wrap="none" lIns="0" tIns="0" rIns="0" bIns="0" rtlCol="0" anchor="ctr">
            <a:normAutofit/>
          </a:bodyPr>
          <a:lstStyle/>
          <a:p>
            <a:pPr algn="ctr" indent="0" marL="0">
              <a:lnSpc>
                <a:spcPts val="1680"/>
              </a:lnSpc>
              <a:buNone/>
            </a:pPr>
            <a:r>
              <a:rPr lang="en-US" sz="1200" b="1" dirty="0">
                <a:solidFill>
                  <a:srgbClr val="0F1115"/>
                </a:solidFill>
                <a:latin typeface="JetBrains Mono" pitchFamily="49" charset="0"/>
                <a:ea typeface="JetBrains Mono" pitchFamily="49" charset="-122"/>
                <a:cs typeface="JetBrains Mono" pitchFamily="49" charset="-120"/>
              </a:rPr>
              <a:t>pandas</a:t>
            </a:r>
            <a:endParaRPr lang="en-US" sz="1200" dirty="0"/>
          </a:p>
        </p:txBody>
      </p:sp>
      <p:sp>
        <p:nvSpPr>
          <p:cNvPr id="11" name="Text 9"/>
          <p:cNvSpPr/>
          <p:nvPr/>
        </p:nvSpPr>
        <p:spPr>
          <a:xfrm>
            <a:off x="1047750" y="2514600"/>
            <a:ext cx="6475095" cy="3429000"/>
          </a:xfrm>
          <a:prstGeom prst="rect">
            <a:avLst/>
          </a:prstGeom>
          <a:noFill/>
          <a:ln/>
        </p:spPr>
        <p:txBody>
          <a:bodyPr wrap="square" lIns="0" tIns="0" rIns="0" bIns="0" rtlCol="0" anchor="t"/>
          <a:lstStyle/>
          <a:p>
            <a:pPr algn="l" indent="0" marL="0">
              <a:lnSpc>
                <a:spcPts val="1750"/>
              </a:lnSpc>
              <a:buNone/>
            </a:pPr>
            <a:r>
              <a:rPr lang="en-US" sz="1300" dirty="0">
                <a:solidFill>
                  <a:srgbClr val="8A92A3"/>
                </a:solidFill>
                <a:latin typeface="JetBrains Mono" pitchFamily="49" charset="0"/>
                <a:ea typeface="JetBrains Mono" pitchFamily="49" charset="-122"/>
                <a:cs typeface="JetBrains Mono" pitchFamily="49" charset="-120"/>
              </a:rPr>
              <a:t># Q1: which region builds the most efficient cars?</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df.</a:t>
            </a:r>
            <a:r>
              <a:rPr lang="en-US" sz="1300" dirty="0">
                <a:solidFill>
                  <a:srgbClr val="8EC9FF"/>
                </a:solidFill>
                <a:latin typeface="JetBrains Mono" pitchFamily="49" charset="0"/>
                <a:ea typeface="JetBrains Mono" pitchFamily="49" charset="-122"/>
                <a:cs typeface="JetBrains Mono" pitchFamily="49" charset="-120"/>
              </a:rPr>
              <a:t>groupby</a:t>
            </a:r>
            <a:r>
              <a:rPr lang="en-US" sz="1300" dirty="0">
                <a:solidFill>
                  <a:srgbClr val="E6E4DD"/>
                </a:solidFill>
                <a:latin typeface="JetBrains Mono" pitchFamily="49" charset="0"/>
                <a:ea typeface="JetBrains Mono" pitchFamily="49" charset="-122"/>
                <a:cs typeface="JetBrains Mono" pitchFamily="49" charset="-120"/>
              </a:rPr>
              <a:t>(</a:t>
            </a:r>
            <a:r>
              <a:rPr lang="en-US" sz="1300" dirty="0">
                <a:solidFill>
                  <a:srgbClr val="A6E3A1"/>
                </a:solidFill>
                <a:latin typeface="JetBrains Mono" pitchFamily="49" charset="0"/>
                <a:ea typeface="JetBrains Mono" pitchFamily="49" charset="-122"/>
                <a:cs typeface="JetBrains Mono" pitchFamily="49" charset="-120"/>
              </a:rPr>
              <a:t>"origin"</a:t>
            </a:r>
            <a:r>
              <a:rPr lang="en-US" sz="1300" dirty="0">
                <a:solidFill>
                  <a:srgbClr val="E6E4DD"/>
                </a:solidFill>
                <a:latin typeface="JetBrains Mono" pitchFamily="49" charset="0"/>
                <a:ea typeface="JetBrains Mono" pitchFamily="49" charset="-122"/>
                <a:cs typeface="JetBrains Mono" pitchFamily="49" charset="-120"/>
              </a:rPr>
              <a:t>)[</a:t>
            </a:r>
            <a:r>
              <a:rPr lang="en-US" sz="1300" dirty="0">
                <a:solidFill>
                  <a:srgbClr val="A6E3A1"/>
                </a:solidFill>
                <a:latin typeface="JetBrains Mono" pitchFamily="49" charset="0"/>
                <a:ea typeface="JetBrains Mono" pitchFamily="49" charset="-122"/>
                <a:cs typeface="JetBrains Mono" pitchFamily="49" charset="-120"/>
              </a:rPr>
              <a:t>"mpg"</a:t>
            </a:r>
            <a:r>
              <a:rPr lang="en-US" sz="1300" dirty="0">
                <a:solidFill>
                  <a:srgbClr val="E6E4DD"/>
                </a:solidFill>
                <a:latin typeface="JetBrains Mono" pitchFamily="49" charset="0"/>
                <a:ea typeface="JetBrains Mono" pitchFamily="49" charset="-122"/>
                <a:cs typeface="JetBrains Mono" pitchFamily="49" charset="-120"/>
              </a:rPr>
              <a:t>].</a:t>
            </a:r>
            <a:r>
              <a:rPr lang="en-US" sz="1300" dirty="0">
                <a:solidFill>
                  <a:srgbClr val="8EC9FF"/>
                </a:solidFill>
                <a:latin typeface="JetBrains Mono" pitchFamily="49" charset="0"/>
                <a:ea typeface="JetBrains Mono" pitchFamily="49" charset="-122"/>
                <a:cs typeface="JetBrains Mono" pitchFamily="49" charset="-120"/>
              </a:rPr>
              <a:t>mean</a:t>
            </a:r>
            <a:r>
              <a:rPr lang="en-US" sz="1300" dirty="0">
                <a:solidFill>
                  <a:srgbClr val="E6E4DD"/>
                </a:solidFill>
                <a:latin typeface="JetBrains Mono" pitchFamily="49" charset="0"/>
                <a:ea typeface="JetBrains Mono" pitchFamily="49" charset="-122"/>
                <a:cs typeface="JetBrains Mono" pitchFamily="49" charset="-120"/>
              </a:rPr>
              <a:t>()</a:t>
            </a:r>
          </a:p>
          <a:p>
            <a:pPr algn="l" indent="0" marL="0">
              <a:lnSpc>
                <a:spcPts val="1750"/>
              </a:lnSpc>
              <a:buNone/>
            </a:pPr>
            <a:endParaRPr lang="en-US" sz="1300" dirty="0">
              <a:solidFill>
                <a:srgbClr val="FF8A5B"/>
              </a:solidFill>
              <a:latin typeface="JetBrains Mono" pitchFamily="49" charset="0"/>
              <a:ea typeface="JetBrains Mono" pitchFamily="49" charset="-122"/>
              <a:cs typeface="JetBrains Mono" pitchFamily="49" charset="-120"/>
            </a:endParaRPr>
          </a:p>
          <a:p>
            <a:pPr algn="l" indent="0" marL="0">
              <a:lnSpc>
                <a:spcPts val="1750"/>
              </a:lnSpc>
              <a:buNone/>
            </a:pPr>
            <a:r>
              <a:rPr lang="en-US" sz="1300" dirty="0">
                <a:solidFill>
                  <a:srgbClr val="8A92A3"/>
                </a:solidFill>
                <a:latin typeface="JetBrains Mono" pitchFamily="49" charset="0"/>
                <a:ea typeface="JetBrains Mono" pitchFamily="49" charset="-122"/>
                <a:cs typeface="JetBrains Mono" pitchFamily="49" charset="-120"/>
              </a:rPr>
              <a:t># Q2: do more cylinders mean lower mpg?</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df.</a:t>
            </a:r>
            <a:r>
              <a:rPr lang="en-US" sz="1300" dirty="0">
                <a:solidFill>
                  <a:srgbClr val="8EC9FF"/>
                </a:solidFill>
                <a:latin typeface="JetBrains Mono" pitchFamily="49" charset="0"/>
                <a:ea typeface="JetBrains Mono" pitchFamily="49" charset="-122"/>
                <a:cs typeface="JetBrains Mono" pitchFamily="49" charset="-120"/>
              </a:rPr>
              <a:t>groupby</a:t>
            </a:r>
            <a:r>
              <a:rPr lang="en-US" sz="1300" dirty="0">
                <a:solidFill>
                  <a:srgbClr val="E6E4DD"/>
                </a:solidFill>
                <a:latin typeface="JetBrains Mono" pitchFamily="49" charset="0"/>
                <a:ea typeface="JetBrains Mono" pitchFamily="49" charset="-122"/>
                <a:cs typeface="JetBrains Mono" pitchFamily="49" charset="-120"/>
              </a:rPr>
              <a:t>(</a:t>
            </a:r>
            <a:r>
              <a:rPr lang="en-US" sz="1300" dirty="0">
                <a:solidFill>
                  <a:srgbClr val="A6E3A1"/>
                </a:solidFill>
                <a:latin typeface="JetBrains Mono" pitchFamily="49" charset="0"/>
                <a:ea typeface="JetBrains Mono" pitchFamily="49" charset="-122"/>
                <a:cs typeface="JetBrains Mono" pitchFamily="49" charset="-120"/>
              </a:rPr>
              <a:t>"cylinders"</a:t>
            </a:r>
            <a:r>
              <a:rPr lang="en-US" sz="1300" dirty="0">
                <a:solidFill>
                  <a:srgbClr val="E6E4DD"/>
                </a:solidFill>
                <a:latin typeface="JetBrains Mono" pitchFamily="49" charset="0"/>
                <a:ea typeface="JetBrains Mono" pitchFamily="49" charset="-122"/>
                <a:cs typeface="JetBrains Mono" pitchFamily="49" charset="-120"/>
              </a:rPr>
              <a:t>)[</a:t>
            </a:r>
            <a:r>
              <a:rPr lang="en-US" sz="1300" dirty="0">
                <a:solidFill>
                  <a:srgbClr val="A6E3A1"/>
                </a:solidFill>
                <a:latin typeface="JetBrains Mono" pitchFamily="49" charset="0"/>
                <a:ea typeface="JetBrains Mono" pitchFamily="49" charset="-122"/>
                <a:cs typeface="JetBrains Mono" pitchFamily="49" charset="-120"/>
              </a:rPr>
              <a:t>"mpg"</a:t>
            </a:r>
            <a:r>
              <a:rPr lang="en-US" sz="1300" dirty="0">
                <a:solidFill>
                  <a:srgbClr val="E6E4DD"/>
                </a:solidFill>
                <a:latin typeface="JetBrains Mono" pitchFamily="49" charset="0"/>
                <a:ea typeface="JetBrains Mono" pitchFamily="49" charset="-122"/>
                <a:cs typeface="JetBrains Mono" pitchFamily="49" charset="-120"/>
              </a:rPr>
              <a:t>].</a:t>
            </a:r>
            <a:r>
              <a:rPr lang="en-US" sz="1300" dirty="0">
                <a:solidFill>
                  <a:srgbClr val="8EC9FF"/>
                </a:solidFill>
                <a:latin typeface="JetBrains Mono" pitchFamily="49" charset="0"/>
                <a:ea typeface="JetBrains Mono" pitchFamily="49" charset="-122"/>
                <a:cs typeface="JetBrains Mono" pitchFamily="49" charset="-120"/>
              </a:rPr>
              <a:t>mean</a:t>
            </a:r>
            <a:r>
              <a:rPr lang="en-US" sz="1300" dirty="0">
                <a:solidFill>
                  <a:srgbClr val="E6E4DD"/>
                </a:solidFill>
                <a:latin typeface="JetBrains Mono" pitchFamily="49" charset="0"/>
                <a:ea typeface="JetBrains Mono" pitchFamily="49" charset="-122"/>
                <a:cs typeface="JetBrains Mono" pitchFamily="49" charset="-120"/>
              </a:rPr>
              <a:t>()</a:t>
            </a:r>
          </a:p>
          <a:p>
            <a:pPr algn="l" indent="0" marL="0">
              <a:lnSpc>
                <a:spcPts val="1750"/>
              </a:lnSpc>
              <a:buNone/>
            </a:pPr>
            <a:endParaRPr lang="en-US" sz="1300" dirty="0">
              <a:solidFill>
                <a:srgbClr val="FF8A5B"/>
              </a:solidFill>
              <a:latin typeface="JetBrains Mono" pitchFamily="49" charset="0"/>
              <a:ea typeface="JetBrains Mono" pitchFamily="49" charset="-122"/>
              <a:cs typeface="JetBrains Mono" pitchFamily="49" charset="-120"/>
            </a:endParaRPr>
          </a:p>
          <a:p>
            <a:pPr algn="l" indent="0" marL="0">
              <a:lnSpc>
                <a:spcPts val="1750"/>
              </a:lnSpc>
              <a:buNone/>
            </a:pPr>
            <a:r>
              <a:rPr lang="en-US" sz="1300" dirty="0">
                <a:solidFill>
                  <a:srgbClr val="8A92A3"/>
                </a:solidFill>
                <a:latin typeface="JetBrains Mono" pitchFamily="49" charset="0"/>
                <a:ea typeface="JetBrains Mono" pitchFamily="49" charset="-122"/>
                <a:cs typeface="JetBrains Mono" pitchFamily="49" charset="-120"/>
              </a:rPr>
              <a:t># Q3: weight vs. mpg</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sns.</a:t>
            </a:r>
            <a:r>
              <a:rPr lang="en-US" sz="1300" dirty="0">
                <a:solidFill>
                  <a:srgbClr val="8EC9FF"/>
                </a:solidFill>
                <a:latin typeface="JetBrains Mono" pitchFamily="49" charset="0"/>
                <a:ea typeface="JetBrains Mono" pitchFamily="49" charset="-122"/>
                <a:cs typeface="JetBrains Mono" pitchFamily="49" charset="-120"/>
              </a:rPr>
              <a:t>scatterplot</a:t>
            </a:r>
            <a:r>
              <a:rPr lang="en-US" sz="1300" dirty="0">
                <a:solidFill>
                  <a:srgbClr val="E6E4DD"/>
                </a:solidFill>
                <a:latin typeface="JetBrains Mono" pitchFamily="49" charset="0"/>
                <a:ea typeface="JetBrains Mono" pitchFamily="49" charset="-122"/>
                <a:cs typeface="JetBrains Mono" pitchFamily="49" charset="-120"/>
              </a:rPr>
              <a:t>(data=df, x=</a:t>
            </a:r>
            <a:r>
              <a:rPr lang="en-US" sz="1300" dirty="0">
                <a:solidFill>
                  <a:srgbClr val="A6E3A1"/>
                </a:solidFill>
                <a:latin typeface="JetBrains Mono" pitchFamily="49" charset="0"/>
                <a:ea typeface="JetBrains Mono" pitchFamily="49" charset="-122"/>
                <a:cs typeface="JetBrains Mono" pitchFamily="49" charset="-120"/>
              </a:rPr>
              <a:t>"weight"</a:t>
            </a:r>
            <a:r>
              <a:rPr lang="en-US" sz="1300" dirty="0">
                <a:solidFill>
                  <a:srgbClr val="E6E4DD"/>
                </a:solidFill>
                <a:latin typeface="JetBrains Mono" pitchFamily="49" charset="0"/>
                <a:ea typeface="JetBrains Mono" pitchFamily="49" charset="-122"/>
                <a:cs typeface="JetBrains Mono" pitchFamily="49" charset="-120"/>
              </a:rPr>
              <a:t>, y=</a:t>
            </a:r>
            <a:r>
              <a:rPr lang="en-US" sz="1300" dirty="0">
                <a:solidFill>
                  <a:srgbClr val="A6E3A1"/>
                </a:solidFill>
                <a:latin typeface="JetBrains Mono" pitchFamily="49" charset="0"/>
                <a:ea typeface="JetBrains Mono" pitchFamily="49" charset="-122"/>
                <a:cs typeface="JetBrains Mono" pitchFamily="49" charset="-120"/>
              </a:rPr>
              <a:t>"mpg"</a:t>
            </a:r>
            <a:r>
              <a:rPr lang="en-US" sz="1300" dirty="0">
                <a:solidFill>
                  <a:srgbClr val="E6E4DD"/>
                </a:solidFill>
                <a:latin typeface="JetBrains Mono" pitchFamily="49" charset="0"/>
                <a:ea typeface="JetBrains Mono" pitchFamily="49" charset="-122"/>
                <a:cs typeface="JetBrains Mono" pitchFamily="49" charset="-120"/>
              </a:rPr>
              <a:t>)</a:t>
            </a:r>
          </a:p>
          <a:p>
            <a:pPr algn="l" indent="0" marL="0">
              <a:lnSpc>
                <a:spcPts val="1750"/>
              </a:lnSpc>
              <a:buNone/>
            </a:pPr>
            <a:endParaRPr lang="en-US" sz="1300" dirty="0">
              <a:solidFill>
                <a:srgbClr val="FF8A5B"/>
              </a:solidFill>
              <a:latin typeface="JetBrains Mono" pitchFamily="49" charset="0"/>
              <a:ea typeface="JetBrains Mono" pitchFamily="49" charset="-122"/>
              <a:cs typeface="JetBrains Mono" pitchFamily="49" charset="-120"/>
            </a:endParaRPr>
          </a:p>
          <a:p>
            <a:pPr algn="l" indent="0" marL="0">
              <a:lnSpc>
                <a:spcPts val="1750"/>
              </a:lnSpc>
              <a:buNone/>
            </a:pPr>
            <a:r>
              <a:rPr lang="en-US" sz="1300" dirty="0">
                <a:solidFill>
                  <a:srgbClr val="8A92A3"/>
                </a:solidFill>
                <a:latin typeface="JetBrains Mono" pitchFamily="49" charset="0"/>
                <a:ea typeface="JetBrains Mono" pitchFamily="49" charset="-122"/>
                <a:cs typeface="JetBrains Mono" pitchFamily="49" charset="-120"/>
              </a:rPr>
              <a:t># Q4: did cars get better over the years?</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df.</a:t>
            </a:r>
            <a:r>
              <a:rPr lang="en-US" sz="1300" dirty="0">
                <a:solidFill>
                  <a:srgbClr val="8EC9FF"/>
                </a:solidFill>
                <a:latin typeface="JetBrains Mono" pitchFamily="49" charset="0"/>
                <a:ea typeface="JetBrains Mono" pitchFamily="49" charset="-122"/>
                <a:cs typeface="JetBrains Mono" pitchFamily="49" charset="-120"/>
              </a:rPr>
              <a:t>groupby</a:t>
            </a:r>
            <a:r>
              <a:rPr lang="en-US" sz="1300" dirty="0">
                <a:solidFill>
                  <a:srgbClr val="E6E4DD"/>
                </a:solidFill>
                <a:latin typeface="JetBrains Mono" pitchFamily="49" charset="0"/>
                <a:ea typeface="JetBrains Mono" pitchFamily="49" charset="-122"/>
                <a:cs typeface="JetBrains Mono" pitchFamily="49" charset="-120"/>
              </a:rPr>
              <a:t>(</a:t>
            </a:r>
            <a:r>
              <a:rPr lang="en-US" sz="1300" dirty="0">
                <a:solidFill>
                  <a:srgbClr val="A6E3A1"/>
                </a:solidFill>
                <a:latin typeface="JetBrains Mono" pitchFamily="49" charset="0"/>
                <a:ea typeface="JetBrains Mono" pitchFamily="49" charset="-122"/>
                <a:cs typeface="JetBrains Mono" pitchFamily="49" charset="-120"/>
              </a:rPr>
              <a:t>"model_year"</a:t>
            </a:r>
            <a:r>
              <a:rPr lang="en-US" sz="1300" dirty="0">
                <a:solidFill>
                  <a:srgbClr val="E6E4DD"/>
                </a:solidFill>
                <a:latin typeface="JetBrains Mono" pitchFamily="49" charset="0"/>
                <a:ea typeface="JetBrains Mono" pitchFamily="49" charset="-122"/>
                <a:cs typeface="JetBrains Mono" pitchFamily="49" charset="-120"/>
              </a:rPr>
              <a:t>)[</a:t>
            </a:r>
            <a:r>
              <a:rPr lang="en-US" sz="1300" dirty="0">
                <a:solidFill>
                  <a:srgbClr val="A6E3A1"/>
                </a:solidFill>
                <a:latin typeface="JetBrains Mono" pitchFamily="49" charset="0"/>
                <a:ea typeface="JetBrains Mono" pitchFamily="49" charset="-122"/>
                <a:cs typeface="JetBrains Mono" pitchFamily="49" charset="-120"/>
              </a:rPr>
              <a:t>"mpg"</a:t>
            </a:r>
            <a:r>
              <a:rPr lang="en-US" sz="1300" dirty="0">
                <a:solidFill>
                  <a:srgbClr val="E6E4DD"/>
                </a:solidFill>
                <a:latin typeface="JetBrains Mono" pitchFamily="49" charset="0"/>
                <a:ea typeface="JetBrains Mono" pitchFamily="49" charset="-122"/>
                <a:cs typeface="JetBrains Mono" pitchFamily="49" charset="-120"/>
              </a:rPr>
              <a:t>].</a:t>
            </a:r>
            <a:r>
              <a:rPr lang="en-US" sz="1300" dirty="0">
                <a:solidFill>
                  <a:srgbClr val="8EC9FF"/>
                </a:solidFill>
                <a:latin typeface="JetBrains Mono" pitchFamily="49" charset="0"/>
                <a:ea typeface="JetBrains Mono" pitchFamily="49" charset="-122"/>
                <a:cs typeface="JetBrains Mono" pitchFamily="49" charset="-120"/>
              </a:rPr>
              <a:t>mean</a:t>
            </a:r>
            <a:r>
              <a:rPr lang="en-US" sz="1300" dirty="0">
                <a:solidFill>
                  <a:srgbClr val="E6E4DD"/>
                </a:solidFill>
                <a:latin typeface="JetBrains Mono" pitchFamily="49" charset="0"/>
                <a:ea typeface="JetBrains Mono" pitchFamily="49" charset="-122"/>
                <a:cs typeface="JetBrains Mono" pitchFamily="49" charset="-120"/>
              </a:rPr>
              <a:t>().</a:t>
            </a:r>
            <a:r>
              <a:rPr lang="en-US" sz="1300" dirty="0">
                <a:solidFill>
                  <a:srgbClr val="8EC9FF"/>
                </a:solidFill>
                <a:latin typeface="JetBrains Mono" pitchFamily="49" charset="0"/>
                <a:ea typeface="JetBrains Mono" pitchFamily="49" charset="-122"/>
                <a:cs typeface="JetBrains Mono" pitchFamily="49" charset="-120"/>
              </a:rPr>
              <a:t>plot</a:t>
            </a:r>
            <a:r>
              <a:rPr lang="en-US" sz="1300" dirty="0">
                <a:solidFill>
                  <a:srgbClr val="E6E4DD"/>
                </a:solidFill>
                <a:latin typeface="JetBrains Mono" pitchFamily="49" charset="0"/>
                <a:ea typeface="JetBrains Mono" pitchFamily="49" charset="-122"/>
                <a:cs typeface="JetBrains Mono" pitchFamily="49" charset="-120"/>
              </a:rPr>
              <a:t>()</a:t>
            </a:r>
          </a:p>
        </p:txBody>
      </p:sp>
      <p:sp>
        <p:nvSpPr>
          <p:cNvPr id="12" name="Shape 10"/>
          <p:cNvSpPr/>
          <p:nvPr/>
        </p:nvSpPr>
        <p:spPr>
          <a:xfrm>
            <a:off x="7826375" y="1831876"/>
            <a:ext cx="3549650" cy="993775"/>
          </a:xfrm>
          <a:prstGeom prst="roundRect">
            <a:avLst>
              <a:gd name="adj" fmla="val 12460"/>
            </a:avLst>
          </a:prstGeom>
          <a:solidFill>
            <a:srgbClr val="171B23"/>
          </a:solidFill>
          <a:ln w="6350">
            <a:solidFill>
              <a:srgbClr val="2A2F3A"/>
            </a:solidFill>
            <a:prstDash val="solid"/>
          </a:ln>
        </p:spPr>
        <p:txBody>
          <a:bodyPr/>
          <a:p/>
        </p:txBody>
      </p:sp>
      <p:sp>
        <p:nvSpPr>
          <p:cNvPr id="13" name="Text 11"/>
          <p:cNvSpPr/>
          <p:nvPr/>
        </p:nvSpPr>
        <p:spPr>
          <a:xfrm>
            <a:off x="8007350" y="2095103"/>
            <a:ext cx="328333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CEAE4"/>
                </a:solidFill>
                <a:latin typeface="JetBrains Mono" pitchFamily="49" charset="0"/>
                <a:ea typeface="JetBrains Mono" pitchFamily="49" charset="-122"/>
                <a:cs typeface="JetBrains Mono" pitchFamily="49" charset="-120"/>
              </a:rPr>
              <a:t>groupby</a:t>
            </a:r>
            <a:endParaRPr lang="en-US" sz="1500" dirty="0"/>
          </a:p>
        </p:txBody>
      </p:sp>
      <p:sp>
        <p:nvSpPr>
          <p:cNvPr id="14" name="Text 12"/>
          <p:cNvSpPr/>
          <p:nvPr/>
        </p:nvSpPr>
        <p:spPr>
          <a:xfrm>
            <a:off x="8007350" y="2349103"/>
            <a:ext cx="3283331" cy="5486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8B4"/>
                </a:solidFill>
                <a:latin typeface="IBM Plex Sans" pitchFamily="34" charset="0"/>
                <a:ea typeface="IBM Plex Sans" pitchFamily="34" charset="-122"/>
                <a:cs typeface="IBM Plex Sans" pitchFamily="34" charset="-120"/>
              </a:rPr>
              <a:t>Split by a category, then summarise each group.</a:t>
            </a:r>
            <a:endParaRPr lang="en-US" sz="1200" dirty="0"/>
          </a:p>
        </p:txBody>
      </p:sp>
      <p:sp>
        <p:nvSpPr>
          <p:cNvPr id="15" name="Shape 13"/>
          <p:cNvSpPr/>
          <p:nvPr/>
        </p:nvSpPr>
        <p:spPr>
          <a:xfrm>
            <a:off x="7826375" y="2908201"/>
            <a:ext cx="3549650" cy="993874"/>
          </a:xfrm>
          <a:prstGeom prst="roundRect">
            <a:avLst>
              <a:gd name="adj" fmla="val 12459"/>
            </a:avLst>
          </a:prstGeom>
          <a:solidFill>
            <a:srgbClr val="171B23"/>
          </a:solidFill>
          <a:ln w="6350">
            <a:solidFill>
              <a:srgbClr val="2A2F3A"/>
            </a:solidFill>
            <a:prstDash val="solid"/>
          </a:ln>
        </p:spPr>
        <p:txBody>
          <a:bodyPr/>
          <a:p/>
        </p:txBody>
      </p:sp>
      <p:sp>
        <p:nvSpPr>
          <p:cNvPr id="16" name="Text 14"/>
          <p:cNvSpPr/>
          <p:nvPr/>
        </p:nvSpPr>
        <p:spPr>
          <a:xfrm>
            <a:off x="8007350" y="3171428"/>
            <a:ext cx="328333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CEAE4"/>
                </a:solidFill>
                <a:latin typeface="JetBrains Mono" pitchFamily="49" charset="0"/>
                <a:ea typeface="JetBrains Mono" pitchFamily="49" charset="-122"/>
                <a:cs typeface="JetBrains Mono" pitchFamily="49" charset="-120"/>
              </a:rPr>
              <a:t>scatterplot</a:t>
            </a:r>
            <a:endParaRPr lang="en-US" sz="1500" dirty="0"/>
          </a:p>
        </p:txBody>
      </p:sp>
      <p:sp>
        <p:nvSpPr>
          <p:cNvPr id="17" name="Text 15"/>
          <p:cNvSpPr/>
          <p:nvPr/>
        </p:nvSpPr>
        <p:spPr>
          <a:xfrm>
            <a:off x="8007350" y="3425428"/>
            <a:ext cx="3283331" cy="5486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8B4"/>
                </a:solidFill>
                <a:latin typeface="IBM Plex Sans" pitchFamily="34" charset="0"/>
                <a:ea typeface="IBM Plex Sans" pitchFamily="34" charset="-122"/>
                <a:cs typeface="IBM Plex Sans" pitchFamily="34" charset="-120"/>
              </a:rPr>
              <a:t>Two numbers against each other: is there a relationship?</a:t>
            </a:r>
            <a:endParaRPr lang="en-US" sz="1200" dirty="0"/>
          </a:p>
        </p:txBody>
      </p:sp>
      <p:sp>
        <p:nvSpPr>
          <p:cNvPr id="18" name="Shape 16"/>
          <p:cNvSpPr/>
          <p:nvPr/>
        </p:nvSpPr>
        <p:spPr>
          <a:xfrm>
            <a:off x="7826375" y="3984625"/>
            <a:ext cx="3549650" cy="993775"/>
          </a:xfrm>
          <a:prstGeom prst="roundRect">
            <a:avLst>
              <a:gd name="adj" fmla="val 12460"/>
            </a:avLst>
          </a:prstGeom>
          <a:solidFill>
            <a:srgbClr val="171B23"/>
          </a:solidFill>
          <a:ln w="6350">
            <a:solidFill>
              <a:srgbClr val="2A2F3A"/>
            </a:solidFill>
            <a:prstDash val="solid"/>
          </a:ln>
        </p:spPr>
        <p:txBody>
          <a:bodyPr/>
          <a:p/>
        </p:txBody>
      </p:sp>
      <p:sp>
        <p:nvSpPr>
          <p:cNvPr id="19" name="Text 17"/>
          <p:cNvSpPr/>
          <p:nvPr/>
        </p:nvSpPr>
        <p:spPr>
          <a:xfrm>
            <a:off x="8007350" y="4247852"/>
            <a:ext cx="328333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CEAE4"/>
                </a:solidFill>
                <a:latin typeface="JetBrains Mono" pitchFamily="49" charset="0"/>
                <a:ea typeface="JetBrains Mono" pitchFamily="49" charset="-122"/>
                <a:cs typeface="JetBrains Mono" pitchFamily="49" charset="-120"/>
              </a:rPr>
              <a:t>plot over time</a:t>
            </a:r>
            <a:endParaRPr lang="en-US" sz="1500" dirty="0"/>
          </a:p>
        </p:txBody>
      </p:sp>
      <p:sp>
        <p:nvSpPr>
          <p:cNvPr id="20" name="Text 18"/>
          <p:cNvSpPr/>
          <p:nvPr/>
        </p:nvSpPr>
        <p:spPr>
          <a:xfrm>
            <a:off x="8007350" y="4501852"/>
            <a:ext cx="3283331" cy="5486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8B4"/>
                </a:solidFill>
                <a:latin typeface="IBM Plex Sans" pitchFamily="34" charset="0"/>
                <a:ea typeface="IBM Plex Sans" pitchFamily="34" charset="-122"/>
                <a:cs typeface="IBM Plex Sans" pitchFamily="34" charset="-120"/>
              </a:rPr>
              <a:t>Trends that no single statistic shows.</a:t>
            </a:r>
            <a:endParaRPr lang="en-US" sz="1200" dirty="0"/>
          </a:p>
        </p:txBody>
      </p:sp>
      <p:sp>
        <p:nvSpPr>
          <p:cNvPr id="21" name="Shape 19"/>
          <p:cNvSpPr/>
          <p:nvPr/>
        </p:nvSpPr>
        <p:spPr>
          <a:xfrm>
            <a:off x="7823200" y="5057775"/>
            <a:ext cx="3556000" cy="987425"/>
          </a:xfrm>
          <a:prstGeom prst="roundRect">
            <a:avLst>
              <a:gd name="adj" fmla="val 12862"/>
            </a:avLst>
          </a:prstGeom>
          <a:solidFill>
            <a:srgbClr val="FF7A45"/>
          </a:solidFill>
          <a:ln/>
        </p:spPr>
        <p:txBody>
          <a:bodyPr/>
          <a:p/>
        </p:txBody>
      </p:sp>
      <p:sp>
        <p:nvSpPr>
          <p:cNvPr id="22" name="Text 20"/>
          <p:cNvSpPr/>
          <p:nvPr/>
        </p:nvSpPr>
        <p:spPr>
          <a:xfrm>
            <a:off x="8001000" y="5211167"/>
            <a:ext cx="329641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115"/>
                </a:solidFill>
                <a:latin typeface="JetBrains Mono" pitchFamily="49" charset="0"/>
                <a:ea typeface="JetBrains Mono" pitchFamily="49" charset="-122"/>
                <a:cs typeface="JetBrains Mono" pitchFamily="49" charset="-120"/>
              </a:rPr>
              <a:t>Start with a question</a:t>
            </a:r>
            <a:endParaRPr lang="en-US" sz="1500" dirty="0"/>
          </a:p>
        </p:txBody>
      </p:sp>
      <p:sp>
        <p:nvSpPr>
          <p:cNvPr id="23" name="Text 21"/>
          <p:cNvSpPr/>
          <p:nvPr/>
        </p:nvSpPr>
        <p:spPr>
          <a:xfrm>
            <a:off x="8001000" y="5465167"/>
            <a:ext cx="329641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F1115"/>
                </a:solidFill>
                <a:latin typeface="IBM Plex Sans" pitchFamily="34" charset="0"/>
                <a:ea typeface="IBM Plex Sans" pitchFamily="34" charset="-122"/>
                <a:cs typeface="IBM Plex Sans" pitchFamily="34" charset="-120"/>
              </a:rPr>
              <a:t>Not with a chart. The question decides the chart.</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11">
    <p:bg>
      <p:bgPr>
        <a:solidFill>
          <a:srgbClr val="F2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2410C"/>
                </a:solidFill>
                <a:latin typeface="JetBrains Mono" pitchFamily="49" charset="0"/>
                <a:ea typeface="JetBrains Mono" pitchFamily="49" charset="-122"/>
                <a:cs typeface="JetBrains Mono" pitchFamily="49" charset="-120"/>
              </a:rPr>
              <a:t>02 · EXPLORE · WHAT THE DATA SAYS</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181D"/>
                </a:solidFill>
                <a:latin typeface="Space Grotesk" pitchFamily="34" charset="0"/>
                <a:ea typeface="Space Grotesk" pitchFamily="34" charset="-122"/>
                <a:cs typeface="Space Grotesk" pitchFamily="34" charset="-120"/>
              </a:rPr>
              <a:t>Japanese cars go 50% further on a gallon</a:t>
            </a:r>
            <a:endParaRPr lang="en-US" sz="3200" dirty="0"/>
          </a:p>
        </p:txBody>
      </p:sp>
      <p:sp>
        <p:nvSpPr>
          <p:cNvPr id="4" name="Shape 2"/>
          <p:cNvSpPr/>
          <p:nvPr/>
        </p:nvSpPr>
        <p:spPr>
          <a:xfrm>
            <a:off x="815975" y="1831876"/>
            <a:ext cx="7004050" cy="4210149"/>
          </a:xfrm>
          <a:prstGeom prst="roundRect">
            <a:avLst>
              <a:gd name="adj" fmla="val 3544"/>
            </a:avLst>
          </a:prstGeom>
          <a:solidFill>
            <a:srgbClr val="FBFAF6"/>
          </a:solidFill>
          <a:ln w="6350">
            <a:solidFill>
              <a:srgbClr val="E0DACB"/>
            </a:solidFill>
            <a:prstDash val="solid"/>
          </a:ln>
        </p:spPr>
        <p:txBody>
          <a:bodyPr/>
          <a:p/>
        </p:txBody>
      </p:sp>
      <p:sp>
        <p:nvSpPr>
          <p:cNvPr id="24" name="Shape 21"/>
          <p:cNvSpPr/>
          <p:nvPr/>
        </p:nvSpPr>
        <p:spPr>
          <a:xfrm>
            <a:off x="8080375" y="1831876"/>
            <a:ext cx="3295650" cy="1047055"/>
          </a:xfrm>
          <a:prstGeom prst="roundRect">
            <a:avLst>
              <a:gd name="adj" fmla="val 11826"/>
            </a:avLst>
          </a:prstGeom>
          <a:solidFill>
            <a:srgbClr val="FBFAF6"/>
          </a:solidFill>
          <a:ln w="6350">
            <a:solidFill>
              <a:srgbClr val="E0DACB"/>
            </a:solidFill>
            <a:prstDash val="solid"/>
          </a:ln>
        </p:spPr>
        <p:txBody>
          <a:bodyPr/>
          <a:p/>
        </p:txBody>
      </p:sp>
      <p:sp>
        <p:nvSpPr>
          <p:cNvPr id="25" name="Text 22"/>
          <p:cNvSpPr/>
          <p:nvPr/>
        </p:nvSpPr>
        <p:spPr>
          <a:xfrm>
            <a:off x="8261350" y="2012851"/>
            <a:ext cx="3021711" cy="251123"/>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81D"/>
                </a:solidFill>
                <a:latin typeface="Space Grotesk" pitchFamily="34" charset="0"/>
                <a:ea typeface="Space Grotesk" pitchFamily="34" charset="-122"/>
                <a:cs typeface="Space Grotesk" pitchFamily="34" charset="-120"/>
              </a:rPr>
              <a:t>By origin</a:t>
            </a:r>
            <a:endParaRPr lang="en-US" sz="1500" dirty="0"/>
          </a:p>
        </p:txBody>
      </p:sp>
      <p:sp>
        <p:nvSpPr>
          <p:cNvPr id="26" name="Text 23"/>
          <p:cNvSpPr/>
          <p:nvPr/>
        </p:nvSpPr>
        <p:spPr>
          <a:xfrm>
            <a:off x="8261350" y="2276673"/>
            <a:ext cx="3021711" cy="446683"/>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545A66"/>
                </a:solidFill>
                <a:latin typeface="IBM Plex Sans" pitchFamily="34" charset="0"/>
                <a:ea typeface="IBM Plex Sans" pitchFamily="34" charset="-122"/>
                <a:cs typeface="IBM Plex Sans" pitchFamily="34" charset="-120"/>
              </a:rPr>
              <a:t>Japan 30.5, Europe 27.9, USA 20.1 mpg.</a:t>
            </a:r>
            <a:endParaRPr lang="en-US" sz="1185" dirty="0"/>
          </a:p>
        </p:txBody>
      </p:sp>
      <p:sp>
        <p:nvSpPr>
          <p:cNvPr id="27" name="Shape 24"/>
          <p:cNvSpPr/>
          <p:nvPr/>
        </p:nvSpPr>
        <p:spPr>
          <a:xfrm>
            <a:off x="8080375" y="2986881"/>
            <a:ext cx="3295650" cy="1046956"/>
          </a:xfrm>
          <a:prstGeom prst="roundRect">
            <a:avLst>
              <a:gd name="adj" fmla="val 11827"/>
            </a:avLst>
          </a:prstGeom>
          <a:solidFill>
            <a:srgbClr val="FBFAF6"/>
          </a:solidFill>
          <a:ln w="6350">
            <a:solidFill>
              <a:srgbClr val="E0DACB"/>
            </a:solidFill>
            <a:prstDash val="solid"/>
          </a:ln>
        </p:spPr>
        <p:txBody>
          <a:bodyPr/>
          <a:p/>
        </p:txBody>
      </p:sp>
      <p:sp>
        <p:nvSpPr>
          <p:cNvPr id="28" name="Text 25"/>
          <p:cNvSpPr/>
          <p:nvPr/>
        </p:nvSpPr>
        <p:spPr>
          <a:xfrm>
            <a:off x="8261350" y="3167856"/>
            <a:ext cx="3021711" cy="251123"/>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81D"/>
                </a:solidFill>
                <a:latin typeface="Space Grotesk" pitchFamily="34" charset="0"/>
                <a:ea typeface="Space Grotesk" pitchFamily="34" charset="-122"/>
                <a:cs typeface="Space Grotesk" pitchFamily="34" charset="-120"/>
              </a:rPr>
              <a:t>By cylinders</a:t>
            </a:r>
            <a:endParaRPr lang="en-US" sz="1500" dirty="0"/>
          </a:p>
        </p:txBody>
      </p:sp>
      <p:sp>
        <p:nvSpPr>
          <p:cNvPr id="29" name="Text 26"/>
          <p:cNvSpPr/>
          <p:nvPr/>
        </p:nvSpPr>
        <p:spPr>
          <a:xfrm>
            <a:off x="8261350" y="3431679"/>
            <a:ext cx="3021711" cy="446584"/>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545A66"/>
                </a:solidFill>
                <a:latin typeface="IBM Plex Sans" pitchFamily="34" charset="0"/>
                <a:ea typeface="IBM Plex Sans" pitchFamily="34" charset="-122"/>
                <a:cs typeface="IBM Plex Sans" pitchFamily="34" charset="-120"/>
              </a:rPr>
              <a:t>4 cylinders: 29.3 mpg. 8 cylinders: 15.0 mpg.</a:t>
            </a:r>
            <a:endParaRPr lang="en-US" sz="1185" dirty="0"/>
          </a:p>
        </p:txBody>
      </p:sp>
      <p:sp>
        <p:nvSpPr>
          <p:cNvPr id="30" name="Shape 27"/>
          <p:cNvSpPr/>
          <p:nvPr/>
        </p:nvSpPr>
        <p:spPr>
          <a:xfrm>
            <a:off x="8080375" y="4141788"/>
            <a:ext cx="3295650" cy="1046956"/>
          </a:xfrm>
          <a:prstGeom prst="roundRect">
            <a:avLst>
              <a:gd name="adj" fmla="val 11827"/>
            </a:avLst>
          </a:prstGeom>
          <a:solidFill>
            <a:srgbClr val="FBFAF6"/>
          </a:solidFill>
          <a:ln w="6350">
            <a:solidFill>
              <a:srgbClr val="E0DACB"/>
            </a:solidFill>
            <a:prstDash val="solid"/>
          </a:ln>
        </p:spPr>
        <p:txBody>
          <a:bodyPr/>
          <a:p/>
        </p:txBody>
      </p:sp>
      <p:sp>
        <p:nvSpPr>
          <p:cNvPr id="31" name="Text 28"/>
          <p:cNvSpPr/>
          <p:nvPr/>
        </p:nvSpPr>
        <p:spPr>
          <a:xfrm>
            <a:off x="8261350" y="4322763"/>
            <a:ext cx="3021711" cy="251123"/>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81D"/>
                </a:solidFill>
                <a:latin typeface="Space Grotesk" pitchFamily="34" charset="0"/>
                <a:ea typeface="Space Grotesk" pitchFamily="34" charset="-122"/>
                <a:cs typeface="Space Grotesk" pitchFamily="34" charset="-120"/>
              </a:rPr>
              <a:t>By year</a:t>
            </a:r>
            <a:endParaRPr lang="en-US" sz="1500" dirty="0"/>
          </a:p>
        </p:txBody>
      </p:sp>
      <p:sp>
        <p:nvSpPr>
          <p:cNvPr id="32" name="Text 29"/>
          <p:cNvSpPr/>
          <p:nvPr/>
        </p:nvSpPr>
        <p:spPr>
          <a:xfrm>
            <a:off x="8261350" y="4586585"/>
            <a:ext cx="3021711" cy="446584"/>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545A66"/>
                </a:solidFill>
                <a:latin typeface="IBM Plex Sans" pitchFamily="34" charset="0"/>
                <a:ea typeface="IBM Plex Sans" pitchFamily="34" charset="-122"/>
                <a:cs typeface="IBM Plex Sans" pitchFamily="34" charset="-120"/>
              </a:rPr>
              <a:t>Rising steadily from 1973: the oil crises.</a:t>
            </a:r>
            <a:endParaRPr lang="en-US" sz="1185" dirty="0"/>
          </a:p>
        </p:txBody>
      </p:sp>
      <p:sp>
        <p:nvSpPr>
          <p:cNvPr id="33" name="Text 30"/>
          <p:cNvSpPr/>
          <p:nvPr/>
        </p:nvSpPr>
        <p:spPr>
          <a:xfrm>
            <a:off x="8077200" y="5395119"/>
            <a:ext cx="3302000" cy="650081"/>
          </a:xfrm>
          <a:prstGeom prst="roundRect">
            <a:avLst>
              <a:gd name="adj" fmla="val 15629"/>
            </a:avLst>
          </a:prstGeom>
          <a:solidFill>
            <a:srgbClr val="16181D"/>
          </a:solidFill>
          <a:ln/>
        </p:spPr>
        <p:txBody>
          <a:bodyPr wrap="square" lIns="122642" tIns="84542" rIns="32726" bIns="59142" rtlCol="0" anchor="t">
            <a:normAutofit/>
          </a:bodyPr>
          <a:lstStyle/>
          <a:p>
            <a:pPr algn="l" indent="0" marL="0">
              <a:lnSpc>
                <a:spcPts val="1659"/>
              </a:lnSpc>
              <a:buNone/>
            </a:pPr>
            <a:r>
              <a:rPr lang="en-US" sz="1185" b="1" dirty="0">
                <a:solidFill>
                  <a:srgbClr val="ECEAE4"/>
                </a:solidFill>
                <a:latin typeface="JetBrains Mono" pitchFamily="49" charset="0"/>
                <a:ea typeface="JetBrains Mono" pitchFamily="49" charset="-122"/>
                <a:cs typeface="JetBrains Mono" pitchFamily="49" charset="-120"/>
              </a:rPr>
              <a:t>Careful: US cars were simply heavier.</a:t>
            </a:r>
            <a:endParaRPr lang="en-US" sz="1185" dirty="0"/>
          </a:p>
        </p:txBody>
      </p:sp>
      <p:graphicFrame>
        <p:nvGraphicFramePr>
          <p:cNvPr id="34" name="Chart 33"/>
          <p:cNvGraphicFramePr>
            <a:graphicFrameLocks noGrp="1"/>
          </p:cNvGraphicFramePr>
          <p:nvPr/>
        </p:nvGraphicFramePr>
        <p:xfrm>
          <a:off x="960120" y="2057400"/>
          <a:ext cx="6492240" cy="3840480"/>
        </p:xfrm>
        <a:graphic>
          <a:graphicData uri="http://schemas.openxmlformats.org/drawingml/2006/chart">
            <c:chart xmlns:c="http://schemas.openxmlformats.org/drawingml/2006/chart" r:id="rId3"/>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18">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5594350" y="254000"/>
            <a:ext cx="5886450" cy="2565400"/>
          </a:xfrm>
          <a:prstGeom prst="rect">
            <a:avLst/>
          </a:prstGeom>
          <a:noFill/>
          <a:ln/>
        </p:spPr>
        <p:txBody>
          <a:bodyPr wrap="square" lIns="0" tIns="0" rIns="0" bIns="0" rtlCol="0" anchor="t">
            <a:normAutofit/>
          </a:bodyPr>
          <a:lstStyle/>
          <a:p>
            <a:pPr algn="r" indent="0" marL="0">
              <a:lnSpc>
                <a:spcPts val="20000"/>
              </a:lnSpc>
              <a:buNone/>
            </a:pPr>
            <a:r>
              <a:rPr lang="en-US" sz="20000" b="1" spc="-600" kern="0" dirty="0">
                <a:solidFill>
                  <a:srgbClr val="000000">
                    <a:alpha val="0"/>
                  </a:srgbClr>
                </a:solidFill>
                <a:latin typeface="Space Grotesk" pitchFamily="34" charset="0"/>
                <a:ea typeface="Space Grotesk" pitchFamily="34" charset="-122"/>
                <a:cs typeface="Space Grotesk" pitchFamily="34" charset="-120"/>
              </a:rPr>
              <a:t>B</a:t>
            </a:r>
            <a:endParaRPr lang="en-US" sz="20000" dirty="0"/>
          </a:p>
        </p:txBody>
      </p:sp>
      <p:sp>
        <p:nvSpPr>
          <p:cNvPr id="3" name="Text 1"/>
          <p:cNvSpPr/>
          <p:nvPr/>
        </p:nvSpPr>
        <p:spPr>
          <a:xfrm>
            <a:off x="812800" y="453707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F7A45"/>
                </a:solidFill>
                <a:latin typeface="JetBrains Mono" pitchFamily="49" charset="0"/>
                <a:ea typeface="JetBrains Mono" pitchFamily="49" charset="-122"/>
                <a:cs typeface="JetBrains Mono" pitchFamily="49" charset="-120"/>
              </a:rPr>
              <a:t>PART B · DATA SCIENTIST</a:t>
            </a:r>
            <a:endParaRPr lang="en-US" sz="1200" dirty="0"/>
          </a:p>
        </p:txBody>
      </p:sp>
      <p:sp>
        <p:nvSpPr>
          <p:cNvPr id="4" name="Text 2"/>
          <p:cNvSpPr/>
          <p:nvPr>
            <p:ph type="title"/>
          </p:nvPr>
        </p:nvSpPr>
        <p:spPr>
          <a:xfrm>
            <a:off x="812800" y="4953595"/>
            <a:ext cx="10881360" cy="647105"/>
          </a:xfrm>
          <a:prstGeom prst="rect">
            <a:avLst/>
          </a:prstGeom>
          <a:noFill/>
          <a:ln/>
        </p:spPr>
        <p:txBody>
          <a:bodyPr wrap="square" lIns="0" tIns="0" rIns="0" bIns="0" rtlCol="0" anchor="t">
            <a:normAutofit/>
          </a:bodyPr>
          <a:lstStyle/>
          <a:p>
            <a:pPr algn="l" indent="0" marL="0">
              <a:lnSpc>
                <a:spcPts val="4896"/>
              </a:lnSpc>
              <a:buNone/>
            </a:pPr>
            <a:r>
              <a:rPr lang="en-US" sz="4800" b="1" i="0" spc="-100" kern="0" dirty="0">
                <a:solidFill>
                  <a:srgbClr val="ECEAE4"/>
                </a:solidFill>
                <a:latin typeface="Space Grotesk" pitchFamily="34" charset="0"/>
                <a:ea typeface="Space Grotesk" pitchFamily="34" charset="-122"/>
                <a:cs typeface="Space Grotesk" pitchFamily="34" charset="-120"/>
              </a:rPr>
              <a:t>From columns to a model</a:t>
            </a:r>
            <a:endParaRPr lang="en-US" sz="4800" dirty="0"/>
          </a:p>
        </p:txBody>
      </p:sp>
      <p:sp>
        <p:nvSpPr>
          <p:cNvPr id="5" name="Text 3"/>
          <p:cNvSpPr/>
          <p:nvPr/>
        </p:nvSpPr>
        <p:spPr>
          <a:xfrm>
            <a:off x="812800" y="5778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3A8B4"/>
                </a:solidFill>
                <a:latin typeface="IBM Plex Sans" pitchFamily="34" charset="0"/>
                <a:ea typeface="IBM Plex Sans" pitchFamily="34" charset="-122"/>
                <a:cs typeface="IBM Plex Sans" pitchFamily="34" charset="-120"/>
              </a:rPr>
              <a:t>Features, split, pipeline, and finally: train.</a:t>
            </a:r>
            <a:endParaRPr lang="en-US" sz="15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19">
    <p:bg>
      <p:bgPr>
        <a:solidFill>
          <a:srgbClr val="F2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2410C"/>
                </a:solidFill>
                <a:latin typeface="JetBrains Mono" pitchFamily="49" charset="0"/>
                <a:ea typeface="JetBrains Mono" pitchFamily="49" charset="-122"/>
                <a:cs typeface="JetBrains Mono" pitchFamily="49" charset="-120"/>
              </a:rPr>
              <a:t>02 · FEATURE ENGINEERING</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181D"/>
                </a:solidFill>
                <a:latin typeface="Space Grotesk" pitchFamily="34" charset="0"/>
                <a:ea typeface="Space Grotesk" pitchFamily="34" charset="-122"/>
                <a:cs typeface="Space Grotesk" pitchFamily="34" charset="-120"/>
              </a:rPr>
              <a:t>From columns to features</a:t>
            </a:r>
            <a:endParaRPr lang="en-US" sz="3200" dirty="0"/>
          </a:p>
        </p:txBody>
      </p:sp>
      <p:sp>
        <p:nvSpPr>
          <p:cNvPr id="4" name="Shape 2"/>
          <p:cNvSpPr/>
          <p:nvPr/>
        </p:nvSpPr>
        <p:spPr>
          <a:xfrm>
            <a:off x="815975" y="1882676"/>
            <a:ext cx="3380284" cy="4159349"/>
          </a:xfrm>
          <a:prstGeom prst="roundRect">
            <a:avLst>
              <a:gd name="adj" fmla="val 4415"/>
            </a:avLst>
          </a:prstGeom>
          <a:solidFill>
            <a:srgbClr val="FBFAF6"/>
          </a:solidFill>
          <a:ln w="6350">
            <a:solidFill>
              <a:srgbClr val="E0DACB"/>
            </a:solidFill>
            <a:prstDash val="solid"/>
          </a:ln>
        </p:spPr>
        <p:txBody>
          <a:bodyPr/>
          <a:p/>
        </p:txBody>
      </p:sp>
      <p:sp>
        <p:nvSpPr>
          <p:cNvPr id="5" name="Text 3"/>
          <p:cNvSpPr/>
          <p:nvPr/>
        </p:nvSpPr>
        <p:spPr>
          <a:xfrm>
            <a:off x="1073150" y="2139851"/>
            <a:ext cx="1244600" cy="264120"/>
          </a:xfrm>
          <a:custGeom>
            <a:avLst/>
            <a:gdLst/>
            <a:ahLst/>
            <a:cxnLst/>
            <a:rect l="l" t="t" r="r" b="b"/>
            <a:pathLst>
              <a:path w="1244600" h="264120">
                <a:moveTo>
                  <a:pt x="132060" y="0"/>
                </a:moveTo>
                <a:lnTo>
                  <a:pt x="1112540" y="0"/>
                </a:lnTo>
                <a:arcTo hR="132060" wR="132060" stAng="16200000" swAng="5400000"/>
                <a:lnTo>
                  <a:pt x="1244600" y="132060"/>
                </a:lnTo>
                <a:arcTo hR="132060" wR="132060" stAng="0" swAng="5400000"/>
                <a:lnTo>
                  <a:pt x="132060" y="264120"/>
                </a:lnTo>
                <a:arcTo hR="132060" wR="132060" stAng="5400000" swAng="5400000"/>
                <a:lnTo>
                  <a:pt x="0" y="132060"/>
                </a:lnTo>
                <a:arcTo hR="132060" wR="132060" stAng="10800000" swAng="5400000"/>
                <a:close/>
              </a:path>
            </a:pathLst>
          </a:custGeom>
          <a:solidFill>
            <a:srgbClr val="C2410C"/>
          </a:solidFill>
          <a:ln/>
        </p:spPr>
        <p:txBody>
          <a:bodyPr wrap="none" lIns="0" tIns="0" rIns="0" bIns="0" rtlCol="0" anchor="ctr">
            <a:normAutofit/>
          </a:bodyPr>
          <a:lstStyle/>
          <a:p>
            <a:pPr algn="ctr" indent="0" marL="0">
              <a:lnSpc>
                <a:spcPts val="1680"/>
              </a:lnSpc>
              <a:buNone/>
            </a:pPr>
            <a:r>
              <a:rPr lang="en-US" sz="1200" b="1" spc="100" kern="0" dirty="0">
                <a:solidFill>
                  <a:srgbClr val="FBFAF6"/>
                </a:solidFill>
                <a:latin typeface="JetBrains Mono" pitchFamily="49" charset="0"/>
                <a:ea typeface="JetBrains Mono" pitchFamily="49" charset="-122"/>
                <a:cs typeface="JetBrains Mono" pitchFamily="49" charset="-120"/>
              </a:rPr>
              <a:t>ENCODE</a:t>
            </a:r>
            <a:endParaRPr lang="en-US" sz="1200" dirty="0"/>
          </a:p>
        </p:txBody>
      </p:sp>
      <p:sp>
        <p:nvSpPr>
          <p:cNvPr id="6" name="Text 4"/>
          <p:cNvSpPr/>
          <p:nvPr/>
        </p:nvSpPr>
        <p:spPr>
          <a:xfrm>
            <a:off x="1073150" y="2530971"/>
            <a:ext cx="2951912" cy="685800"/>
          </a:xfrm>
          <a:prstGeom prst="rect">
            <a:avLst/>
          </a:prstGeom>
          <a:noFill/>
          <a:ln/>
        </p:spPr>
        <p:txBody>
          <a:bodyPr wrap="square" lIns="0" tIns="0" rIns="0" bIns="0" rtlCol="0" anchor="t"/>
          <a:lstStyle/>
          <a:p>
            <a:pPr algn="l" indent="0" marL="0">
              <a:lnSpc>
                <a:spcPts val="2400"/>
              </a:lnSpc>
              <a:buNone/>
            </a:pPr>
            <a:r>
              <a:rPr lang="en-US" sz="2000" b="1" dirty="0">
                <a:solidFill>
                  <a:srgbClr val="16181D"/>
                </a:solidFill>
                <a:latin typeface="Space Grotesk" pitchFamily="34" charset="0"/>
                <a:ea typeface="Space Grotesk" pitchFamily="34" charset="-122"/>
                <a:cs typeface="Space Grotesk" pitchFamily="34" charset="-120"/>
              </a:rPr>
              <a:t>origin → three columns</a:t>
            </a:r>
            <a:endParaRPr lang="en-US" sz="2000" dirty="0"/>
          </a:p>
        </p:txBody>
      </p:sp>
      <p:sp>
        <p:nvSpPr>
          <p:cNvPr id="7" name="Text 5"/>
          <p:cNvSpPr/>
          <p:nvPr/>
        </p:nvSpPr>
        <p:spPr>
          <a:xfrm>
            <a:off x="1073150" y="3291840"/>
            <a:ext cx="2953512" cy="7315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45A66"/>
                </a:solidFill>
                <a:latin typeface="IBM Plex Sans" pitchFamily="34" charset="0"/>
                <a:ea typeface="IBM Plex Sans" pitchFamily="34" charset="-122"/>
                <a:cs typeface="IBM Plex Sans" pitchFamily="34" charset="-120"/>
              </a:rPr>
              <a:t>Models only understand numbers. One-hot: usa, europe, japan, each 0 or 1.</a:t>
            </a:r>
            <a:endParaRPr lang="en-US" sz="1200" dirty="0"/>
          </a:p>
        </p:txBody>
      </p:sp>
      <p:sp>
        <p:nvSpPr>
          <p:cNvPr id="8" name="Text 6"/>
          <p:cNvSpPr/>
          <p:nvPr/>
        </p:nvSpPr>
        <p:spPr>
          <a:xfrm>
            <a:off x="1073150" y="4160520"/>
            <a:ext cx="29519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45A66"/>
                </a:solidFill>
                <a:latin typeface="JetBrains Mono" pitchFamily="49" charset="0"/>
                <a:ea typeface="JetBrains Mono" pitchFamily="49" charset="-122"/>
                <a:cs typeface="JetBrains Mono" pitchFamily="49" charset="-120"/>
              </a:rPr>
              <a:t>IN CODE</a:t>
            </a:r>
            <a:endParaRPr lang="en-US" sz="1200" dirty="0"/>
          </a:p>
        </p:txBody>
      </p:sp>
      <p:sp>
        <p:nvSpPr>
          <p:cNvPr id="9" name="Text 7"/>
          <p:cNvSpPr/>
          <p:nvPr/>
        </p:nvSpPr>
        <p:spPr>
          <a:xfrm>
            <a:off x="1073150" y="4480560"/>
            <a:ext cx="295191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6181D"/>
                </a:solidFill>
                <a:latin typeface="IBM Plex Sans" pitchFamily="34" charset="0"/>
                <a:ea typeface="IBM Plex Sans" pitchFamily="34" charset="-122"/>
                <a:cs typeface="IBM Plex Sans" pitchFamily="34" charset="-120"/>
              </a:rPr>
              <a:t>OneHotEncoder()</a:t>
            </a:r>
            <a:endParaRPr lang="en-US" sz="1200" dirty="0"/>
          </a:p>
        </p:txBody>
      </p:sp>
      <p:sp>
        <p:nvSpPr>
          <p:cNvPr id="10" name="Shape 8"/>
          <p:cNvSpPr/>
          <p:nvPr/>
        </p:nvSpPr>
        <p:spPr>
          <a:xfrm>
            <a:off x="1073150" y="5441355"/>
            <a:ext cx="2865934" cy="0"/>
          </a:xfrm>
          <a:prstGeom prst="line">
            <a:avLst/>
          </a:prstGeom>
          <a:noFill/>
          <a:ln w="6350">
            <a:solidFill>
              <a:srgbClr val="E0DACB"/>
            </a:solidFill>
            <a:prstDash val="solid"/>
          </a:ln>
        </p:spPr>
        <p:txBody>
          <a:bodyPr/>
          <a:p/>
        </p:txBody>
      </p:sp>
      <p:sp>
        <p:nvSpPr>
          <p:cNvPr id="11" name="Text 9"/>
          <p:cNvSpPr/>
          <p:nvPr/>
        </p:nvSpPr>
        <p:spPr>
          <a:xfrm>
            <a:off x="1073150" y="5571530"/>
            <a:ext cx="29519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Never usa=1, europe=2, japan=3</a:t>
            </a:r>
            <a:endParaRPr lang="en-US" sz="1200" dirty="0"/>
          </a:p>
        </p:txBody>
      </p:sp>
      <p:sp>
        <p:nvSpPr>
          <p:cNvPr id="12" name="Shape 10"/>
          <p:cNvSpPr/>
          <p:nvPr/>
        </p:nvSpPr>
        <p:spPr>
          <a:xfrm>
            <a:off x="4405809" y="1882676"/>
            <a:ext cx="3380383" cy="4159349"/>
          </a:xfrm>
          <a:prstGeom prst="roundRect">
            <a:avLst>
              <a:gd name="adj" fmla="val 4414"/>
            </a:avLst>
          </a:prstGeom>
          <a:solidFill>
            <a:srgbClr val="FBFAF6"/>
          </a:solidFill>
          <a:ln w="6350">
            <a:solidFill>
              <a:srgbClr val="E0DACB"/>
            </a:solidFill>
            <a:prstDash val="solid"/>
          </a:ln>
        </p:spPr>
        <p:txBody>
          <a:bodyPr/>
          <a:p/>
        </p:txBody>
      </p:sp>
      <p:sp>
        <p:nvSpPr>
          <p:cNvPr id="13" name="Text 11"/>
          <p:cNvSpPr/>
          <p:nvPr/>
        </p:nvSpPr>
        <p:spPr>
          <a:xfrm>
            <a:off x="4662984" y="2139851"/>
            <a:ext cx="1452959" cy="264120"/>
          </a:xfrm>
          <a:custGeom>
            <a:avLst/>
            <a:gdLst/>
            <a:ahLst/>
            <a:cxnLst/>
            <a:rect l="l" t="t" r="r" b="b"/>
            <a:pathLst>
              <a:path w="1452959" h="264120">
                <a:moveTo>
                  <a:pt x="132060" y="0"/>
                </a:moveTo>
                <a:lnTo>
                  <a:pt x="1320899" y="0"/>
                </a:lnTo>
                <a:arcTo hR="132060" wR="132060" stAng="16200000" swAng="5400000"/>
                <a:lnTo>
                  <a:pt x="1452959" y="132060"/>
                </a:lnTo>
                <a:arcTo hR="132060" wR="132060" stAng="0" swAng="5400000"/>
                <a:lnTo>
                  <a:pt x="132060" y="264120"/>
                </a:lnTo>
                <a:arcTo hR="132060" wR="132060" stAng="5400000" swAng="5400000"/>
                <a:lnTo>
                  <a:pt x="0" y="132060"/>
                </a:lnTo>
                <a:arcTo hR="132060" wR="132060" stAng="10800000" swAng="5400000"/>
                <a:close/>
              </a:path>
            </a:pathLst>
          </a:custGeom>
          <a:solidFill>
            <a:srgbClr val="1D5FD6"/>
          </a:solidFill>
          <a:ln/>
        </p:spPr>
        <p:txBody>
          <a:bodyPr wrap="none" lIns="0" tIns="0" rIns="0" bIns="0" rtlCol="0" anchor="ctr">
            <a:normAutofit/>
          </a:bodyPr>
          <a:lstStyle/>
          <a:p>
            <a:pPr algn="ctr" indent="0" marL="0">
              <a:lnSpc>
                <a:spcPts val="1680"/>
              </a:lnSpc>
              <a:buNone/>
            </a:pPr>
            <a:r>
              <a:rPr lang="en-US" sz="1200" b="1" spc="100" kern="0" dirty="0">
                <a:solidFill>
                  <a:srgbClr val="FBFAF6"/>
                </a:solidFill>
                <a:latin typeface="JetBrains Mono" pitchFamily="49" charset="0"/>
                <a:ea typeface="JetBrains Mono" pitchFamily="49" charset="-122"/>
                <a:cs typeface="JetBrains Mono" pitchFamily="49" charset="-120"/>
              </a:rPr>
              <a:t>DROP</a:t>
            </a:r>
            <a:endParaRPr lang="en-US" sz="1200" dirty="0"/>
          </a:p>
        </p:txBody>
      </p:sp>
      <p:sp>
        <p:nvSpPr>
          <p:cNvPr id="14" name="Text 12"/>
          <p:cNvSpPr/>
          <p:nvPr/>
        </p:nvSpPr>
        <p:spPr>
          <a:xfrm>
            <a:off x="4662984" y="2530971"/>
            <a:ext cx="2952014" cy="685800"/>
          </a:xfrm>
          <a:prstGeom prst="rect">
            <a:avLst/>
          </a:prstGeom>
          <a:noFill/>
          <a:ln/>
        </p:spPr>
        <p:txBody>
          <a:bodyPr wrap="square" lIns="0" tIns="0" rIns="0" bIns="0" rtlCol="0" anchor="t"/>
          <a:lstStyle/>
          <a:p>
            <a:pPr algn="l" indent="0" marL="0">
              <a:lnSpc>
                <a:spcPts val="2400"/>
              </a:lnSpc>
              <a:buNone/>
            </a:pPr>
            <a:r>
              <a:rPr lang="en-US" sz="2000" b="1" dirty="0">
                <a:solidFill>
                  <a:srgbClr val="16181D"/>
                </a:solidFill>
                <a:latin typeface="Space Grotesk" pitchFamily="34" charset="0"/>
                <a:ea typeface="Space Grotesk" pitchFamily="34" charset="-122"/>
                <a:cs typeface="Space Grotesk" pitchFamily="34" charset="-120"/>
              </a:rPr>
              <a:t>name goes</a:t>
            </a:r>
            <a:endParaRPr lang="en-US" sz="2000" dirty="0"/>
          </a:p>
        </p:txBody>
      </p:sp>
      <p:sp>
        <p:nvSpPr>
          <p:cNvPr id="15" name="Text 13"/>
          <p:cNvSpPr/>
          <p:nvPr/>
        </p:nvSpPr>
        <p:spPr>
          <a:xfrm>
            <a:off x="4662984" y="3291840"/>
            <a:ext cx="2953512" cy="7315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45A66"/>
                </a:solidFill>
                <a:latin typeface="IBM Plex Sans" pitchFamily="34" charset="0"/>
                <a:ea typeface="IBM Plex Sans" pitchFamily="34" charset="-122"/>
                <a:cs typeface="IBM Plex Sans" pitchFamily="34" charset="-120"/>
              </a:rPr>
              <a:t>305 different names for 398 cars. There is no pattern to learn, only noise.</a:t>
            </a:r>
            <a:endParaRPr lang="en-US" sz="1200" dirty="0"/>
          </a:p>
        </p:txBody>
      </p:sp>
      <p:sp>
        <p:nvSpPr>
          <p:cNvPr id="16" name="Text 14"/>
          <p:cNvSpPr/>
          <p:nvPr/>
        </p:nvSpPr>
        <p:spPr>
          <a:xfrm>
            <a:off x="4662984" y="4160520"/>
            <a:ext cx="295201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45A66"/>
                </a:solidFill>
                <a:latin typeface="JetBrains Mono" pitchFamily="49" charset="0"/>
                <a:ea typeface="JetBrains Mono" pitchFamily="49" charset="-122"/>
                <a:cs typeface="JetBrains Mono" pitchFamily="49" charset="-120"/>
              </a:rPr>
              <a:t>IN CODE</a:t>
            </a:r>
            <a:endParaRPr lang="en-US" sz="1200" dirty="0"/>
          </a:p>
        </p:txBody>
      </p:sp>
      <p:sp>
        <p:nvSpPr>
          <p:cNvPr id="17" name="Text 15"/>
          <p:cNvSpPr/>
          <p:nvPr/>
        </p:nvSpPr>
        <p:spPr>
          <a:xfrm>
            <a:off x="4662984" y="4480560"/>
            <a:ext cx="2952014"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6181D"/>
                </a:solidFill>
                <a:latin typeface="IBM Plex Sans" pitchFamily="34" charset="0"/>
                <a:ea typeface="IBM Plex Sans" pitchFamily="34" charset="-122"/>
                <a:cs typeface="IBM Plex Sans" pitchFamily="34" charset="-120"/>
              </a:rPr>
              <a:t>df.drop(columns=["name"])</a:t>
            </a:r>
            <a:endParaRPr lang="en-US" sz="1200" dirty="0"/>
          </a:p>
        </p:txBody>
      </p:sp>
      <p:sp>
        <p:nvSpPr>
          <p:cNvPr id="18" name="Shape 16"/>
          <p:cNvSpPr/>
          <p:nvPr/>
        </p:nvSpPr>
        <p:spPr>
          <a:xfrm>
            <a:off x="4662984" y="5441355"/>
            <a:ext cx="2866033" cy="0"/>
          </a:xfrm>
          <a:prstGeom prst="line">
            <a:avLst/>
          </a:prstGeom>
          <a:noFill/>
          <a:ln w="6350">
            <a:solidFill>
              <a:srgbClr val="E0DACB"/>
            </a:solidFill>
            <a:prstDash val="solid"/>
          </a:ln>
        </p:spPr>
        <p:txBody>
          <a:bodyPr/>
          <a:p/>
        </p:txBody>
      </p:sp>
      <p:sp>
        <p:nvSpPr>
          <p:cNvPr id="19" name="Text 17"/>
          <p:cNvSpPr/>
          <p:nvPr/>
        </p:nvSpPr>
        <p:spPr>
          <a:xfrm>
            <a:off x="4662984" y="5571530"/>
            <a:ext cx="29520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Less is often more</a:t>
            </a:r>
            <a:endParaRPr lang="en-US" sz="1200" dirty="0"/>
          </a:p>
        </p:txBody>
      </p:sp>
      <p:sp>
        <p:nvSpPr>
          <p:cNvPr id="20" name="Shape 18"/>
          <p:cNvSpPr/>
          <p:nvPr/>
        </p:nvSpPr>
        <p:spPr>
          <a:xfrm>
            <a:off x="7995741" y="1882676"/>
            <a:ext cx="3380284" cy="4159349"/>
          </a:xfrm>
          <a:prstGeom prst="roundRect">
            <a:avLst>
              <a:gd name="adj" fmla="val 4415"/>
            </a:avLst>
          </a:prstGeom>
          <a:solidFill>
            <a:srgbClr val="FBFAF6"/>
          </a:solidFill>
          <a:ln w="6350">
            <a:solidFill>
              <a:srgbClr val="E0DACB"/>
            </a:solidFill>
            <a:prstDash val="solid"/>
          </a:ln>
        </p:spPr>
        <p:txBody>
          <a:bodyPr/>
          <a:p/>
        </p:txBody>
      </p:sp>
      <p:sp>
        <p:nvSpPr>
          <p:cNvPr id="21" name="Text 19"/>
          <p:cNvSpPr/>
          <p:nvPr/>
        </p:nvSpPr>
        <p:spPr>
          <a:xfrm>
            <a:off x="8252916" y="2139851"/>
            <a:ext cx="1557040" cy="264120"/>
          </a:xfrm>
          <a:custGeom>
            <a:avLst/>
            <a:gdLst/>
            <a:ahLst/>
            <a:cxnLst/>
            <a:rect l="l" t="t" r="r" b="b"/>
            <a:pathLst>
              <a:path w="1557040" h="264120">
                <a:moveTo>
                  <a:pt x="132060" y="0"/>
                </a:moveTo>
                <a:lnTo>
                  <a:pt x="1424980" y="0"/>
                </a:lnTo>
                <a:arcTo hR="132060" wR="132060" stAng="16200000" swAng="5400000"/>
                <a:lnTo>
                  <a:pt x="1557040" y="132060"/>
                </a:lnTo>
                <a:arcTo hR="132060" wR="132060" stAng="0" swAng="5400000"/>
                <a:lnTo>
                  <a:pt x="132060" y="264120"/>
                </a:lnTo>
                <a:arcTo hR="132060" wR="132060" stAng="5400000" swAng="5400000"/>
                <a:lnTo>
                  <a:pt x="0" y="132060"/>
                </a:lnTo>
                <a:arcTo hR="132060" wR="132060" stAng="10800000" swAng="5400000"/>
                <a:close/>
              </a:path>
            </a:pathLst>
          </a:custGeom>
          <a:solidFill>
            <a:srgbClr val="2F855A"/>
          </a:solidFill>
          <a:ln/>
        </p:spPr>
        <p:txBody>
          <a:bodyPr wrap="none" lIns="0" tIns="0" rIns="0" bIns="0" rtlCol="0" anchor="ctr">
            <a:normAutofit/>
          </a:bodyPr>
          <a:lstStyle/>
          <a:p>
            <a:pPr algn="ctr" indent="0" marL="0">
              <a:lnSpc>
                <a:spcPts val="1680"/>
              </a:lnSpc>
              <a:buNone/>
            </a:pPr>
            <a:r>
              <a:rPr lang="en-US" sz="1200" b="1" spc="100" kern="0" dirty="0">
                <a:solidFill>
                  <a:srgbClr val="FBFAF6"/>
                </a:solidFill>
                <a:latin typeface="JetBrains Mono" pitchFamily="49" charset="0"/>
                <a:ea typeface="JetBrains Mono" pitchFamily="49" charset="-122"/>
                <a:cs typeface="JetBrains Mono" pitchFamily="49" charset="-120"/>
              </a:rPr>
              <a:t>CREATE</a:t>
            </a:r>
            <a:endParaRPr lang="en-US" sz="1200" dirty="0"/>
          </a:p>
        </p:txBody>
      </p:sp>
      <p:sp>
        <p:nvSpPr>
          <p:cNvPr id="22" name="Text 20"/>
          <p:cNvSpPr/>
          <p:nvPr/>
        </p:nvSpPr>
        <p:spPr>
          <a:xfrm>
            <a:off x="8252916" y="2530971"/>
            <a:ext cx="2951912" cy="685800"/>
          </a:xfrm>
          <a:prstGeom prst="rect">
            <a:avLst/>
          </a:prstGeom>
          <a:noFill/>
          <a:ln/>
        </p:spPr>
        <p:txBody>
          <a:bodyPr wrap="square" lIns="0" tIns="0" rIns="0" bIns="0" rtlCol="0" anchor="t"/>
          <a:lstStyle/>
          <a:p>
            <a:pPr algn="l" indent="0" marL="0">
              <a:lnSpc>
                <a:spcPts val="2400"/>
              </a:lnSpc>
              <a:buNone/>
            </a:pPr>
            <a:r>
              <a:rPr lang="en-US" sz="2000" b="1" dirty="0">
                <a:solidFill>
                  <a:srgbClr val="16181D"/>
                </a:solidFill>
                <a:latin typeface="Space Grotesk" pitchFamily="34" charset="0"/>
                <a:ea typeface="Space Grotesk" pitchFamily="34" charset="-122"/>
                <a:cs typeface="Space Grotesk" pitchFamily="34" charset="-120"/>
              </a:rPr>
              <a:t>power_to_weight</a:t>
            </a:r>
            <a:endParaRPr lang="en-US" sz="2000" dirty="0"/>
          </a:p>
        </p:txBody>
      </p:sp>
      <p:sp>
        <p:nvSpPr>
          <p:cNvPr id="23" name="Text 21"/>
          <p:cNvSpPr/>
          <p:nvPr/>
        </p:nvSpPr>
        <p:spPr>
          <a:xfrm>
            <a:off x="8252916" y="3291840"/>
            <a:ext cx="2953512" cy="7315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45A66"/>
                </a:solidFill>
                <a:latin typeface="IBM Plex Sans" pitchFamily="34" charset="0"/>
                <a:ea typeface="IBM Plex Sans" pitchFamily="34" charset="-122"/>
                <a:cs typeface="IBM Plex Sans" pitchFamily="34" charset="-120"/>
              </a:rPr>
              <a:t>horsepower ÷ weight. Your own idea, written down as a new column.</a:t>
            </a:r>
            <a:endParaRPr lang="en-US" sz="1200" dirty="0"/>
          </a:p>
        </p:txBody>
      </p:sp>
      <p:sp>
        <p:nvSpPr>
          <p:cNvPr id="24" name="Text 22"/>
          <p:cNvSpPr/>
          <p:nvPr/>
        </p:nvSpPr>
        <p:spPr>
          <a:xfrm>
            <a:off x="8252916" y="4160520"/>
            <a:ext cx="29519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45A66"/>
                </a:solidFill>
                <a:latin typeface="JetBrains Mono" pitchFamily="49" charset="0"/>
                <a:ea typeface="JetBrains Mono" pitchFamily="49" charset="-122"/>
                <a:cs typeface="JetBrains Mono" pitchFamily="49" charset="-120"/>
              </a:rPr>
              <a:t>IN CODE</a:t>
            </a:r>
            <a:endParaRPr lang="en-US" sz="1200" dirty="0"/>
          </a:p>
        </p:txBody>
      </p:sp>
      <p:sp>
        <p:nvSpPr>
          <p:cNvPr id="25" name="Text 23"/>
          <p:cNvSpPr/>
          <p:nvPr/>
        </p:nvSpPr>
        <p:spPr>
          <a:xfrm>
            <a:off x="8252916" y="4480560"/>
            <a:ext cx="295191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6181D"/>
                </a:solidFill>
                <a:latin typeface="IBM Plex Sans" pitchFamily="34" charset="0"/>
                <a:ea typeface="IBM Plex Sans" pitchFamily="34" charset="-122"/>
                <a:cs typeface="IBM Plex Sans" pitchFamily="34" charset="-120"/>
              </a:rPr>
              <a:t>df.hp / df.weight</a:t>
            </a:r>
            <a:endParaRPr lang="en-US" sz="1200" dirty="0"/>
          </a:p>
        </p:txBody>
      </p:sp>
      <p:sp>
        <p:nvSpPr>
          <p:cNvPr id="26" name="Shape 24"/>
          <p:cNvSpPr/>
          <p:nvPr/>
        </p:nvSpPr>
        <p:spPr>
          <a:xfrm>
            <a:off x="8252916" y="5441355"/>
            <a:ext cx="2865934" cy="0"/>
          </a:xfrm>
          <a:prstGeom prst="line">
            <a:avLst/>
          </a:prstGeom>
          <a:noFill/>
          <a:ln w="6350">
            <a:solidFill>
              <a:srgbClr val="E0DACB"/>
            </a:solidFill>
            <a:prstDash val="solid"/>
          </a:ln>
        </p:spPr>
        <p:txBody>
          <a:bodyPr/>
          <a:p/>
        </p:txBody>
      </p:sp>
      <p:sp>
        <p:nvSpPr>
          <p:cNvPr id="27" name="Text 25"/>
          <p:cNvSpPr/>
          <p:nvPr/>
        </p:nvSpPr>
        <p:spPr>
          <a:xfrm>
            <a:off x="8252916" y="5571530"/>
            <a:ext cx="29519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Domain knowledge in a column</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17">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F7A45"/>
                </a:solidFill>
                <a:latin typeface="JetBrains Mono" pitchFamily="49" charset="0"/>
                <a:ea typeface="JetBrains Mono" pitchFamily="49" charset="-122"/>
                <a:cs typeface="JetBrains Mono" pitchFamily="49" charset="-120"/>
              </a:rPr>
              <a:t>02 · FEATURE ENGINEERING · STOCK APP</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ECEAE4"/>
                </a:solidFill>
                <a:latin typeface="Space Grotesk" pitchFamily="34" charset="0"/>
                <a:ea typeface="Space Grotesk" pitchFamily="34" charset="-122"/>
                <a:cs typeface="Space Grotesk" pitchFamily="34" charset="-120"/>
              </a:rPr>
              <a:t>Our Stock App features are home-made too</a:t>
            </a:r>
            <a:endParaRPr lang="en-US" sz="3200" dirty="0"/>
          </a:p>
        </p:txBody>
      </p:sp>
      <p:sp>
        <p:nvSpPr>
          <p:cNvPr id="4" name="Shape 2"/>
          <p:cNvSpPr/>
          <p:nvPr/>
        </p:nvSpPr>
        <p:spPr>
          <a:xfrm>
            <a:off x="815975" y="1831876"/>
            <a:ext cx="6750050" cy="4210149"/>
          </a:xfrm>
          <a:prstGeom prst="roundRect">
            <a:avLst>
              <a:gd name="adj" fmla="val 3544"/>
            </a:avLst>
          </a:prstGeom>
          <a:solidFill>
            <a:srgbClr val="171B23"/>
          </a:solidFill>
          <a:ln w="6350">
            <a:solidFill>
              <a:srgbClr val="2A2F3A"/>
            </a:solidFill>
            <a:prstDash val="solid"/>
          </a:ln>
        </p:spPr>
        <p:txBody>
          <a:bodyPr/>
          <a:p/>
        </p:txBody>
      </p:sp>
      <p:sp>
        <p:nvSpPr>
          <p:cNvPr id="5" name="Shape 3"/>
          <p:cNvSpPr/>
          <p:nvPr/>
        </p:nvSpPr>
        <p:spPr>
          <a:xfrm>
            <a:off x="819150" y="1835051"/>
            <a:ext cx="6743700" cy="422870"/>
          </a:xfrm>
          <a:custGeom>
            <a:avLst/>
            <a:gdLst/>
            <a:ahLst/>
            <a:cxnLst/>
            <a:rect l="l" t="t" r="r" b="b"/>
            <a:pathLst>
              <a:path w="6743700" h="422870">
                <a:moveTo>
                  <a:pt x="0" y="416520"/>
                </a:moveTo>
                <a:lnTo>
                  <a:pt x="6743700" y="416520"/>
                </a:lnTo>
                <a:lnTo>
                  <a:pt x="6743700" y="422870"/>
                </a:lnTo>
                <a:lnTo>
                  <a:pt x="0" y="422870"/>
                </a:lnTo>
                <a:lnTo>
                  <a:pt x="0" y="416520"/>
                </a:lnTo>
                <a:close/>
              </a:path>
            </a:pathLst>
          </a:custGeom>
          <a:solidFill>
            <a:srgbClr val="2A2F3A"/>
          </a:solidFill>
          <a:ln/>
        </p:spPr>
        <p:txBody>
          <a:bodyPr/>
          <a:p/>
        </p:txBody>
      </p:sp>
      <p:sp>
        <p:nvSpPr>
          <p:cNvPr id="6" name="Shape 4"/>
          <p:cNvSpPr/>
          <p:nvPr/>
        </p:nvSpPr>
        <p:spPr>
          <a:xfrm>
            <a:off x="996950" y="1998861"/>
            <a:ext cx="88900" cy="88900"/>
          </a:xfrm>
          <a:prstGeom prst="roundRect">
            <a:avLst>
              <a:gd name="adj" fmla="val 50000"/>
            </a:avLst>
          </a:prstGeom>
          <a:solidFill>
            <a:srgbClr val="3A404D"/>
          </a:solidFill>
          <a:ln/>
        </p:spPr>
        <p:txBody>
          <a:bodyPr/>
          <a:p/>
        </p:txBody>
      </p:sp>
      <p:sp>
        <p:nvSpPr>
          <p:cNvPr id="7" name="Shape 5"/>
          <p:cNvSpPr/>
          <p:nvPr/>
        </p:nvSpPr>
        <p:spPr>
          <a:xfrm>
            <a:off x="1162050" y="1998861"/>
            <a:ext cx="88900" cy="88900"/>
          </a:xfrm>
          <a:prstGeom prst="roundRect">
            <a:avLst>
              <a:gd name="adj" fmla="val 50000"/>
            </a:avLst>
          </a:prstGeom>
          <a:solidFill>
            <a:srgbClr val="3A404D"/>
          </a:solidFill>
          <a:ln/>
        </p:spPr>
        <p:txBody>
          <a:bodyPr/>
          <a:p/>
        </p:txBody>
      </p:sp>
      <p:sp>
        <p:nvSpPr>
          <p:cNvPr id="8" name="Shape 6"/>
          <p:cNvSpPr/>
          <p:nvPr/>
        </p:nvSpPr>
        <p:spPr>
          <a:xfrm>
            <a:off x="1327150" y="1998861"/>
            <a:ext cx="88900" cy="88900"/>
          </a:xfrm>
          <a:prstGeom prst="roundRect">
            <a:avLst>
              <a:gd name="adj" fmla="val 50000"/>
            </a:avLst>
          </a:prstGeom>
          <a:solidFill>
            <a:srgbClr val="3A404D"/>
          </a:solidFill>
          <a:ln/>
        </p:spPr>
        <p:txBody>
          <a:bodyPr/>
          <a:p/>
        </p:txBody>
      </p:sp>
      <p:sp>
        <p:nvSpPr>
          <p:cNvPr id="9" name="Text 7"/>
          <p:cNvSpPr/>
          <p:nvPr/>
        </p:nvSpPr>
        <p:spPr>
          <a:xfrm>
            <a:off x="1568450" y="1936651"/>
            <a:ext cx="6584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2A3"/>
                </a:solidFill>
                <a:latin typeface="JetBrains Mono" pitchFamily="49" charset="0"/>
                <a:ea typeface="JetBrains Mono" pitchFamily="49" charset="-122"/>
                <a:cs typeface="JetBrains Mono" pitchFamily="49" charset="-120"/>
              </a:rPr>
              <a:t>features.py</a:t>
            </a:r>
            <a:endParaRPr lang="en-US" sz="1200" dirty="0"/>
          </a:p>
        </p:txBody>
      </p:sp>
      <p:sp>
        <p:nvSpPr>
          <p:cNvPr id="10" name="Text 8"/>
          <p:cNvSpPr/>
          <p:nvPr/>
        </p:nvSpPr>
        <p:spPr>
          <a:xfrm>
            <a:off x="6750050" y="1923951"/>
            <a:ext cx="635000" cy="238720"/>
          </a:xfrm>
          <a:custGeom>
            <a:avLst/>
            <a:gdLst/>
            <a:ahLst/>
            <a:cxnLst/>
            <a:rect l="l" t="t" r="r" b="b"/>
            <a:pathLst>
              <a:path w="635000" h="238720">
                <a:moveTo>
                  <a:pt x="119360" y="0"/>
                </a:moveTo>
                <a:lnTo>
                  <a:pt x="515640" y="0"/>
                </a:lnTo>
                <a:arcTo hR="119360" wR="119360" stAng="16200000" swAng="5400000"/>
                <a:lnTo>
                  <a:pt x="635000" y="119360"/>
                </a:lnTo>
                <a:arcTo hR="119360" wR="119360" stAng="0" swAng="5400000"/>
                <a:lnTo>
                  <a:pt x="119360" y="238720"/>
                </a:lnTo>
                <a:arcTo hR="119360" wR="119360" stAng="5400000" swAng="5400000"/>
                <a:lnTo>
                  <a:pt x="0" y="119360"/>
                </a:lnTo>
                <a:arcTo hR="119360" wR="119360" stAng="10800000" swAng="5400000"/>
                <a:close/>
              </a:path>
            </a:pathLst>
          </a:custGeom>
          <a:solidFill>
            <a:srgbClr val="F5B83D"/>
          </a:solidFill>
          <a:ln/>
        </p:spPr>
        <p:txBody>
          <a:bodyPr wrap="none" lIns="0" tIns="0" rIns="0" bIns="0" rtlCol="0" anchor="ctr">
            <a:normAutofit/>
          </a:bodyPr>
          <a:lstStyle/>
          <a:p>
            <a:pPr algn="ctr" indent="0" marL="0">
              <a:lnSpc>
                <a:spcPts val="1680"/>
              </a:lnSpc>
              <a:buNone/>
            </a:pPr>
            <a:r>
              <a:rPr lang="en-US" sz="1200" b="1" dirty="0">
                <a:solidFill>
                  <a:srgbClr val="0F1115"/>
                </a:solidFill>
                <a:latin typeface="JetBrains Mono" pitchFamily="49" charset="0"/>
                <a:ea typeface="JetBrains Mono" pitchFamily="49" charset="-122"/>
                <a:cs typeface="JetBrains Mono" pitchFamily="49" charset="-120"/>
              </a:rPr>
              <a:t>pandas</a:t>
            </a:r>
            <a:endParaRPr lang="en-US" sz="1200" dirty="0"/>
          </a:p>
        </p:txBody>
      </p:sp>
      <p:sp>
        <p:nvSpPr>
          <p:cNvPr id="11" name="Text 9"/>
          <p:cNvSpPr/>
          <p:nvPr/>
        </p:nvSpPr>
        <p:spPr>
          <a:xfrm>
            <a:off x="1047750" y="2514600"/>
            <a:ext cx="6475095" cy="3429000"/>
          </a:xfrm>
          <a:prstGeom prst="rect">
            <a:avLst/>
          </a:prstGeom>
          <a:noFill/>
          <a:ln/>
        </p:spPr>
        <p:txBody>
          <a:bodyPr wrap="square" lIns="0" tIns="0" rIns="0" bIns="0" rtlCol="0" anchor="t"/>
          <a:lstStyle/>
          <a:p>
            <a:pPr algn="l" indent="0" marL="0">
              <a:lnSpc>
                <a:spcPts val="1750"/>
              </a:lnSpc>
              <a:buNone/>
            </a:pPr>
            <a:r>
              <a:rPr lang="en-US" sz="1300" dirty="0">
                <a:solidFill>
                  <a:srgbClr val="8A92A3"/>
                </a:solidFill>
                <a:latin typeface="JetBrains Mono" pitchFamily="49" charset="0"/>
                <a:ea typeface="JetBrains Mono" pitchFamily="49" charset="-122"/>
                <a:cs typeface="JetBrains Mono" pitchFamily="49" charset="-120"/>
              </a:rPr>
              <a:t># raw data: one closing price per day</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df[</a:t>
            </a:r>
            <a:r>
              <a:rPr lang="en-US" sz="1300" dirty="0">
                <a:solidFill>
                  <a:srgbClr val="A6E3A1"/>
                </a:solidFill>
                <a:latin typeface="JetBrains Mono" pitchFamily="49" charset="0"/>
                <a:ea typeface="JetBrains Mono" pitchFamily="49" charset="-122"/>
                <a:cs typeface="JetBrains Mono" pitchFamily="49" charset="-120"/>
              </a:rPr>
              <a:t>"ret"</a:t>
            </a:r>
            <a:r>
              <a:rPr lang="en-US" sz="1300" dirty="0">
                <a:solidFill>
                  <a:srgbClr val="E6E4DD"/>
                </a:solidFill>
                <a:latin typeface="JetBrains Mono" pitchFamily="49" charset="0"/>
                <a:ea typeface="JetBrains Mono" pitchFamily="49" charset="-122"/>
                <a:cs typeface="JetBrains Mono" pitchFamily="49" charset="-120"/>
              </a:rPr>
              <a:t>]   = df[</a:t>
            </a:r>
            <a:r>
              <a:rPr lang="en-US" sz="1300" dirty="0">
                <a:solidFill>
                  <a:srgbClr val="A6E3A1"/>
                </a:solidFill>
                <a:latin typeface="JetBrains Mono" pitchFamily="49" charset="0"/>
                <a:ea typeface="JetBrains Mono" pitchFamily="49" charset="-122"/>
                <a:cs typeface="JetBrains Mono" pitchFamily="49" charset="-120"/>
              </a:rPr>
              <a:t>"close"</a:t>
            </a:r>
            <a:r>
              <a:rPr lang="en-US" sz="1300" dirty="0">
                <a:solidFill>
                  <a:srgbClr val="E6E4DD"/>
                </a:solidFill>
                <a:latin typeface="JetBrains Mono" pitchFamily="49" charset="0"/>
                <a:ea typeface="JetBrains Mono" pitchFamily="49" charset="-122"/>
                <a:cs typeface="JetBrains Mono" pitchFamily="49" charset="-120"/>
              </a:rPr>
              <a:t>].</a:t>
            </a:r>
            <a:r>
              <a:rPr lang="en-US" sz="1300" dirty="0">
                <a:solidFill>
                  <a:srgbClr val="8EC9FF"/>
                </a:solidFill>
                <a:latin typeface="JetBrains Mono" pitchFamily="49" charset="0"/>
                <a:ea typeface="JetBrains Mono" pitchFamily="49" charset="-122"/>
                <a:cs typeface="JetBrains Mono" pitchFamily="49" charset="-120"/>
              </a:rPr>
              <a:t>pct_change</a:t>
            </a:r>
            <a:r>
              <a:rPr lang="en-US" sz="1300" dirty="0">
                <a:solidFill>
                  <a:srgbClr val="E6E4DD"/>
                </a:solidFill>
                <a:latin typeface="JetBrains Mono" pitchFamily="49" charset="0"/>
                <a:ea typeface="JetBrains Mono" pitchFamily="49" charset="-122"/>
                <a:cs typeface="JetBrains Mono" pitchFamily="49" charset="-120"/>
              </a:rPr>
              <a:t>()</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df[</a:t>
            </a:r>
            <a:r>
              <a:rPr lang="en-US" sz="1300" dirty="0">
                <a:solidFill>
                  <a:srgbClr val="A6E3A1"/>
                </a:solidFill>
                <a:latin typeface="JetBrains Mono" pitchFamily="49" charset="0"/>
                <a:ea typeface="JetBrains Mono" pitchFamily="49" charset="-122"/>
                <a:cs typeface="JetBrains Mono" pitchFamily="49" charset="-120"/>
              </a:rPr>
              <a:t>"ma_20"</a:t>
            </a:r>
            <a:r>
              <a:rPr lang="en-US" sz="1300" dirty="0">
                <a:solidFill>
                  <a:srgbClr val="E6E4DD"/>
                </a:solidFill>
                <a:latin typeface="JetBrains Mono" pitchFamily="49" charset="0"/>
                <a:ea typeface="JetBrains Mono" pitchFamily="49" charset="-122"/>
                <a:cs typeface="JetBrains Mono" pitchFamily="49" charset="-120"/>
              </a:rPr>
              <a:t>] = df[</a:t>
            </a:r>
            <a:r>
              <a:rPr lang="en-US" sz="1300" dirty="0">
                <a:solidFill>
                  <a:srgbClr val="A6E3A1"/>
                </a:solidFill>
                <a:latin typeface="JetBrains Mono" pitchFamily="49" charset="0"/>
                <a:ea typeface="JetBrains Mono" pitchFamily="49" charset="-122"/>
                <a:cs typeface="JetBrains Mono" pitchFamily="49" charset="-120"/>
              </a:rPr>
              <a:t>"close"</a:t>
            </a:r>
            <a:r>
              <a:rPr lang="en-US" sz="1300" dirty="0">
                <a:solidFill>
                  <a:srgbClr val="E6E4DD"/>
                </a:solidFill>
                <a:latin typeface="JetBrains Mono" pitchFamily="49" charset="0"/>
                <a:ea typeface="JetBrains Mono" pitchFamily="49" charset="-122"/>
                <a:cs typeface="JetBrains Mono" pitchFamily="49" charset="-120"/>
              </a:rPr>
              <a:t>].</a:t>
            </a:r>
            <a:r>
              <a:rPr lang="en-US" sz="1300" dirty="0">
                <a:solidFill>
                  <a:srgbClr val="8EC9FF"/>
                </a:solidFill>
                <a:latin typeface="JetBrains Mono" pitchFamily="49" charset="0"/>
                <a:ea typeface="JetBrains Mono" pitchFamily="49" charset="-122"/>
                <a:cs typeface="JetBrains Mono" pitchFamily="49" charset="-120"/>
              </a:rPr>
              <a:t>rolling</a:t>
            </a:r>
            <a:r>
              <a:rPr lang="en-US" sz="1300" dirty="0">
                <a:solidFill>
                  <a:srgbClr val="E6E4DD"/>
                </a:solidFill>
                <a:latin typeface="JetBrains Mono" pitchFamily="49" charset="0"/>
                <a:ea typeface="JetBrains Mono" pitchFamily="49" charset="-122"/>
                <a:cs typeface="JetBrains Mono" pitchFamily="49" charset="-120"/>
              </a:rPr>
              <a:t>(</a:t>
            </a:r>
            <a:r>
              <a:rPr lang="en-US" sz="1300" dirty="0">
                <a:solidFill>
                  <a:srgbClr val="F5C76B"/>
                </a:solidFill>
                <a:latin typeface="JetBrains Mono" pitchFamily="49" charset="0"/>
                <a:ea typeface="JetBrains Mono" pitchFamily="49" charset="-122"/>
                <a:cs typeface="JetBrains Mono" pitchFamily="49" charset="-120"/>
              </a:rPr>
              <a:t>20</a:t>
            </a:r>
            <a:r>
              <a:rPr lang="en-US" sz="1300" dirty="0">
                <a:solidFill>
                  <a:srgbClr val="E6E4DD"/>
                </a:solidFill>
                <a:latin typeface="JetBrains Mono" pitchFamily="49" charset="0"/>
                <a:ea typeface="JetBrains Mono" pitchFamily="49" charset="-122"/>
                <a:cs typeface="JetBrains Mono" pitchFamily="49" charset="-120"/>
              </a:rPr>
              <a:t>).</a:t>
            </a:r>
            <a:r>
              <a:rPr lang="en-US" sz="1300" dirty="0">
                <a:solidFill>
                  <a:srgbClr val="8EC9FF"/>
                </a:solidFill>
                <a:latin typeface="JetBrains Mono" pitchFamily="49" charset="0"/>
                <a:ea typeface="JetBrains Mono" pitchFamily="49" charset="-122"/>
                <a:cs typeface="JetBrains Mono" pitchFamily="49" charset="-120"/>
              </a:rPr>
              <a:t>mean</a:t>
            </a:r>
            <a:r>
              <a:rPr lang="en-US" sz="1300" dirty="0">
                <a:solidFill>
                  <a:srgbClr val="E6E4DD"/>
                </a:solidFill>
                <a:latin typeface="JetBrains Mono" pitchFamily="49" charset="0"/>
                <a:ea typeface="JetBrains Mono" pitchFamily="49" charset="-122"/>
                <a:cs typeface="JetBrains Mono" pitchFamily="49" charset="-120"/>
              </a:rPr>
              <a:t>()</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df[</a:t>
            </a:r>
            <a:r>
              <a:rPr lang="en-US" sz="1300" dirty="0">
                <a:solidFill>
                  <a:srgbClr val="A6E3A1"/>
                </a:solidFill>
                <a:latin typeface="JetBrains Mono" pitchFamily="49" charset="0"/>
                <a:ea typeface="JetBrains Mono" pitchFamily="49" charset="-122"/>
                <a:cs typeface="JetBrains Mono" pitchFamily="49" charset="-120"/>
              </a:rPr>
              <a:t>"ma_50"</a:t>
            </a:r>
            <a:r>
              <a:rPr lang="en-US" sz="1300" dirty="0">
                <a:solidFill>
                  <a:srgbClr val="E6E4DD"/>
                </a:solidFill>
                <a:latin typeface="JetBrains Mono" pitchFamily="49" charset="0"/>
                <a:ea typeface="JetBrains Mono" pitchFamily="49" charset="-122"/>
                <a:cs typeface="JetBrains Mono" pitchFamily="49" charset="-120"/>
              </a:rPr>
              <a:t>] = df[</a:t>
            </a:r>
            <a:r>
              <a:rPr lang="en-US" sz="1300" dirty="0">
                <a:solidFill>
                  <a:srgbClr val="A6E3A1"/>
                </a:solidFill>
                <a:latin typeface="JetBrains Mono" pitchFamily="49" charset="0"/>
                <a:ea typeface="JetBrains Mono" pitchFamily="49" charset="-122"/>
                <a:cs typeface="JetBrains Mono" pitchFamily="49" charset="-120"/>
              </a:rPr>
              <a:t>"close"</a:t>
            </a:r>
            <a:r>
              <a:rPr lang="en-US" sz="1300" dirty="0">
                <a:solidFill>
                  <a:srgbClr val="E6E4DD"/>
                </a:solidFill>
                <a:latin typeface="JetBrains Mono" pitchFamily="49" charset="0"/>
                <a:ea typeface="JetBrains Mono" pitchFamily="49" charset="-122"/>
                <a:cs typeface="JetBrains Mono" pitchFamily="49" charset="-120"/>
              </a:rPr>
              <a:t>].</a:t>
            </a:r>
            <a:r>
              <a:rPr lang="en-US" sz="1300" dirty="0">
                <a:solidFill>
                  <a:srgbClr val="8EC9FF"/>
                </a:solidFill>
                <a:latin typeface="JetBrains Mono" pitchFamily="49" charset="0"/>
                <a:ea typeface="JetBrains Mono" pitchFamily="49" charset="-122"/>
                <a:cs typeface="JetBrains Mono" pitchFamily="49" charset="-120"/>
              </a:rPr>
              <a:t>rolling</a:t>
            </a:r>
            <a:r>
              <a:rPr lang="en-US" sz="1300" dirty="0">
                <a:solidFill>
                  <a:srgbClr val="E6E4DD"/>
                </a:solidFill>
                <a:latin typeface="JetBrains Mono" pitchFamily="49" charset="0"/>
                <a:ea typeface="JetBrains Mono" pitchFamily="49" charset="-122"/>
                <a:cs typeface="JetBrains Mono" pitchFamily="49" charset="-120"/>
              </a:rPr>
              <a:t>(</a:t>
            </a:r>
            <a:r>
              <a:rPr lang="en-US" sz="1300" dirty="0">
                <a:solidFill>
                  <a:srgbClr val="F5C76B"/>
                </a:solidFill>
                <a:latin typeface="JetBrains Mono" pitchFamily="49" charset="0"/>
                <a:ea typeface="JetBrains Mono" pitchFamily="49" charset="-122"/>
                <a:cs typeface="JetBrains Mono" pitchFamily="49" charset="-120"/>
              </a:rPr>
              <a:t>50</a:t>
            </a:r>
            <a:r>
              <a:rPr lang="en-US" sz="1300" dirty="0">
                <a:solidFill>
                  <a:srgbClr val="E6E4DD"/>
                </a:solidFill>
                <a:latin typeface="JetBrains Mono" pitchFamily="49" charset="0"/>
                <a:ea typeface="JetBrains Mono" pitchFamily="49" charset="-122"/>
                <a:cs typeface="JetBrains Mono" pitchFamily="49" charset="-120"/>
              </a:rPr>
              <a:t>).</a:t>
            </a:r>
            <a:r>
              <a:rPr lang="en-US" sz="1300" dirty="0">
                <a:solidFill>
                  <a:srgbClr val="8EC9FF"/>
                </a:solidFill>
                <a:latin typeface="JetBrains Mono" pitchFamily="49" charset="0"/>
                <a:ea typeface="JetBrains Mono" pitchFamily="49" charset="-122"/>
                <a:cs typeface="JetBrains Mono" pitchFamily="49" charset="-120"/>
              </a:rPr>
              <a:t>mean</a:t>
            </a:r>
            <a:r>
              <a:rPr lang="en-US" sz="1300" dirty="0">
                <a:solidFill>
                  <a:srgbClr val="E6E4DD"/>
                </a:solidFill>
                <a:latin typeface="JetBrains Mono" pitchFamily="49" charset="0"/>
                <a:ea typeface="JetBrains Mono" pitchFamily="49" charset="-122"/>
                <a:cs typeface="JetBrains Mono" pitchFamily="49" charset="-120"/>
              </a:rPr>
              <a:t>()</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df[</a:t>
            </a:r>
            <a:r>
              <a:rPr lang="en-US" sz="1300" dirty="0">
                <a:solidFill>
                  <a:srgbClr val="A6E3A1"/>
                </a:solidFill>
                <a:latin typeface="JetBrains Mono" pitchFamily="49" charset="0"/>
                <a:ea typeface="JetBrains Mono" pitchFamily="49" charset="-122"/>
                <a:cs typeface="JetBrains Mono" pitchFamily="49" charset="-120"/>
              </a:rPr>
              <a:t>"trend"</a:t>
            </a:r>
            <a:r>
              <a:rPr lang="en-US" sz="1300" dirty="0">
                <a:solidFill>
                  <a:srgbClr val="E6E4DD"/>
                </a:solidFill>
                <a:latin typeface="JetBrains Mono" pitchFamily="49" charset="0"/>
                <a:ea typeface="JetBrains Mono" pitchFamily="49" charset="-122"/>
                <a:cs typeface="JetBrains Mono" pitchFamily="49" charset="-120"/>
              </a:rPr>
              <a:t>] = df[</a:t>
            </a:r>
            <a:r>
              <a:rPr lang="en-US" sz="1300" dirty="0">
                <a:solidFill>
                  <a:srgbClr val="A6E3A1"/>
                </a:solidFill>
                <a:latin typeface="JetBrains Mono" pitchFamily="49" charset="0"/>
                <a:ea typeface="JetBrains Mono" pitchFamily="49" charset="-122"/>
                <a:cs typeface="JetBrains Mono" pitchFamily="49" charset="-120"/>
              </a:rPr>
              <a:t>"ma_20"</a:t>
            </a:r>
            <a:r>
              <a:rPr lang="en-US" sz="1300" dirty="0">
                <a:solidFill>
                  <a:srgbClr val="E6E4DD"/>
                </a:solidFill>
                <a:latin typeface="JetBrains Mono" pitchFamily="49" charset="0"/>
                <a:ea typeface="JetBrains Mono" pitchFamily="49" charset="-122"/>
                <a:cs typeface="JetBrains Mono" pitchFamily="49" charset="-120"/>
              </a:rPr>
              <a:t>] / df[</a:t>
            </a:r>
            <a:r>
              <a:rPr lang="en-US" sz="1300" dirty="0">
                <a:solidFill>
                  <a:srgbClr val="A6E3A1"/>
                </a:solidFill>
                <a:latin typeface="JetBrains Mono" pitchFamily="49" charset="0"/>
                <a:ea typeface="JetBrains Mono" pitchFamily="49" charset="-122"/>
                <a:cs typeface="JetBrains Mono" pitchFamily="49" charset="-120"/>
              </a:rPr>
              <a:t>"ma_50"</a:t>
            </a:r>
            <a:r>
              <a:rPr lang="en-US" sz="1300" dirty="0">
                <a:solidFill>
                  <a:srgbClr val="E6E4DD"/>
                </a:solidFill>
                <a:latin typeface="JetBrains Mono" pitchFamily="49" charset="0"/>
                <a:ea typeface="JetBrains Mono" pitchFamily="49" charset="-122"/>
                <a:cs typeface="JetBrains Mono" pitchFamily="49" charset="-120"/>
              </a:rPr>
              <a:t>]</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df[</a:t>
            </a:r>
            <a:r>
              <a:rPr lang="en-US" sz="1300" dirty="0">
                <a:solidFill>
                  <a:srgbClr val="A6E3A1"/>
                </a:solidFill>
                <a:latin typeface="JetBrains Mono" pitchFamily="49" charset="0"/>
                <a:ea typeface="JetBrains Mono" pitchFamily="49" charset="-122"/>
                <a:cs typeface="JetBrains Mono" pitchFamily="49" charset="-120"/>
              </a:rPr>
              <a:t>"rsi"</a:t>
            </a:r>
            <a:r>
              <a:rPr lang="en-US" sz="1300" dirty="0">
                <a:solidFill>
                  <a:srgbClr val="E6E4DD"/>
                </a:solidFill>
                <a:latin typeface="JetBrains Mono" pitchFamily="49" charset="0"/>
                <a:ea typeface="JetBrains Mono" pitchFamily="49" charset="-122"/>
                <a:cs typeface="JetBrains Mono" pitchFamily="49" charset="-120"/>
              </a:rPr>
              <a:t>]   = </a:t>
            </a:r>
            <a:r>
              <a:rPr lang="en-US" sz="1300" dirty="0">
                <a:solidFill>
                  <a:srgbClr val="8EC9FF"/>
                </a:solidFill>
                <a:latin typeface="JetBrains Mono" pitchFamily="49" charset="0"/>
                <a:ea typeface="JetBrains Mono" pitchFamily="49" charset="-122"/>
                <a:cs typeface="JetBrains Mono" pitchFamily="49" charset="-120"/>
              </a:rPr>
              <a:t>rsi</a:t>
            </a:r>
            <a:r>
              <a:rPr lang="en-US" sz="1300" dirty="0">
                <a:solidFill>
                  <a:srgbClr val="E6E4DD"/>
                </a:solidFill>
                <a:latin typeface="JetBrains Mono" pitchFamily="49" charset="0"/>
                <a:ea typeface="JetBrains Mono" pitchFamily="49" charset="-122"/>
                <a:cs typeface="JetBrains Mono" pitchFamily="49" charset="-120"/>
              </a:rPr>
              <a:t>(df[</a:t>
            </a:r>
            <a:r>
              <a:rPr lang="en-US" sz="1300" dirty="0">
                <a:solidFill>
                  <a:srgbClr val="A6E3A1"/>
                </a:solidFill>
                <a:latin typeface="JetBrains Mono" pitchFamily="49" charset="0"/>
                <a:ea typeface="JetBrains Mono" pitchFamily="49" charset="-122"/>
                <a:cs typeface="JetBrains Mono" pitchFamily="49" charset="-120"/>
              </a:rPr>
              <a:t>"close"</a:t>
            </a:r>
            <a:r>
              <a:rPr lang="en-US" sz="1300" dirty="0">
                <a:solidFill>
                  <a:srgbClr val="E6E4DD"/>
                </a:solidFill>
                <a:latin typeface="JetBrains Mono" pitchFamily="49" charset="0"/>
                <a:ea typeface="JetBrains Mono" pitchFamily="49" charset="-122"/>
                <a:cs typeface="JetBrains Mono" pitchFamily="49" charset="-120"/>
              </a:rPr>
              <a:t>], </a:t>
            </a:r>
            <a:r>
              <a:rPr lang="en-US" sz="1300" dirty="0">
                <a:solidFill>
                  <a:srgbClr val="F5C76B"/>
                </a:solidFill>
                <a:latin typeface="JetBrains Mono" pitchFamily="49" charset="0"/>
                <a:ea typeface="JetBrains Mono" pitchFamily="49" charset="-122"/>
                <a:cs typeface="JetBrains Mono" pitchFamily="49" charset="-120"/>
              </a:rPr>
              <a:t>14</a:t>
            </a:r>
            <a:r>
              <a:rPr lang="en-US" sz="1300" dirty="0">
                <a:solidFill>
                  <a:srgbClr val="E6E4DD"/>
                </a:solidFill>
                <a:latin typeface="JetBrains Mono" pitchFamily="49" charset="0"/>
                <a:ea typeface="JetBrains Mono" pitchFamily="49" charset="-122"/>
                <a:cs typeface="JetBrains Mono" pitchFamily="49" charset="-120"/>
              </a:rPr>
              <a:t>)</a:t>
            </a:r>
          </a:p>
          <a:p>
            <a:pPr algn="l" indent="0" marL="0">
              <a:lnSpc>
                <a:spcPts val="1750"/>
              </a:lnSpc>
              <a:buNone/>
            </a:pPr>
            <a:endParaRPr lang="en-US" sz="1300" dirty="0">
              <a:solidFill>
                <a:srgbClr val="8A92A3"/>
              </a:solidFill>
              <a:latin typeface="JetBrains Mono" pitchFamily="49" charset="0"/>
              <a:ea typeface="JetBrains Mono" pitchFamily="49" charset="-122"/>
              <a:cs typeface="JetBrains Mono" pitchFamily="49" charset="-120"/>
            </a:endParaRPr>
          </a:p>
          <a:p>
            <a:pPr algn="l" indent="0" marL="0">
              <a:lnSpc>
                <a:spcPts val="1750"/>
              </a:lnSpc>
              <a:buNone/>
            </a:pPr>
            <a:r>
              <a:rPr lang="en-US" sz="1300" dirty="0">
                <a:solidFill>
                  <a:srgbClr val="8A92A3"/>
                </a:solidFill>
                <a:latin typeface="JetBrains Mono" pitchFamily="49" charset="0"/>
                <a:ea typeface="JetBrains Mono" pitchFamily="49" charset="-122"/>
                <a:cs typeface="JetBrains Mono" pitchFamily="49" charset="-120"/>
              </a:rPr>
              <a:t># target: what happens over the next 5 days?</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future = df[</a:t>
            </a:r>
            <a:r>
              <a:rPr lang="en-US" sz="1300" dirty="0">
                <a:solidFill>
                  <a:srgbClr val="A6E3A1"/>
                </a:solidFill>
                <a:latin typeface="JetBrains Mono" pitchFamily="49" charset="0"/>
                <a:ea typeface="JetBrains Mono" pitchFamily="49" charset="-122"/>
                <a:cs typeface="JetBrains Mono" pitchFamily="49" charset="-120"/>
              </a:rPr>
              <a:t>"close"</a:t>
            </a:r>
            <a:r>
              <a:rPr lang="en-US" sz="1300" dirty="0">
                <a:solidFill>
                  <a:srgbClr val="E6E4DD"/>
                </a:solidFill>
                <a:latin typeface="JetBrains Mono" pitchFamily="49" charset="0"/>
                <a:ea typeface="JetBrains Mono" pitchFamily="49" charset="-122"/>
                <a:cs typeface="JetBrains Mono" pitchFamily="49" charset="-120"/>
              </a:rPr>
              <a:t>].</a:t>
            </a:r>
            <a:r>
              <a:rPr lang="en-US" sz="1300" dirty="0">
                <a:solidFill>
                  <a:srgbClr val="8EC9FF"/>
                </a:solidFill>
                <a:latin typeface="JetBrains Mono" pitchFamily="49" charset="0"/>
                <a:ea typeface="JetBrains Mono" pitchFamily="49" charset="-122"/>
                <a:cs typeface="JetBrains Mono" pitchFamily="49" charset="-120"/>
              </a:rPr>
              <a:t>shift</a:t>
            </a:r>
            <a:r>
              <a:rPr lang="en-US" sz="1300" dirty="0">
                <a:solidFill>
                  <a:srgbClr val="E6E4DD"/>
                </a:solidFill>
                <a:latin typeface="JetBrains Mono" pitchFamily="49" charset="0"/>
                <a:ea typeface="JetBrains Mono" pitchFamily="49" charset="-122"/>
                <a:cs typeface="JetBrains Mono" pitchFamily="49" charset="-120"/>
              </a:rPr>
              <a:t>(-</a:t>
            </a:r>
            <a:r>
              <a:rPr lang="en-US" sz="1300" dirty="0">
                <a:solidFill>
                  <a:srgbClr val="F5C76B"/>
                </a:solidFill>
                <a:latin typeface="JetBrains Mono" pitchFamily="49" charset="0"/>
                <a:ea typeface="JetBrains Mono" pitchFamily="49" charset="-122"/>
                <a:cs typeface="JetBrains Mono" pitchFamily="49" charset="-120"/>
              </a:rPr>
              <a:t>5</a:t>
            </a:r>
            <a:r>
              <a:rPr lang="en-US" sz="1300" dirty="0">
                <a:solidFill>
                  <a:srgbClr val="E6E4DD"/>
                </a:solidFill>
                <a:latin typeface="JetBrains Mono" pitchFamily="49" charset="0"/>
                <a:ea typeface="JetBrains Mono" pitchFamily="49" charset="-122"/>
                <a:cs typeface="JetBrains Mono" pitchFamily="49" charset="-120"/>
              </a:rPr>
              <a:t>) / df[</a:t>
            </a:r>
            <a:r>
              <a:rPr lang="en-US" sz="1300" dirty="0">
                <a:solidFill>
                  <a:srgbClr val="A6E3A1"/>
                </a:solidFill>
                <a:latin typeface="JetBrains Mono" pitchFamily="49" charset="0"/>
                <a:ea typeface="JetBrains Mono" pitchFamily="49" charset="-122"/>
                <a:cs typeface="JetBrains Mono" pitchFamily="49" charset="-120"/>
              </a:rPr>
              <a:t>"close"</a:t>
            </a:r>
            <a:r>
              <a:rPr lang="en-US" sz="1300" dirty="0">
                <a:solidFill>
                  <a:srgbClr val="E6E4DD"/>
                </a:solidFill>
                <a:latin typeface="JetBrains Mono" pitchFamily="49" charset="0"/>
                <a:ea typeface="JetBrains Mono" pitchFamily="49" charset="-122"/>
                <a:cs typeface="JetBrains Mono" pitchFamily="49" charset="-120"/>
              </a:rPr>
              <a:t>]</a:t>
            </a:r>
          </a:p>
          <a:p>
            <a:pPr algn="l" indent="0" marL="0">
              <a:lnSpc>
                <a:spcPts val="1750"/>
              </a:lnSpc>
              <a:buNone/>
            </a:pPr>
            <a:endParaRPr lang="en-US" sz="1300" dirty="0">
              <a:solidFill>
                <a:srgbClr val="8A92A3"/>
              </a:solidFill>
              <a:latin typeface="JetBrains Mono" pitchFamily="49" charset="0"/>
              <a:ea typeface="JetBrains Mono" pitchFamily="49" charset="-122"/>
              <a:cs typeface="JetBrains Mono" pitchFamily="49" charset="-120"/>
            </a:endParaRPr>
          </a:p>
          <a:p>
            <a:pPr algn="l" indent="0" marL="0">
              <a:lnSpc>
                <a:spcPts val="1750"/>
              </a:lnSpc>
              <a:buNone/>
            </a:pPr>
            <a:r>
              <a:rPr lang="en-US" sz="1300" dirty="0">
                <a:solidFill>
                  <a:srgbClr val="8A92A3"/>
                </a:solidFill>
                <a:latin typeface="JetBrains Mono" pitchFamily="49" charset="0"/>
                <a:ea typeface="JetBrains Mono" pitchFamily="49" charset="-122"/>
                <a:cs typeface="JetBrains Mono" pitchFamily="49" charset="-120"/>
              </a:rPr>
              <a:t># time series: split by date, never shuffle</a:t>
            </a:r>
          </a:p>
        </p:txBody>
      </p:sp>
      <p:sp>
        <p:nvSpPr>
          <p:cNvPr id="12" name="Shape 10"/>
          <p:cNvSpPr/>
          <p:nvPr/>
        </p:nvSpPr>
        <p:spPr>
          <a:xfrm>
            <a:off x="7826375" y="1831876"/>
            <a:ext cx="3549650" cy="993775"/>
          </a:xfrm>
          <a:prstGeom prst="roundRect">
            <a:avLst>
              <a:gd name="adj" fmla="val 12460"/>
            </a:avLst>
          </a:prstGeom>
          <a:solidFill>
            <a:srgbClr val="171B23"/>
          </a:solidFill>
          <a:ln w="6350">
            <a:solidFill>
              <a:srgbClr val="2A2F3A"/>
            </a:solidFill>
            <a:prstDash val="solid"/>
          </a:ln>
        </p:spPr>
        <p:txBody>
          <a:bodyPr/>
          <a:p/>
        </p:txBody>
      </p:sp>
      <p:sp>
        <p:nvSpPr>
          <p:cNvPr id="13" name="Text 11"/>
          <p:cNvSpPr/>
          <p:nvPr/>
        </p:nvSpPr>
        <p:spPr>
          <a:xfrm>
            <a:off x="8007350" y="2095103"/>
            <a:ext cx="328333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CEAE4"/>
                </a:solidFill>
                <a:latin typeface="JetBrains Mono" pitchFamily="49" charset="0"/>
                <a:ea typeface="JetBrains Mono" pitchFamily="49" charset="-122"/>
                <a:cs typeface="JetBrains Mono" pitchFamily="49" charset="-120"/>
              </a:rPr>
              <a:t>Returns</a:t>
            </a:r>
            <a:endParaRPr lang="en-US" sz="1500" dirty="0"/>
          </a:p>
        </p:txBody>
      </p:sp>
      <p:sp>
        <p:nvSpPr>
          <p:cNvPr id="14" name="Text 12"/>
          <p:cNvSpPr/>
          <p:nvPr/>
        </p:nvSpPr>
        <p:spPr>
          <a:xfrm>
            <a:off x="8007350" y="2349103"/>
            <a:ext cx="3283331" cy="5486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8B4"/>
                </a:solidFill>
                <a:latin typeface="IBM Plex Sans" pitchFamily="34" charset="0"/>
                <a:ea typeface="IBM Plex Sans" pitchFamily="34" charset="-122"/>
                <a:cs typeface="IBM Plex Sans" pitchFamily="34" charset="-120"/>
              </a:rPr>
              <a:t>Change instead of price: comparable across stocks.</a:t>
            </a:r>
            <a:endParaRPr lang="en-US" sz="1200" dirty="0"/>
          </a:p>
        </p:txBody>
      </p:sp>
      <p:sp>
        <p:nvSpPr>
          <p:cNvPr id="15" name="Shape 13"/>
          <p:cNvSpPr/>
          <p:nvPr/>
        </p:nvSpPr>
        <p:spPr>
          <a:xfrm>
            <a:off x="7826375" y="2908201"/>
            <a:ext cx="3549650" cy="993874"/>
          </a:xfrm>
          <a:prstGeom prst="roundRect">
            <a:avLst>
              <a:gd name="adj" fmla="val 12459"/>
            </a:avLst>
          </a:prstGeom>
          <a:solidFill>
            <a:srgbClr val="171B23"/>
          </a:solidFill>
          <a:ln w="6350">
            <a:solidFill>
              <a:srgbClr val="2A2F3A"/>
            </a:solidFill>
            <a:prstDash val="solid"/>
          </a:ln>
        </p:spPr>
        <p:txBody>
          <a:bodyPr/>
          <a:p/>
        </p:txBody>
      </p:sp>
      <p:sp>
        <p:nvSpPr>
          <p:cNvPr id="16" name="Text 14"/>
          <p:cNvSpPr/>
          <p:nvPr/>
        </p:nvSpPr>
        <p:spPr>
          <a:xfrm>
            <a:off x="8007350" y="3171428"/>
            <a:ext cx="328333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CEAE4"/>
                </a:solidFill>
                <a:latin typeface="JetBrains Mono" pitchFamily="49" charset="0"/>
                <a:ea typeface="JetBrains Mono" pitchFamily="49" charset="-122"/>
                <a:cs typeface="JetBrains Mono" pitchFamily="49" charset="-120"/>
              </a:rPr>
              <a:t>Moving averages</a:t>
            </a:r>
            <a:endParaRPr lang="en-US" sz="1500" dirty="0"/>
          </a:p>
        </p:txBody>
      </p:sp>
      <p:sp>
        <p:nvSpPr>
          <p:cNvPr id="17" name="Text 15"/>
          <p:cNvSpPr/>
          <p:nvPr/>
        </p:nvSpPr>
        <p:spPr>
          <a:xfrm>
            <a:off x="8007350" y="3425428"/>
            <a:ext cx="3283331" cy="5486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8B4"/>
                </a:solidFill>
                <a:latin typeface="IBM Plex Sans" pitchFamily="34" charset="0"/>
                <a:ea typeface="IBM Plex Sans" pitchFamily="34" charset="-122"/>
                <a:cs typeface="IBM Plex Sans" pitchFamily="34" charset="-120"/>
              </a:rPr>
              <a:t>A smoothed trend over 20 or 50 days.</a:t>
            </a:r>
            <a:endParaRPr lang="en-US" sz="1200" dirty="0"/>
          </a:p>
        </p:txBody>
      </p:sp>
      <p:sp>
        <p:nvSpPr>
          <p:cNvPr id="18" name="Shape 16"/>
          <p:cNvSpPr/>
          <p:nvPr/>
        </p:nvSpPr>
        <p:spPr>
          <a:xfrm>
            <a:off x="7826375" y="3984625"/>
            <a:ext cx="3549650" cy="993775"/>
          </a:xfrm>
          <a:prstGeom prst="roundRect">
            <a:avLst>
              <a:gd name="adj" fmla="val 12460"/>
            </a:avLst>
          </a:prstGeom>
          <a:solidFill>
            <a:srgbClr val="171B23"/>
          </a:solidFill>
          <a:ln w="6350">
            <a:solidFill>
              <a:srgbClr val="2A2F3A"/>
            </a:solidFill>
            <a:prstDash val="solid"/>
          </a:ln>
        </p:spPr>
        <p:txBody>
          <a:bodyPr/>
          <a:p/>
        </p:txBody>
      </p:sp>
      <p:sp>
        <p:nvSpPr>
          <p:cNvPr id="19" name="Text 17"/>
          <p:cNvSpPr/>
          <p:nvPr/>
        </p:nvSpPr>
        <p:spPr>
          <a:xfrm>
            <a:off x="8007350" y="4247852"/>
            <a:ext cx="328333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CEAE4"/>
                </a:solidFill>
                <a:latin typeface="JetBrains Mono" pitchFamily="49" charset="0"/>
                <a:ea typeface="JetBrains Mono" pitchFamily="49" charset="-122"/>
                <a:cs typeface="JetBrains Mono" pitchFamily="49" charset="-120"/>
              </a:rPr>
              <a:t>RSI</a:t>
            </a:r>
            <a:endParaRPr lang="en-US" sz="1500" dirty="0"/>
          </a:p>
        </p:txBody>
      </p:sp>
      <p:sp>
        <p:nvSpPr>
          <p:cNvPr id="20" name="Text 18"/>
          <p:cNvSpPr/>
          <p:nvPr/>
        </p:nvSpPr>
        <p:spPr>
          <a:xfrm>
            <a:off x="8007350" y="4501852"/>
            <a:ext cx="3283331" cy="5486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8B4"/>
                </a:solidFill>
                <a:latin typeface="IBM Plex Sans" pitchFamily="34" charset="0"/>
                <a:ea typeface="IBM Plex Sans" pitchFamily="34" charset="-122"/>
                <a:cs typeface="IBM Plex Sans" pitchFamily="34" charset="-120"/>
              </a:rPr>
              <a:t>Has the stock risen too fast? A classic indicator.</a:t>
            </a:r>
            <a:endParaRPr lang="en-US" sz="1200" dirty="0"/>
          </a:p>
        </p:txBody>
      </p:sp>
      <p:sp>
        <p:nvSpPr>
          <p:cNvPr id="21" name="Shape 19"/>
          <p:cNvSpPr/>
          <p:nvPr/>
        </p:nvSpPr>
        <p:spPr>
          <a:xfrm>
            <a:off x="7823200" y="5057775"/>
            <a:ext cx="3556000" cy="987425"/>
          </a:xfrm>
          <a:prstGeom prst="roundRect">
            <a:avLst>
              <a:gd name="adj" fmla="val 12862"/>
            </a:avLst>
          </a:prstGeom>
          <a:solidFill>
            <a:srgbClr val="FF7A45"/>
          </a:solidFill>
          <a:ln/>
        </p:spPr>
        <p:txBody>
          <a:bodyPr/>
          <a:p/>
        </p:txBody>
      </p:sp>
      <p:sp>
        <p:nvSpPr>
          <p:cNvPr id="22" name="Text 20"/>
          <p:cNvSpPr/>
          <p:nvPr/>
        </p:nvSpPr>
        <p:spPr>
          <a:xfrm>
            <a:off x="8001000" y="5211167"/>
            <a:ext cx="329641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115"/>
                </a:solidFill>
                <a:latin typeface="JetBrains Mono" pitchFamily="49" charset="0"/>
                <a:ea typeface="JetBrains Mono" pitchFamily="49" charset="-122"/>
                <a:cs typeface="JetBrains Mono" pitchFamily="49" charset="-120"/>
              </a:rPr>
              <a:t>shift(-5)</a:t>
            </a:r>
            <a:endParaRPr lang="en-US" sz="1500" dirty="0"/>
          </a:p>
        </p:txBody>
      </p:sp>
      <p:sp>
        <p:nvSpPr>
          <p:cNvPr id="23" name="Text 21"/>
          <p:cNvSpPr/>
          <p:nvPr/>
        </p:nvSpPr>
        <p:spPr>
          <a:xfrm>
            <a:off x="8001000" y="5465167"/>
            <a:ext cx="329641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F1115"/>
                </a:solidFill>
                <a:latin typeface="IBM Plex Sans" pitchFamily="34" charset="0"/>
                <a:ea typeface="IBM Plex Sans" pitchFamily="34" charset="-122"/>
                <a:cs typeface="IBM Plex Sans" pitchFamily="34" charset="-120"/>
              </a:rPr>
              <a:t>The target looks into the future, the features must not.</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9">
    <p:bg>
      <p:bgPr>
        <a:solidFill>
          <a:srgbClr val="F2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2410C"/>
                </a:solidFill>
                <a:latin typeface="JetBrains Mono" pitchFamily="49" charset="0"/>
                <a:ea typeface="JetBrains Mono" pitchFamily="49" charset="-122"/>
                <a:cs typeface="JetBrains Mono" pitchFamily="49" charset="-120"/>
              </a:rPr>
              <a:t>02 · SPLIT FIRST</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181D"/>
                </a:solidFill>
                <a:latin typeface="Space Grotesk" pitchFamily="34" charset="0"/>
                <a:ea typeface="Space Grotesk" pitchFamily="34" charset="-122"/>
                <a:cs typeface="Space Grotesk" pitchFamily="34" charset="-120"/>
              </a:rPr>
              <a:t>Split first, then touch the data</a:t>
            </a:r>
            <a:endParaRPr lang="en-US" sz="3200" dirty="0"/>
          </a:p>
        </p:txBody>
      </p:sp>
      <p:sp>
        <p:nvSpPr>
          <p:cNvPr id="4" name="Shape 2"/>
          <p:cNvSpPr/>
          <p:nvPr/>
        </p:nvSpPr>
        <p:spPr>
          <a:xfrm>
            <a:off x="812800" y="1828701"/>
            <a:ext cx="5130800" cy="731441"/>
          </a:xfrm>
          <a:custGeom>
            <a:avLst/>
            <a:gdLst/>
            <a:ahLst/>
            <a:cxnLst/>
            <a:rect l="l" t="t" r="r" b="b"/>
            <a:pathLst>
              <a:path w="5130800" h="731441">
                <a:moveTo>
                  <a:pt x="101600" y="0"/>
                </a:moveTo>
                <a:lnTo>
                  <a:pt x="5130800" y="0"/>
                </a:lnTo>
                <a:lnTo>
                  <a:pt x="5130800" y="731441"/>
                </a:lnTo>
                <a:lnTo>
                  <a:pt x="101600" y="731441"/>
                </a:lnTo>
                <a:arcTo hR="101600" wR="101600" stAng="5400000" swAng="5400000"/>
                <a:lnTo>
                  <a:pt x="0" y="101600"/>
                </a:lnTo>
                <a:arcTo hR="101600" wR="101600" stAng="10800000" swAng="5400000"/>
                <a:close/>
              </a:path>
            </a:pathLst>
          </a:custGeom>
          <a:solidFill>
            <a:srgbClr val="16181D"/>
          </a:solidFill>
          <a:ln/>
        </p:spPr>
        <p:txBody>
          <a:bodyPr/>
          <a:p/>
        </p:txBody>
      </p:sp>
      <p:sp>
        <p:nvSpPr>
          <p:cNvPr id="5" name="Text 3"/>
          <p:cNvSpPr/>
          <p:nvPr/>
        </p:nvSpPr>
        <p:spPr>
          <a:xfrm>
            <a:off x="990600" y="1968401"/>
            <a:ext cx="491845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CEAE4"/>
                </a:solidFill>
                <a:latin typeface="JetBrains Mono" pitchFamily="49" charset="0"/>
                <a:ea typeface="JetBrains Mono" pitchFamily="49" charset="-122"/>
                <a:cs typeface="JetBrains Mono" pitchFamily="49" charset="-120"/>
              </a:rPr>
              <a:t>TRAIN · 318 CARS</a:t>
            </a:r>
            <a:endParaRPr lang="en-US" sz="1200" dirty="0"/>
          </a:p>
        </p:txBody>
      </p:sp>
      <p:sp>
        <p:nvSpPr>
          <p:cNvPr id="6" name="Text 4"/>
          <p:cNvSpPr/>
          <p:nvPr/>
        </p:nvSpPr>
        <p:spPr>
          <a:xfrm>
            <a:off x="990600" y="2207121"/>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8B4"/>
                </a:solidFill>
                <a:latin typeface="IBM Plex Sans" pitchFamily="34" charset="0"/>
                <a:ea typeface="IBM Plex Sans" pitchFamily="34" charset="-122"/>
                <a:cs typeface="IBM Plex Sans" pitchFamily="34" charset="-120"/>
              </a:rPr>
              <a:t>fill, scale, fit: here only</a:t>
            </a:r>
            <a:endParaRPr lang="en-US" sz="1200" dirty="0"/>
          </a:p>
        </p:txBody>
      </p:sp>
      <p:sp>
        <p:nvSpPr>
          <p:cNvPr id="7" name="Shape 5"/>
          <p:cNvSpPr/>
          <p:nvPr/>
        </p:nvSpPr>
        <p:spPr>
          <a:xfrm>
            <a:off x="5994400" y="1828701"/>
            <a:ext cx="1498600" cy="731441"/>
          </a:xfrm>
          <a:custGeom>
            <a:avLst/>
            <a:gdLst/>
            <a:ahLst/>
            <a:cxnLst/>
            <a:rect l="l" t="t" r="r" b="b"/>
            <a:pathLst>
              <a:path w="1498600" h="731441">
                <a:moveTo>
                  <a:pt x="0" y="0"/>
                </a:moveTo>
                <a:lnTo>
                  <a:pt x="1397000" y="0"/>
                </a:lnTo>
                <a:arcTo hR="101600" wR="101600" stAng="16200000" swAng="5400000"/>
                <a:lnTo>
                  <a:pt x="1498600" y="629841"/>
                </a:lnTo>
                <a:arcTo hR="101600" wR="101600" stAng="0" swAng="5400000"/>
                <a:lnTo>
                  <a:pt x="0" y="731441"/>
                </a:lnTo>
                <a:lnTo>
                  <a:pt x="0" y="0"/>
                </a:lnTo>
                <a:close/>
              </a:path>
            </a:pathLst>
          </a:custGeom>
          <a:solidFill>
            <a:srgbClr val="FF7A45"/>
          </a:solidFill>
          <a:ln/>
        </p:spPr>
        <p:txBody>
          <a:bodyPr/>
          <a:p/>
        </p:txBody>
      </p:sp>
      <p:sp>
        <p:nvSpPr>
          <p:cNvPr id="8" name="Text 6"/>
          <p:cNvSpPr/>
          <p:nvPr/>
        </p:nvSpPr>
        <p:spPr>
          <a:xfrm>
            <a:off x="6146800" y="1968401"/>
            <a:ext cx="1244600" cy="23872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0F1115"/>
                </a:solidFill>
                <a:latin typeface="JetBrains Mono" pitchFamily="49" charset="0"/>
                <a:ea typeface="JetBrains Mono" pitchFamily="49" charset="-122"/>
                <a:cs typeface="JetBrains Mono" pitchFamily="49" charset="-120"/>
              </a:rPr>
              <a:t>TEST · 80</a:t>
            </a:r>
            <a:endParaRPr lang="en-US" sz="1200" dirty="0"/>
          </a:p>
        </p:txBody>
      </p:sp>
      <p:sp>
        <p:nvSpPr>
          <p:cNvPr id="9" name="Text 7"/>
          <p:cNvSpPr/>
          <p:nvPr/>
        </p:nvSpPr>
        <p:spPr>
          <a:xfrm>
            <a:off x="6146800" y="2207121"/>
            <a:ext cx="1244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F1115"/>
                </a:solidFill>
                <a:latin typeface="IBM Plex Sans" pitchFamily="34" charset="0"/>
                <a:ea typeface="IBM Plex Sans" pitchFamily="34" charset="-122"/>
                <a:cs typeface="IBM Plex Sans" pitchFamily="34" charset="-120"/>
              </a:rPr>
              <a:t>locked away</a:t>
            </a:r>
            <a:endParaRPr lang="en-US" sz="1200" dirty="0"/>
          </a:p>
        </p:txBody>
      </p:sp>
      <p:sp>
        <p:nvSpPr>
          <p:cNvPr id="10" name="Shape 8"/>
          <p:cNvSpPr/>
          <p:nvPr/>
        </p:nvSpPr>
        <p:spPr>
          <a:xfrm>
            <a:off x="815975" y="2715716"/>
            <a:ext cx="6673850" cy="1394420"/>
          </a:xfrm>
          <a:prstGeom prst="roundRect">
            <a:avLst>
              <a:gd name="adj" fmla="val 10702"/>
            </a:avLst>
          </a:prstGeom>
          <a:solidFill>
            <a:srgbClr val="171B23"/>
          </a:solidFill>
          <a:ln w="6350">
            <a:solidFill>
              <a:srgbClr val="2A2F3A"/>
            </a:solidFill>
            <a:prstDash val="solid"/>
          </a:ln>
        </p:spPr>
        <p:txBody>
          <a:bodyPr/>
          <a:p/>
        </p:txBody>
      </p:sp>
      <p:sp>
        <p:nvSpPr>
          <p:cNvPr id="11" name="Shape 9"/>
          <p:cNvSpPr/>
          <p:nvPr/>
        </p:nvSpPr>
        <p:spPr>
          <a:xfrm>
            <a:off x="819150" y="2718891"/>
            <a:ext cx="6667500" cy="397470"/>
          </a:xfrm>
          <a:custGeom>
            <a:avLst/>
            <a:gdLst/>
            <a:ahLst/>
            <a:cxnLst/>
            <a:rect l="l" t="t" r="r" b="b"/>
            <a:pathLst>
              <a:path w="6667500" h="397470">
                <a:moveTo>
                  <a:pt x="0" y="391120"/>
                </a:moveTo>
                <a:lnTo>
                  <a:pt x="6667500" y="391120"/>
                </a:lnTo>
                <a:lnTo>
                  <a:pt x="6667500" y="397470"/>
                </a:lnTo>
                <a:lnTo>
                  <a:pt x="0" y="397470"/>
                </a:lnTo>
                <a:lnTo>
                  <a:pt x="0" y="391120"/>
                </a:lnTo>
                <a:close/>
              </a:path>
            </a:pathLst>
          </a:custGeom>
          <a:solidFill>
            <a:srgbClr val="2A2F3A"/>
          </a:solidFill>
          <a:ln/>
        </p:spPr>
        <p:txBody>
          <a:bodyPr/>
          <a:p/>
        </p:txBody>
      </p:sp>
      <p:sp>
        <p:nvSpPr>
          <p:cNvPr id="12" name="Shape 10"/>
          <p:cNvSpPr/>
          <p:nvPr/>
        </p:nvSpPr>
        <p:spPr>
          <a:xfrm>
            <a:off x="996950" y="2870002"/>
            <a:ext cx="88900" cy="88900"/>
          </a:xfrm>
          <a:prstGeom prst="roundRect">
            <a:avLst>
              <a:gd name="adj" fmla="val 50000"/>
            </a:avLst>
          </a:prstGeom>
          <a:solidFill>
            <a:srgbClr val="3A404D"/>
          </a:solidFill>
          <a:ln/>
        </p:spPr>
        <p:txBody>
          <a:bodyPr/>
          <a:p/>
        </p:txBody>
      </p:sp>
      <p:sp>
        <p:nvSpPr>
          <p:cNvPr id="13" name="Shape 11"/>
          <p:cNvSpPr/>
          <p:nvPr/>
        </p:nvSpPr>
        <p:spPr>
          <a:xfrm>
            <a:off x="1162050" y="2870002"/>
            <a:ext cx="88900" cy="88900"/>
          </a:xfrm>
          <a:prstGeom prst="roundRect">
            <a:avLst>
              <a:gd name="adj" fmla="val 50000"/>
            </a:avLst>
          </a:prstGeom>
          <a:solidFill>
            <a:srgbClr val="3A404D"/>
          </a:solidFill>
          <a:ln/>
        </p:spPr>
        <p:txBody>
          <a:bodyPr/>
          <a:p/>
        </p:txBody>
      </p:sp>
      <p:sp>
        <p:nvSpPr>
          <p:cNvPr id="14" name="Shape 12"/>
          <p:cNvSpPr/>
          <p:nvPr/>
        </p:nvSpPr>
        <p:spPr>
          <a:xfrm>
            <a:off x="1327150" y="2870002"/>
            <a:ext cx="88900" cy="88900"/>
          </a:xfrm>
          <a:prstGeom prst="roundRect">
            <a:avLst>
              <a:gd name="adj" fmla="val 50000"/>
            </a:avLst>
          </a:prstGeom>
          <a:solidFill>
            <a:srgbClr val="3A404D"/>
          </a:solidFill>
          <a:ln/>
        </p:spPr>
        <p:txBody>
          <a:bodyPr/>
          <a:p/>
        </p:txBody>
      </p:sp>
      <p:sp>
        <p:nvSpPr>
          <p:cNvPr id="15" name="Text 13"/>
          <p:cNvSpPr/>
          <p:nvPr/>
        </p:nvSpPr>
        <p:spPr>
          <a:xfrm>
            <a:off x="1568450" y="2807791"/>
            <a:ext cx="8778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2A3"/>
                </a:solidFill>
                <a:latin typeface="JetBrains Mono" pitchFamily="49" charset="0"/>
                <a:ea typeface="JetBrains Mono" pitchFamily="49" charset="-122"/>
                <a:cs typeface="JetBrains Mono" pitchFamily="49" charset="-120"/>
              </a:rPr>
              <a:t>split.py</a:t>
            </a:r>
            <a:endParaRPr lang="en-US" sz="1200" dirty="0"/>
          </a:p>
        </p:txBody>
      </p:sp>
      <p:sp>
        <p:nvSpPr>
          <p:cNvPr id="16" name="Text 14"/>
          <p:cNvSpPr/>
          <p:nvPr/>
        </p:nvSpPr>
        <p:spPr>
          <a:xfrm>
            <a:off x="1022350" y="3268762"/>
            <a:ext cx="6448933" cy="711200"/>
          </a:xfrm>
          <a:prstGeom prst="rect">
            <a:avLst/>
          </a:prstGeom>
          <a:noFill/>
          <a:ln/>
        </p:spPr>
        <p:txBody>
          <a:bodyPr wrap="square" lIns="0" tIns="0" rIns="0" bIns="0" rtlCol="0" anchor="t"/>
          <a:lstStyle/>
          <a:p>
            <a:pPr algn="l" indent="0" marL="0">
              <a:lnSpc>
                <a:spcPts val="1700"/>
              </a:lnSpc>
              <a:buNone/>
            </a:pPr>
            <a:r>
              <a:rPr lang="en-US" sz="1300" dirty="0">
                <a:solidFill>
                  <a:srgbClr val="E6E4DD"/>
                </a:solidFill>
                <a:latin typeface="JetBrains Mono" pitchFamily="49" charset="0"/>
                <a:ea typeface="JetBrains Mono" pitchFamily="49" charset="-122"/>
                <a:cs typeface="JetBrains Mono" pitchFamily="49" charset="-120"/>
              </a:rPr>
              <a:t>X_train, X_test, y_train, y_test = </a:t>
            </a:r>
            <a:r>
              <a:rPr lang="en-US" sz="1300" dirty="0">
                <a:solidFill>
                  <a:srgbClr val="8EC9FF"/>
                </a:solidFill>
                <a:latin typeface="JetBrains Mono" pitchFamily="49" charset="0"/>
                <a:ea typeface="JetBrains Mono" pitchFamily="49" charset="-122"/>
                <a:cs typeface="JetBrains Mono" pitchFamily="49" charset="-120"/>
              </a:rPr>
              <a:t>train_test_split</a:t>
            </a:r>
            <a:r>
              <a:rPr lang="en-US" sz="1300" dirty="0">
                <a:solidFill>
                  <a:srgbClr val="E6E4DD"/>
                </a:solidFill>
                <a:latin typeface="JetBrains Mono" pitchFamily="49" charset="0"/>
                <a:ea typeface="JetBrains Mono" pitchFamily="49" charset="-122"/>
                <a:cs typeface="JetBrains Mono" pitchFamily="49" charset="-120"/>
              </a:rPr>
              <a:t>(</a:t>
            </a:r>
          </a:p>
          <a:p>
            <a:pPr algn="l" indent="0" marL="0">
              <a:lnSpc>
                <a:spcPts val="1700"/>
              </a:lnSpc>
              <a:buNone/>
            </a:pPr>
            <a:r>
              <a:rPr lang="en-US" sz="1300" dirty="0">
                <a:solidFill>
                  <a:srgbClr val="E6E4DD"/>
                </a:solidFill>
                <a:latin typeface="JetBrains Mono" pitchFamily="49" charset="0"/>
                <a:ea typeface="JetBrains Mono" pitchFamily="49" charset="-122"/>
                <a:cs typeface="JetBrains Mono" pitchFamily="49" charset="-120"/>
              </a:rPr>
              <a:t>    X, y, test_size=</a:t>
            </a:r>
            <a:r>
              <a:rPr lang="en-US" sz="1300" dirty="0">
                <a:solidFill>
                  <a:srgbClr val="F5C76B"/>
                </a:solidFill>
                <a:latin typeface="JetBrains Mono" pitchFamily="49" charset="0"/>
                <a:ea typeface="JetBrains Mono" pitchFamily="49" charset="-122"/>
                <a:cs typeface="JetBrains Mono" pitchFamily="49" charset="-120"/>
              </a:rPr>
              <a:t>0.2</a:t>
            </a:r>
            <a:r>
              <a:rPr lang="en-US" sz="1300" dirty="0">
                <a:solidFill>
                  <a:srgbClr val="E6E4DD"/>
                </a:solidFill>
                <a:latin typeface="JetBrains Mono" pitchFamily="49" charset="0"/>
                <a:ea typeface="JetBrains Mono" pitchFamily="49" charset="-122"/>
                <a:cs typeface="JetBrains Mono" pitchFamily="49" charset="-120"/>
              </a:rPr>
              <a:t>, random_state=</a:t>
            </a:r>
            <a:r>
              <a:rPr lang="en-US" sz="1300" dirty="0">
                <a:solidFill>
                  <a:srgbClr val="F5C76B"/>
                </a:solidFill>
                <a:latin typeface="JetBrains Mono" pitchFamily="49" charset="0"/>
                <a:ea typeface="JetBrains Mono" pitchFamily="49" charset="-122"/>
                <a:cs typeface="JetBrains Mono" pitchFamily="49" charset="-120"/>
              </a:rPr>
              <a:t>42</a:t>
            </a:r>
            <a:r>
              <a:rPr lang="en-US" sz="1300" dirty="0">
                <a:solidFill>
                  <a:srgbClr val="E6E4DD"/>
                </a:solidFill>
                <a:latin typeface="JetBrains Mono" pitchFamily="49" charset="0"/>
                <a:ea typeface="JetBrains Mono" pitchFamily="49" charset="-122"/>
                <a:cs typeface="JetBrains Mono" pitchFamily="49" charset="-120"/>
              </a:rPr>
              <a:t>)</a:t>
            </a:r>
          </a:p>
          <a:p>
            <a:pPr algn="l" indent="0" marL="0">
              <a:lnSpc>
                <a:spcPts val="1700"/>
              </a:lnSpc>
              <a:buNone/>
            </a:pPr>
            <a:r>
              <a:rPr lang="en-US" sz="1300" dirty="0">
                <a:solidFill>
                  <a:srgbClr val="8A92A3"/>
                </a:solidFill>
                <a:latin typeface="JetBrains Mono" pitchFamily="49" charset="0"/>
                <a:ea typeface="JetBrains Mono" pitchFamily="49" charset="-122"/>
                <a:cs typeface="JetBrains Mono" pitchFamily="49" charset="-120"/>
              </a:rPr>
              <a:t># median hp, all data: 93.5   train only: 92.0</a:t>
            </a:r>
          </a:p>
        </p:txBody>
      </p:sp>
      <p:sp>
        <p:nvSpPr>
          <p:cNvPr id="17" name="Shape 15"/>
          <p:cNvSpPr/>
          <p:nvPr/>
        </p:nvSpPr>
        <p:spPr>
          <a:xfrm>
            <a:off x="812800" y="5247680"/>
            <a:ext cx="6680200" cy="797520"/>
          </a:xfrm>
          <a:prstGeom prst="roundRect">
            <a:avLst>
              <a:gd name="adj" fmla="val 15924"/>
            </a:avLst>
          </a:prstGeom>
          <a:solidFill>
            <a:srgbClr val="F6DCCD"/>
          </a:solidFill>
          <a:ln/>
        </p:spPr>
        <p:txBody>
          <a:bodyPr/>
          <a:p/>
        </p:txBody>
      </p:sp>
      <p:sp>
        <p:nvSpPr>
          <p:cNvPr id="18" name="Text 16"/>
          <p:cNvSpPr/>
          <p:nvPr/>
        </p:nvSpPr>
        <p:spPr>
          <a:xfrm>
            <a:off x="1016000" y="5425480"/>
            <a:ext cx="935434" cy="264120"/>
          </a:xfrm>
          <a:custGeom>
            <a:avLst/>
            <a:gdLst/>
            <a:ahLst/>
            <a:cxnLst/>
            <a:rect l="l" t="t" r="r" b="b"/>
            <a:pathLst>
              <a:path w="935434" h="264120">
                <a:moveTo>
                  <a:pt x="132060" y="0"/>
                </a:moveTo>
                <a:lnTo>
                  <a:pt x="803374" y="0"/>
                </a:lnTo>
                <a:arcTo hR="132060" wR="132060" stAng="16200000" swAng="5400000"/>
                <a:lnTo>
                  <a:pt x="935434" y="132060"/>
                </a:lnTo>
                <a:arcTo hR="132060" wR="132060" stAng="0" swAng="5400000"/>
                <a:lnTo>
                  <a:pt x="132060" y="264120"/>
                </a:lnTo>
                <a:arcTo hR="132060" wR="132060" stAng="5400000" swAng="5400000"/>
                <a:lnTo>
                  <a:pt x="0" y="132060"/>
                </a:lnTo>
                <a:arcTo hR="132060" wR="132060" stAng="10800000" swAng="5400000"/>
                <a:close/>
              </a:path>
            </a:pathLst>
          </a:custGeom>
          <a:solidFill>
            <a:srgbClr val="C2410C"/>
          </a:solidFill>
          <a:ln/>
        </p:spPr>
        <p:txBody>
          <a:bodyPr wrap="none" lIns="101600" tIns="25400" rIns="50800" bIns="0" rtlCol="0" anchor="t">
            <a:normAutofit/>
          </a:bodyPr>
          <a:lstStyle/>
          <a:p>
            <a:pPr algn="l" indent="0" marL="0">
              <a:lnSpc>
                <a:spcPts val="1680"/>
              </a:lnSpc>
              <a:buNone/>
            </a:pPr>
            <a:r>
              <a:rPr lang="en-US" sz="1200" b="1" dirty="0">
                <a:solidFill>
                  <a:srgbClr val="FBFAF6"/>
                </a:solidFill>
                <a:latin typeface="JetBrains Mono" pitchFamily="49" charset="0"/>
                <a:ea typeface="JetBrains Mono" pitchFamily="49" charset="-122"/>
                <a:cs typeface="JetBrains Mono" pitchFamily="49" charset="-120"/>
              </a:rPr>
              <a:t>RULE</a:t>
            </a:r>
            <a:endParaRPr lang="en-US" sz="1200" dirty="0"/>
          </a:p>
        </p:txBody>
      </p:sp>
      <p:sp>
        <p:nvSpPr>
          <p:cNvPr id="19" name="Text 17"/>
          <p:cNvSpPr/>
          <p:nvPr/>
        </p:nvSpPr>
        <p:spPr>
          <a:xfrm>
            <a:off x="2078434" y="5425480"/>
            <a:ext cx="5367707"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6181D"/>
                </a:solidFill>
                <a:latin typeface="IBM Plex Sans" pitchFamily="34" charset="0"/>
                <a:ea typeface="IBM Plex Sans" pitchFamily="34" charset="-122"/>
                <a:cs typeface="IBM Plex Sans" pitchFamily="34" charset="-120"/>
              </a:rPr>
              <a:t>Every value you compute (median, mean, scale) comes from the training data only.</a:t>
            </a:r>
            <a:endParaRPr lang="en-US" sz="1200" dirty="0"/>
          </a:p>
        </p:txBody>
      </p:sp>
      <p:sp>
        <p:nvSpPr>
          <p:cNvPr id="20" name="Shape 18"/>
          <p:cNvSpPr/>
          <p:nvPr/>
        </p:nvSpPr>
        <p:spPr>
          <a:xfrm>
            <a:off x="7696200" y="1828701"/>
            <a:ext cx="3683000" cy="4216499"/>
          </a:xfrm>
          <a:prstGeom prst="roundRect">
            <a:avLst>
              <a:gd name="adj" fmla="val 4138"/>
            </a:avLst>
          </a:prstGeom>
          <a:solidFill>
            <a:srgbClr val="16181D"/>
          </a:solidFill>
          <a:ln/>
        </p:spPr>
        <p:txBody>
          <a:bodyPr/>
          <a:p/>
        </p:txBody>
      </p:sp>
      <p:sp>
        <p:nvSpPr>
          <p:cNvPr id="21" name="Text 19"/>
          <p:cNvSpPr/>
          <p:nvPr/>
        </p:nvSpPr>
        <p:spPr>
          <a:xfrm>
            <a:off x="7950200" y="2082701"/>
            <a:ext cx="3270250"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F7A45"/>
                </a:solidFill>
                <a:latin typeface="JetBrains Mono" pitchFamily="49" charset="0"/>
                <a:ea typeface="JetBrains Mono" pitchFamily="49" charset="-122"/>
                <a:cs typeface="JetBrains Mono" pitchFamily="49" charset="-120"/>
              </a:rPr>
              <a:t>DATA LEAKAGE</a:t>
            </a:r>
            <a:endParaRPr lang="en-US" sz="1200" dirty="0"/>
          </a:p>
        </p:txBody>
      </p:sp>
      <p:sp>
        <p:nvSpPr>
          <p:cNvPr id="22" name="Text 20"/>
          <p:cNvSpPr/>
          <p:nvPr/>
        </p:nvSpPr>
        <p:spPr>
          <a:xfrm>
            <a:off x="7950200" y="2423021"/>
            <a:ext cx="3270250"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ECEAE4"/>
                </a:solidFill>
                <a:latin typeface="Space Grotesk" pitchFamily="34" charset="0"/>
                <a:ea typeface="Space Grotesk" pitchFamily="34" charset="-122"/>
                <a:cs typeface="Space Grotesk" pitchFamily="34" charset="-120"/>
              </a:rPr>
              <a:t>The test set must stay a surprise.</a:t>
            </a:r>
            <a:endParaRPr lang="en-US" sz="2000" dirty="0"/>
          </a:p>
        </p:txBody>
      </p:sp>
      <p:sp>
        <p:nvSpPr>
          <p:cNvPr id="23" name="Text 21"/>
          <p:cNvSpPr/>
          <p:nvPr/>
        </p:nvSpPr>
        <p:spPr>
          <a:xfrm>
            <a:off x="7950200" y="3134221"/>
            <a:ext cx="3270250"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3A8B4"/>
                </a:solidFill>
                <a:latin typeface="IBM Plex Sans" pitchFamily="34" charset="0"/>
                <a:ea typeface="IBM Plex Sans" pitchFamily="34" charset="-122"/>
                <a:cs typeface="IBM Plex Sans" pitchFamily="34" charset="-120"/>
              </a:rPr>
              <a:t>If you fill missing values with the median of all data, a bit of the test set slips into training. The model looks better in the test than it will be in reality.</a:t>
            </a:r>
            <a:endParaRPr lang="en-US" sz="1200" dirty="0"/>
          </a:p>
        </p:txBody>
      </p:sp>
      <p:sp>
        <p:nvSpPr>
          <p:cNvPr id="24" name="Shape 22"/>
          <p:cNvSpPr/>
          <p:nvPr/>
        </p:nvSpPr>
        <p:spPr>
          <a:xfrm>
            <a:off x="7950200" y="5219105"/>
            <a:ext cx="3175000" cy="0"/>
          </a:xfrm>
          <a:prstGeom prst="line">
            <a:avLst/>
          </a:prstGeom>
          <a:noFill/>
          <a:ln w="6350">
            <a:solidFill>
              <a:srgbClr val="3A404D"/>
            </a:solidFill>
            <a:prstDash val="solid"/>
          </a:ln>
        </p:spPr>
      </p:sp>
      <p:sp>
        <p:nvSpPr>
          <p:cNvPr id="25" name="Text 23"/>
          <p:cNvSpPr/>
          <p:nvPr/>
        </p:nvSpPr>
        <p:spPr>
          <a:xfrm>
            <a:off x="7950200" y="5349280"/>
            <a:ext cx="3270250" cy="46732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ECEAE4"/>
                </a:solidFill>
                <a:latin typeface="IBM Plex Sans" pitchFamily="34" charset="0"/>
                <a:ea typeface="IBM Plex Sans" pitchFamily="34" charset="-122"/>
                <a:cs typeface="IBM Plex Sans" pitchFamily="34" charset="-120"/>
              </a:rPr>
              <a:t>Small here (93.5 vs. 92.0), dangerous in real projects.</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16">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F7A45"/>
                </a:solidFill>
                <a:latin typeface="JetBrains Mono" pitchFamily="49" charset="0"/>
                <a:ea typeface="JetBrains Mono" pitchFamily="49" charset="-122"/>
                <a:cs typeface="JetBrains Mono" pitchFamily="49" charset="-120"/>
              </a:rPr>
              <a:t>VIDEO · WHY SCALE?</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ECEAE4"/>
                </a:solidFill>
                <a:latin typeface="Space Grotesk" pitchFamily="34" charset="0"/>
                <a:ea typeface="Space Grotesk" pitchFamily="34" charset="-122"/>
                <a:cs typeface="Space Grotesk" pitchFamily="34" charset="-120"/>
              </a:rPr>
              <a:t>Unscaled features make gradient descent zig-zag</a:t>
            </a:r>
            <a:endParaRPr lang="en-US" sz="3200" dirty="0"/>
          </a:p>
        </p:txBody>
      </p:sp>
      <p:sp>
        <p:nvSpPr>
          <p:cNvPr id="5" name="Shape 2"/>
          <p:cNvSpPr/>
          <p:nvPr/>
        </p:nvSpPr>
        <p:spPr>
          <a:xfrm>
            <a:off x="815975" y="1831876"/>
            <a:ext cx="7359650" cy="4133850"/>
          </a:xfrm>
          <a:prstGeom prst="roundRect">
            <a:avLst>
              <a:gd name="adj" fmla="val 2995"/>
            </a:avLst>
          </a:prstGeom>
          <a:noFill/>
          <a:ln w="6350">
            <a:solidFill>
              <a:srgbClr val="2A2F3A"/>
            </a:solidFill>
            <a:prstDash val="solid"/>
          </a:ln>
        </p:spPr>
        <p:txBody>
          <a:bodyPr/>
          <a:p/>
        </p:txBody>
      </p:sp>
      <p:sp>
        <p:nvSpPr>
          <p:cNvPr id="6" name="Text 3"/>
          <p:cNvSpPr/>
          <p:nvPr/>
        </p:nvSpPr>
        <p:spPr>
          <a:xfrm>
            <a:off x="8483600" y="1828701"/>
            <a:ext cx="2982468"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F7A45"/>
                </a:solidFill>
                <a:latin typeface="JetBrains Mono" pitchFamily="49" charset="0"/>
                <a:ea typeface="JetBrains Mono" pitchFamily="49" charset="-122"/>
                <a:cs typeface="JetBrains Mono" pitchFamily="49" charset="-120"/>
              </a:rPr>
              <a:t>WHAT YOU SEE</a:t>
            </a:r>
            <a:endParaRPr lang="en-US" sz="1200" dirty="0"/>
          </a:p>
        </p:txBody>
      </p:sp>
      <p:sp>
        <p:nvSpPr>
          <p:cNvPr id="7" name="Shape 4"/>
          <p:cNvSpPr/>
          <p:nvPr/>
        </p:nvSpPr>
        <p:spPr>
          <a:xfrm>
            <a:off x="8493125" y="2194421"/>
            <a:ext cx="0" cy="452041"/>
          </a:xfrm>
          <a:prstGeom prst="line">
            <a:avLst/>
          </a:prstGeom>
          <a:noFill/>
          <a:ln w="19050">
            <a:solidFill>
              <a:srgbClr val="FF7A45"/>
            </a:solidFill>
            <a:prstDash val="solid"/>
          </a:ln>
        </p:spPr>
        <p:txBody>
          <a:bodyPr/>
          <a:p/>
        </p:txBody>
      </p:sp>
      <p:sp>
        <p:nvSpPr>
          <p:cNvPr id="8" name="Text 5"/>
          <p:cNvSpPr/>
          <p:nvPr/>
        </p:nvSpPr>
        <p:spPr>
          <a:xfrm>
            <a:off x="8629650" y="2194421"/>
            <a:ext cx="28320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CEAE4"/>
                </a:solidFill>
                <a:latin typeface="IBM Plex Sans" pitchFamily="34" charset="0"/>
                <a:ea typeface="IBM Plex Sans" pitchFamily="34" charset="-122"/>
                <a:cs typeface="IBM Plex Sans" pitchFamily="34" charset="-120"/>
              </a:rPr>
              <a:t>Unscaled</a:t>
            </a:r>
            <a:endParaRPr lang="en-US" sz="1200" dirty="0"/>
          </a:p>
        </p:txBody>
      </p:sp>
      <p:sp>
        <p:nvSpPr>
          <p:cNvPr id="9" name="Text 6"/>
          <p:cNvSpPr/>
          <p:nvPr/>
        </p:nvSpPr>
        <p:spPr>
          <a:xfrm>
            <a:off x="8629650" y="2433141"/>
            <a:ext cx="28320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8B4"/>
                </a:solidFill>
                <a:latin typeface="IBM Plex Sans" pitchFamily="34" charset="0"/>
                <a:ea typeface="IBM Plex Sans" pitchFamily="34" charset="-122"/>
                <a:cs typeface="IBM Plex Sans" pitchFamily="34" charset="-120"/>
              </a:rPr>
              <a:t>weight ≈ 3000, acceleration ≈ 15</a:t>
            </a:r>
            <a:endParaRPr lang="en-US" sz="1200" dirty="0"/>
          </a:p>
        </p:txBody>
      </p:sp>
      <p:sp>
        <p:nvSpPr>
          <p:cNvPr id="10" name="Shape 7"/>
          <p:cNvSpPr/>
          <p:nvPr/>
        </p:nvSpPr>
        <p:spPr>
          <a:xfrm>
            <a:off x="8493125" y="2798862"/>
            <a:ext cx="0" cy="452041"/>
          </a:xfrm>
          <a:prstGeom prst="line">
            <a:avLst/>
          </a:prstGeom>
          <a:noFill/>
          <a:ln w="19050">
            <a:solidFill>
              <a:srgbClr val="3A404D"/>
            </a:solidFill>
            <a:prstDash val="solid"/>
          </a:ln>
        </p:spPr>
        <p:txBody>
          <a:bodyPr/>
          <a:p/>
        </p:txBody>
      </p:sp>
      <p:sp>
        <p:nvSpPr>
          <p:cNvPr id="11" name="Text 8"/>
          <p:cNvSpPr/>
          <p:nvPr/>
        </p:nvSpPr>
        <p:spPr>
          <a:xfrm>
            <a:off x="8629650" y="2798862"/>
            <a:ext cx="28320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CEAE4"/>
                </a:solidFill>
                <a:latin typeface="IBM Plex Sans" pitchFamily="34" charset="0"/>
                <a:ea typeface="IBM Plex Sans" pitchFamily="34" charset="-122"/>
                <a:cs typeface="IBM Plex Sans" pitchFamily="34" charset="-120"/>
              </a:rPr>
              <a:t>One learning rate</a:t>
            </a:r>
            <a:endParaRPr lang="en-US" sz="1200" dirty="0"/>
          </a:p>
        </p:txBody>
      </p:sp>
      <p:sp>
        <p:nvSpPr>
          <p:cNvPr id="12" name="Text 9"/>
          <p:cNvSpPr/>
          <p:nvPr/>
        </p:nvSpPr>
        <p:spPr>
          <a:xfrm>
            <a:off x="8629650" y="3037582"/>
            <a:ext cx="28320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8B4"/>
                </a:solidFill>
                <a:latin typeface="IBM Plex Sans" pitchFamily="34" charset="0"/>
                <a:ea typeface="IBM Plex Sans" pitchFamily="34" charset="-122"/>
                <a:cs typeface="IBM Plex Sans" pitchFamily="34" charset="-120"/>
              </a:rPr>
              <a:t>too big for one, too small for the other</a:t>
            </a:r>
            <a:endParaRPr lang="en-US" sz="1200" dirty="0"/>
          </a:p>
        </p:txBody>
      </p:sp>
      <p:sp>
        <p:nvSpPr>
          <p:cNvPr id="13" name="Shape 10"/>
          <p:cNvSpPr/>
          <p:nvPr/>
        </p:nvSpPr>
        <p:spPr>
          <a:xfrm>
            <a:off x="8493125" y="3403302"/>
            <a:ext cx="0" cy="452041"/>
          </a:xfrm>
          <a:prstGeom prst="line">
            <a:avLst/>
          </a:prstGeom>
          <a:noFill/>
          <a:ln w="19050">
            <a:solidFill>
              <a:srgbClr val="3A404D"/>
            </a:solidFill>
            <a:prstDash val="solid"/>
          </a:ln>
        </p:spPr>
        <p:txBody>
          <a:bodyPr/>
          <a:p/>
        </p:txBody>
      </p:sp>
      <p:sp>
        <p:nvSpPr>
          <p:cNvPr id="14" name="Text 11"/>
          <p:cNvSpPr/>
          <p:nvPr/>
        </p:nvSpPr>
        <p:spPr>
          <a:xfrm>
            <a:off x="8629650" y="3403302"/>
            <a:ext cx="28320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CEAE4"/>
                </a:solidFill>
                <a:latin typeface="IBM Plex Sans" pitchFamily="34" charset="0"/>
                <a:ea typeface="IBM Plex Sans" pitchFamily="34" charset="-122"/>
                <a:cs typeface="IBM Plex Sans" pitchFamily="34" charset="-120"/>
              </a:rPr>
              <a:t>Scaled</a:t>
            </a:r>
            <a:endParaRPr lang="en-US" sz="1200" dirty="0"/>
          </a:p>
        </p:txBody>
      </p:sp>
      <p:sp>
        <p:nvSpPr>
          <p:cNvPr id="15" name="Text 12"/>
          <p:cNvSpPr/>
          <p:nvPr/>
        </p:nvSpPr>
        <p:spPr>
          <a:xfrm>
            <a:off x="8629650" y="3642023"/>
            <a:ext cx="28320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8B4"/>
                </a:solidFill>
                <a:latin typeface="IBM Plex Sans" pitchFamily="34" charset="0"/>
                <a:ea typeface="IBM Plex Sans" pitchFamily="34" charset="-122"/>
                <a:cs typeface="IBM Plex Sans" pitchFamily="34" charset="-120"/>
              </a:rPr>
              <a:t>mean 0, standard deviation 1</a:t>
            </a:r>
            <a:endParaRPr lang="en-US" sz="1200" dirty="0"/>
          </a:p>
        </p:txBody>
      </p:sp>
      <p:sp>
        <p:nvSpPr>
          <p:cNvPr id="16" name="Shape 13"/>
          <p:cNvSpPr/>
          <p:nvPr/>
        </p:nvSpPr>
        <p:spPr>
          <a:xfrm>
            <a:off x="8493125" y="4007743"/>
            <a:ext cx="0" cy="452041"/>
          </a:xfrm>
          <a:prstGeom prst="line">
            <a:avLst/>
          </a:prstGeom>
          <a:noFill/>
          <a:ln w="19050">
            <a:solidFill>
              <a:srgbClr val="3A404D"/>
            </a:solidFill>
            <a:prstDash val="solid"/>
          </a:ln>
        </p:spPr>
        <p:txBody>
          <a:bodyPr/>
          <a:p/>
        </p:txBody>
      </p:sp>
      <p:sp>
        <p:nvSpPr>
          <p:cNvPr id="17" name="Text 14"/>
          <p:cNvSpPr/>
          <p:nvPr/>
        </p:nvSpPr>
        <p:spPr>
          <a:xfrm>
            <a:off x="8629650" y="4007743"/>
            <a:ext cx="28320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CEAE4"/>
                </a:solidFill>
                <a:latin typeface="IBM Plex Sans" pitchFamily="34" charset="0"/>
                <a:ea typeface="IBM Plex Sans" pitchFamily="34" charset="-122"/>
                <a:cs typeface="IBM Plex Sans" pitchFamily="34" charset="-120"/>
              </a:rPr>
              <a:t>Result</a:t>
            </a:r>
            <a:endParaRPr lang="en-US" sz="1200" dirty="0"/>
          </a:p>
        </p:txBody>
      </p:sp>
      <p:sp>
        <p:nvSpPr>
          <p:cNvPr id="18" name="Text 15"/>
          <p:cNvSpPr/>
          <p:nvPr/>
        </p:nvSpPr>
        <p:spPr>
          <a:xfrm>
            <a:off x="8629650" y="4246463"/>
            <a:ext cx="28320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8B4"/>
                </a:solidFill>
                <a:latin typeface="IBM Plex Sans" pitchFamily="34" charset="0"/>
                <a:ea typeface="IBM Plex Sans" pitchFamily="34" charset="-122"/>
                <a:cs typeface="IBM Plex Sans" pitchFamily="34" charset="-120"/>
              </a:rPr>
              <a:t>a straight walk to the minimum</a:t>
            </a:r>
            <a:endParaRPr lang="en-US" sz="1200" dirty="0"/>
          </a:p>
        </p:txBody>
      </p:sp>
      <p:pic>
        <p:nvPicPr>
          <p:cNvPr id="19" name="ScalingGD.mp4">
            <a:hlinkClick r:id="" action="ppaction://media"/>
          </p:cNvPr>
          <p:cNvPicPr>
            <a:picLocks noChangeAspect="1"/>
          </p:cNvPicPr>
          <p:nvPr>
            <a:videoFile r:link="rId3"/>
            <p:extLst>
              <p:ext uri="{DAA4B4D4-6D71-4841-9C94-3DE7FCFB9230}">
                <p14:media xmlns:p14="http://schemas.microsoft.com/office/powerpoint/2010/main" r:embed="rId1"/>
              </p:ext>
            </p:extLst>
          </p:nvPr>
        </p:nvPicPr>
        <p:blipFill>
          <a:blip r:embed="rId4"/>
          <a:stretch>
            <a:fillRect/>
          </a:stretch>
        </p:blipFill>
        <p:spPr>
          <a:xfrm>
            <a:off x="819150" y="1835051"/>
            <a:ext cx="7353300" cy="41275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19"/>
                </p:tgtEl>
              </p:cMediaNode>
            </p:video>
            <p:video>
              <p:cMediaNode vol="80000">
                <p:cTn id="3" fill="hold" display="0">
                  <p:stCondLst>
                    <p:cond delay="indefinite"/>
                  </p:stCondLst>
                </p:cTn>
                <p:tgtEl>
                  <p:spTgt spid="19"/>
                </p:tgtEl>
              </p:cMediaNode>
            </p:video>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name="Slide 17">
    <p:bg>
      <p:bgPr>
        <a:solidFill>
          <a:srgbClr val="0F111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F7A45"/>
                </a:solidFill>
                <a:latin typeface="JetBrains Mono" pitchFamily="49" charset="0"/>
                <a:ea typeface="JetBrains Mono" pitchFamily="49" charset="-122"/>
                <a:cs typeface="JetBrains Mono" pitchFamily="49" charset="-120"/>
              </a:rPr>
              <a:t>02 · PIPELINE</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ECEAE4"/>
                </a:solidFill>
                <a:latin typeface="Space Grotesk" pitchFamily="34" charset="0"/>
                <a:ea typeface="Space Grotesk" pitchFamily="34" charset="-122"/>
                <a:cs typeface="Space Grotesk" pitchFamily="34" charset="-120"/>
              </a:rPr>
              <a:t>A pipeline makes leakage impossible</a:t>
            </a:r>
            <a:endParaRPr lang="en-US" sz="3200" dirty="0"/>
          </a:p>
        </p:txBody>
      </p:sp>
      <p:sp>
        <p:nvSpPr>
          <p:cNvPr id="4" name="Shape 2"/>
          <p:cNvSpPr/>
          <p:nvPr/>
        </p:nvSpPr>
        <p:spPr>
          <a:xfrm>
            <a:off x="815975" y="1831876"/>
            <a:ext cx="6750050" cy="4210149"/>
          </a:xfrm>
          <a:prstGeom prst="roundRect">
            <a:avLst>
              <a:gd name="adj" fmla="val 3544"/>
            </a:avLst>
          </a:prstGeom>
          <a:solidFill>
            <a:srgbClr val="171B23"/>
          </a:solidFill>
          <a:ln w="6350">
            <a:solidFill>
              <a:srgbClr val="2A2F3A"/>
            </a:solidFill>
            <a:prstDash val="solid"/>
          </a:ln>
        </p:spPr>
        <p:txBody>
          <a:bodyPr/>
          <a:p/>
        </p:txBody>
      </p:sp>
      <p:sp>
        <p:nvSpPr>
          <p:cNvPr id="5" name="Shape 3"/>
          <p:cNvSpPr/>
          <p:nvPr/>
        </p:nvSpPr>
        <p:spPr>
          <a:xfrm>
            <a:off x="819150" y="1835051"/>
            <a:ext cx="6743700" cy="422870"/>
          </a:xfrm>
          <a:custGeom>
            <a:avLst/>
            <a:gdLst/>
            <a:ahLst/>
            <a:cxnLst/>
            <a:rect l="l" t="t" r="r" b="b"/>
            <a:pathLst>
              <a:path w="6743700" h="422870">
                <a:moveTo>
                  <a:pt x="0" y="416520"/>
                </a:moveTo>
                <a:lnTo>
                  <a:pt x="6743700" y="416520"/>
                </a:lnTo>
                <a:lnTo>
                  <a:pt x="6743700" y="422870"/>
                </a:lnTo>
                <a:lnTo>
                  <a:pt x="0" y="422870"/>
                </a:lnTo>
                <a:lnTo>
                  <a:pt x="0" y="416520"/>
                </a:lnTo>
                <a:close/>
              </a:path>
            </a:pathLst>
          </a:custGeom>
          <a:solidFill>
            <a:srgbClr val="2A2F3A"/>
          </a:solidFill>
          <a:ln/>
        </p:spPr>
        <p:txBody>
          <a:bodyPr/>
          <a:p/>
        </p:txBody>
      </p:sp>
      <p:sp>
        <p:nvSpPr>
          <p:cNvPr id="6" name="Shape 4"/>
          <p:cNvSpPr/>
          <p:nvPr/>
        </p:nvSpPr>
        <p:spPr>
          <a:xfrm>
            <a:off x="996950" y="1998861"/>
            <a:ext cx="88900" cy="88900"/>
          </a:xfrm>
          <a:prstGeom prst="roundRect">
            <a:avLst>
              <a:gd name="adj" fmla="val 50000"/>
            </a:avLst>
          </a:prstGeom>
          <a:solidFill>
            <a:srgbClr val="3A404D"/>
          </a:solidFill>
          <a:ln/>
        </p:spPr>
        <p:txBody>
          <a:bodyPr/>
          <a:p/>
        </p:txBody>
      </p:sp>
      <p:sp>
        <p:nvSpPr>
          <p:cNvPr id="7" name="Shape 5"/>
          <p:cNvSpPr/>
          <p:nvPr/>
        </p:nvSpPr>
        <p:spPr>
          <a:xfrm>
            <a:off x="1162050" y="1998861"/>
            <a:ext cx="88900" cy="88900"/>
          </a:xfrm>
          <a:prstGeom prst="roundRect">
            <a:avLst>
              <a:gd name="adj" fmla="val 50000"/>
            </a:avLst>
          </a:prstGeom>
          <a:solidFill>
            <a:srgbClr val="3A404D"/>
          </a:solidFill>
          <a:ln/>
        </p:spPr>
        <p:txBody>
          <a:bodyPr/>
          <a:p/>
        </p:txBody>
      </p:sp>
      <p:sp>
        <p:nvSpPr>
          <p:cNvPr id="8" name="Shape 6"/>
          <p:cNvSpPr/>
          <p:nvPr/>
        </p:nvSpPr>
        <p:spPr>
          <a:xfrm>
            <a:off x="1327150" y="1998861"/>
            <a:ext cx="88900" cy="88900"/>
          </a:xfrm>
          <a:prstGeom prst="roundRect">
            <a:avLst>
              <a:gd name="adj" fmla="val 50000"/>
            </a:avLst>
          </a:prstGeom>
          <a:solidFill>
            <a:srgbClr val="3A404D"/>
          </a:solidFill>
          <a:ln/>
        </p:spPr>
        <p:txBody>
          <a:bodyPr/>
          <a:p/>
        </p:txBody>
      </p:sp>
      <p:sp>
        <p:nvSpPr>
          <p:cNvPr id="9" name="Text 7"/>
          <p:cNvSpPr/>
          <p:nvPr/>
        </p:nvSpPr>
        <p:spPr>
          <a:xfrm>
            <a:off x="1568450" y="1936651"/>
            <a:ext cx="6584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2A3"/>
                </a:solidFill>
                <a:latin typeface="JetBrains Mono" pitchFamily="49" charset="0"/>
                <a:ea typeface="JetBrains Mono" pitchFamily="49" charset="-122"/>
                <a:cs typeface="JetBrains Mono" pitchFamily="49" charset="-120"/>
              </a:rPr>
              <a:t>pipeline.py</a:t>
            </a:r>
            <a:endParaRPr lang="en-US" sz="1200" dirty="0"/>
          </a:p>
        </p:txBody>
      </p:sp>
      <p:sp>
        <p:nvSpPr>
          <p:cNvPr id="10" name="Text 8"/>
          <p:cNvSpPr/>
          <p:nvPr/>
        </p:nvSpPr>
        <p:spPr>
          <a:xfrm>
            <a:off x="6750050" y="1923951"/>
            <a:ext cx="635000" cy="238720"/>
          </a:xfrm>
          <a:custGeom>
            <a:avLst/>
            <a:gdLst/>
            <a:ahLst/>
            <a:cxnLst/>
            <a:rect l="l" t="t" r="r" b="b"/>
            <a:pathLst>
              <a:path w="635000" h="238720">
                <a:moveTo>
                  <a:pt x="119360" y="0"/>
                </a:moveTo>
                <a:lnTo>
                  <a:pt x="515640" y="0"/>
                </a:lnTo>
                <a:arcTo hR="119360" wR="119360" stAng="16200000" swAng="5400000"/>
                <a:lnTo>
                  <a:pt x="635000" y="119360"/>
                </a:lnTo>
                <a:arcTo hR="119360" wR="119360" stAng="0" swAng="5400000"/>
                <a:lnTo>
                  <a:pt x="119360" y="238720"/>
                </a:lnTo>
                <a:arcTo hR="119360" wR="119360" stAng="5400000" swAng="5400000"/>
                <a:lnTo>
                  <a:pt x="0" y="119360"/>
                </a:lnTo>
                <a:arcTo hR="119360" wR="119360" stAng="10800000" swAng="5400000"/>
                <a:close/>
              </a:path>
            </a:pathLst>
          </a:custGeom>
          <a:solidFill>
            <a:srgbClr val="F5B83D"/>
          </a:solidFill>
          <a:ln/>
        </p:spPr>
        <p:txBody>
          <a:bodyPr wrap="none" lIns="0" tIns="0" rIns="0" bIns="0" rtlCol="0" anchor="ctr">
            <a:normAutofit/>
          </a:bodyPr>
          <a:lstStyle/>
          <a:p>
            <a:pPr algn="ctr" indent="0" marL="0">
              <a:lnSpc>
                <a:spcPts val="1680"/>
              </a:lnSpc>
              <a:buNone/>
            </a:pPr>
            <a:r>
              <a:rPr lang="en-US" sz="1200" b="1" dirty="0">
                <a:solidFill>
                  <a:srgbClr val="0F1115"/>
                </a:solidFill>
                <a:latin typeface="JetBrains Mono" pitchFamily="49" charset="0"/>
                <a:ea typeface="JetBrains Mono" pitchFamily="49" charset="-122"/>
                <a:cs typeface="JetBrains Mono" pitchFamily="49" charset="-120"/>
              </a:rPr>
              <a:t>sklearn</a:t>
            </a:r>
            <a:endParaRPr lang="en-US" sz="1200" dirty="0"/>
          </a:p>
        </p:txBody>
      </p:sp>
      <p:sp>
        <p:nvSpPr>
          <p:cNvPr id="11" name="Text 9"/>
          <p:cNvSpPr/>
          <p:nvPr/>
        </p:nvSpPr>
        <p:spPr>
          <a:xfrm>
            <a:off x="1047750" y="2514600"/>
            <a:ext cx="6475095" cy="3429000"/>
          </a:xfrm>
          <a:prstGeom prst="rect">
            <a:avLst/>
          </a:prstGeom>
          <a:noFill/>
          <a:ln/>
        </p:spPr>
        <p:txBody>
          <a:bodyPr wrap="square" lIns="0" tIns="0" rIns="0" bIns="0" rtlCol="0" anchor="t"/>
          <a:lstStyle/>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numeric = </a:t>
            </a:r>
            <a:r>
              <a:rPr lang="en-US" sz="1300" dirty="0">
                <a:solidFill>
                  <a:srgbClr val="8EC9FF"/>
                </a:solidFill>
                <a:latin typeface="JetBrains Mono" pitchFamily="49" charset="0"/>
                <a:ea typeface="JetBrains Mono" pitchFamily="49" charset="-122"/>
                <a:cs typeface="JetBrains Mono" pitchFamily="49" charset="-120"/>
              </a:rPr>
              <a:t>Pipeline</a:t>
            </a:r>
            <a:r>
              <a:rPr lang="en-US" sz="1300" dirty="0">
                <a:solidFill>
                  <a:srgbClr val="E6E4DD"/>
                </a:solidFill>
                <a:latin typeface="JetBrains Mono" pitchFamily="49" charset="0"/>
                <a:ea typeface="JetBrains Mono" pitchFamily="49" charset="-122"/>
                <a:cs typeface="JetBrains Mono" pitchFamily="49" charset="-120"/>
              </a:rPr>
              <a:t>([</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    (</a:t>
            </a:r>
            <a:r>
              <a:rPr lang="en-US" sz="1300" dirty="0">
                <a:solidFill>
                  <a:srgbClr val="A6E3A1"/>
                </a:solidFill>
                <a:latin typeface="JetBrains Mono" pitchFamily="49" charset="0"/>
                <a:ea typeface="JetBrains Mono" pitchFamily="49" charset="-122"/>
                <a:cs typeface="JetBrains Mono" pitchFamily="49" charset="-120"/>
              </a:rPr>
              <a:t>"impute"</a:t>
            </a:r>
            <a:r>
              <a:rPr lang="en-US" sz="1300" dirty="0">
                <a:solidFill>
                  <a:srgbClr val="E6E4DD"/>
                </a:solidFill>
                <a:latin typeface="JetBrains Mono" pitchFamily="49" charset="0"/>
                <a:ea typeface="JetBrains Mono" pitchFamily="49" charset="-122"/>
                <a:cs typeface="JetBrains Mono" pitchFamily="49" charset="-120"/>
              </a:rPr>
              <a:t>, </a:t>
            </a:r>
            <a:r>
              <a:rPr lang="en-US" sz="1300" dirty="0">
                <a:solidFill>
                  <a:srgbClr val="8EC9FF"/>
                </a:solidFill>
                <a:latin typeface="JetBrains Mono" pitchFamily="49" charset="0"/>
                <a:ea typeface="JetBrains Mono" pitchFamily="49" charset="-122"/>
                <a:cs typeface="JetBrains Mono" pitchFamily="49" charset="-120"/>
              </a:rPr>
              <a:t>SimpleImputer</a:t>
            </a:r>
            <a:r>
              <a:rPr lang="en-US" sz="1300" dirty="0">
                <a:solidFill>
                  <a:srgbClr val="E6E4DD"/>
                </a:solidFill>
                <a:latin typeface="JetBrains Mono" pitchFamily="49" charset="0"/>
                <a:ea typeface="JetBrains Mono" pitchFamily="49" charset="-122"/>
                <a:cs typeface="JetBrains Mono" pitchFamily="49" charset="-120"/>
              </a:rPr>
              <a:t>(strategy=</a:t>
            </a:r>
            <a:r>
              <a:rPr lang="en-US" sz="1300" dirty="0">
                <a:solidFill>
                  <a:srgbClr val="A6E3A1"/>
                </a:solidFill>
                <a:latin typeface="JetBrains Mono" pitchFamily="49" charset="0"/>
                <a:ea typeface="JetBrains Mono" pitchFamily="49" charset="-122"/>
                <a:cs typeface="JetBrains Mono" pitchFamily="49" charset="-120"/>
              </a:rPr>
              <a:t>"median"</a:t>
            </a:r>
            <a:r>
              <a:rPr lang="en-US" sz="1300" dirty="0">
                <a:solidFill>
                  <a:srgbClr val="E6E4DD"/>
                </a:solidFill>
                <a:latin typeface="JetBrains Mono" pitchFamily="49" charset="0"/>
                <a:ea typeface="JetBrains Mono" pitchFamily="49" charset="-122"/>
                <a:cs typeface="JetBrains Mono" pitchFamily="49" charset="-120"/>
              </a:rPr>
              <a:t>)),</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    (</a:t>
            </a:r>
            <a:r>
              <a:rPr lang="en-US" sz="1300" dirty="0">
                <a:solidFill>
                  <a:srgbClr val="A6E3A1"/>
                </a:solidFill>
                <a:latin typeface="JetBrains Mono" pitchFamily="49" charset="0"/>
                <a:ea typeface="JetBrains Mono" pitchFamily="49" charset="-122"/>
                <a:cs typeface="JetBrains Mono" pitchFamily="49" charset="-120"/>
              </a:rPr>
              <a:t>"scale"</a:t>
            </a:r>
            <a:r>
              <a:rPr lang="en-US" sz="1300" dirty="0">
                <a:solidFill>
                  <a:srgbClr val="E6E4DD"/>
                </a:solidFill>
                <a:latin typeface="JetBrains Mono" pitchFamily="49" charset="0"/>
                <a:ea typeface="JetBrains Mono" pitchFamily="49" charset="-122"/>
                <a:cs typeface="JetBrains Mono" pitchFamily="49" charset="-120"/>
              </a:rPr>
              <a:t>,  </a:t>
            </a:r>
            <a:r>
              <a:rPr lang="en-US" sz="1300" dirty="0">
                <a:solidFill>
                  <a:srgbClr val="8EC9FF"/>
                </a:solidFill>
                <a:latin typeface="JetBrains Mono" pitchFamily="49" charset="0"/>
                <a:ea typeface="JetBrains Mono" pitchFamily="49" charset="-122"/>
                <a:cs typeface="JetBrains Mono" pitchFamily="49" charset="-120"/>
              </a:rPr>
              <a:t>StandardScaler</a:t>
            </a:r>
            <a:r>
              <a:rPr lang="en-US" sz="1300" dirty="0">
                <a:solidFill>
                  <a:srgbClr val="E6E4DD"/>
                </a:solidFill>
                <a:latin typeface="JetBrains Mono" pitchFamily="49" charset="0"/>
                <a:ea typeface="JetBrains Mono" pitchFamily="49" charset="-122"/>
                <a:cs typeface="JetBrains Mono" pitchFamily="49" charset="-120"/>
              </a:rPr>
              <a:t>()),</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prep = </a:t>
            </a:r>
            <a:r>
              <a:rPr lang="en-US" sz="1300" dirty="0">
                <a:solidFill>
                  <a:srgbClr val="8EC9FF"/>
                </a:solidFill>
                <a:latin typeface="JetBrains Mono" pitchFamily="49" charset="0"/>
                <a:ea typeface="JetBrains Mono" pitchFamily="49" charset="-122"/>
                <a:cs typeface="JetBrains Mono" pitchFamily="49" charset="-120"/>
              </a:rPr>
              <a:t>ColumnTransformer</a:t>
            </a:r>
            <a:r>
              <a:rPr lang="en-US" sz="1300" dirty="0">
                <a:solidFill>
                  <a:srgbClr val="E6E4DD"/>
                </a:solidFill>
                <a:latin typeface="JetBrains Mono" pitchFamily="49" charset="0"/>
                <a:ea typeface="JetBrains Mono" pitchFamily="49" charset="-122"/>
                <a:cs typeface="JetBrains Mono" pitchFamily="49" charset="-120"/>
              </a:rPr>
              <a:t>([</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    (</a:t>
            </a:r>
            <a:r>
              <a:rPr lang="en-US" sz="1300" dirty="0">
                <a:solidFill>
                  <a:srgbClr val="A6E3A1"/>
                </a:solidFill>
                <a:latin typeface="JetBrains Mono" pitchFamily="49" charset="0"/>
                <a:ea typeface="JetBrains Mono" pitchFamily="49" charset="-122"/>
                <a:cs typeface="JetBrains Mono" pitchFamily="49" charset="-120"/>
              </a:rPr>
              <a:t>"num"</a:t>
            </a:r>
            <a:r>
              <a:rPr lang="en-US" sz="1300" dirty="0">
                <a:solidFill>
                  <a:srgbClr val="E6E4DD"/>
                </a:solidFill>
                <a:latin typeface="JetBrains Mono" pitchFamily="49" charset="0"/>
                <a:ea typeface="JetBrains Mono" pitchFamily="49" charset="-122"/>
                <a:cs typeface="JetBrains Mono" pitchFamily="49" charset="-120"/>
              </a:rPr>
              <a:t>, numeric, num_cols),</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    (</a:t>
            </a:r>
            <a:r>
              <a:rPr lang="en-US" sz="1300" dirty="0">
                <a:solidFill>
                  <a:srgbClr val="A6E3A1"/>
                </a:solidFill>
                <a:latin typeface="JetBrains Mono" pitchFamily="49" charset="0"/>
                <a:ea typeface="JetBrains Mono" pitchFamily="49" charset="-122"/>
                <a:cs typeface="JetBrains Mono" pitchFamily="49" charset="-120"/>
              </a:rPr>
              <a:t>"cat"</a:t>
            </a:r>
            <a:r>
              <a:rPr lang="en-US" sz="1300" dirty="0">
                <a:solidFill>
                  <a:srgbClr val="E6E4DD"/>
                </a:solidFill>
                <a:latin typeface="JetBrains Mono" pitchFamily="49" charset="0"/>
                <a:ea typeface="JetBrains Mono" pitchFamily="49" charset="-122"/>
                <a:cs typeface="JetBrains Mono" pitchFamily="49" charset="-120"/>
              </a:rPr>
              <a:t>, </a:t>
            </a:r>
            <a:r>
              <a:rPr lang="en-US" sz="1300" dirty="0">
                <a:solidFill>
                  <a:srgbClr val="8EC9FF"/>
                </a:solidFill>
                <a:latin typeface="JetBrains Mono" pitchFamily="49" charset="0"/>
                <a:ea typeface="JetBrains Mono" pitchFamily="49" charset="-122"/>
                <a:cs typeface="JetBrains Mono" pitchFamily="49" charset="-120"/>
              </a:rPr>
              <a:t>OneHotEncoder</a:t>
            </a:r>
            <a:r>
              <a:rPr lang="en-US" sz="1300" dirty="0">
                <a:solidFill>
                  <a:srgbClr val="E6E4DD"/>
                </a:solidFill>
                <a:latin typeface="JetBrains Mono" pitchFamily="49" charset="0"/>
                <a:ea typeface="JetBrains Mono" pitchFamily="49" charset="-122"/>
                <a:cs typeface="JetBrains Mono" pitchFamily="49" charset="-120"/>
              </a:rPr>
              <a:t>(), [</a:t>
            </a:r>
            <a:r>
              <a:rPr lang="en-US" sz="1300" dirty="0">
                <a:solidFill>
                  <a:srgbClr val="A6E3A1"/>
                </a:solidFill>
                <a:latin typeface="JetBrains Mono" pitchFamily="49" charset="0"/>
                <a:ea typeface="JetBrains Mono" pitchFamily="49" charset="-122"/>
                <a:cs typeface="JetBrains Mono" pitchFamily="49" charset="-120"/>
              </a:rPr>
              <a:t>"origin"</a:t>
            </a:r>
            <a:r>
              <a:rPr lang="en-US" sz="1300" dirty="0">
                <a:solidFill>
                  <a:srgbClr val="E6E4DD"/>
                </a:solidFill>
                <a:latin typeface="JetBrains Mono" pitchFamily="49" charset="0"/>
                <a:ea typeface="JetBrains Mono" pitchFamily="49" charset="-122"/>
                <a:cs typeface="JetBrains Mono" pitchFamily="49" charset="-120"/>
              </a:rPr>
              <a:t>]),</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model = </a:t>
            </a:r>
            <a:r>
              <a:rPr lang="en-US" sz="1300" dirty="0">
                <a:solidFill>
                  <a:srgbClr val="8EC9FF"/>
                </a:solidFill>
                <a:latin typeface="JetBrains Mono" pitchFamily="49" charset="0"/>
                <a:ea typeface="JetBrains Mono" pitchFamily="49" charset="-122"/>
                <a:cs typeface="JetBrains Mono" pitchFamily="49" charset="-120"/>
              </a:rPr>
              <a:t>Pipeline</a:t>
            </a:r>
            <a:r>
              <a:rPr lang="en-US" sz="1300" dirty="0">
                <a:solidFill>
                  <a:srgbClr val="E6E4DD"/>
                </a:solidFill>
                <a:latin typeface="JetBrains Mono" pitchFamily="49" charset="0"/>
                <a:ea typeface="JetBrains Mono" pitchFamily="49" charset="-122"/>
                <a:cs typeface="JetBrains Mono" pitchFamily="49" charset="-120"/>
              </a:rPr>
              <a:t>([(</a:t>
            </a:r>
            <a:r>
              <a:rPr lang="en-US" sz="1300" dirty="0">
                <a:solidFill>
                  <a:srgbClr val="A6E3A1"/>
                </a:solidFill>
                <a:latin typeface="JetBrains Mono" pitchFamily="49" charset="0"/>
                <a:ea typeface="JetBrains Mono" pitchFamily="49" charset="-122"/>
                <a:cs typeface="JetBrains Mono" pitchFamily="49" charset="-120"/>
              </a:rPr>
              <a:t>"prep"</a:t>
            </a:r>
            <a:r>
              <a:rPr lang="en-US" sz="1300" dirty="0">
                <a:solidFill>
                  <a:srgbClr val="E6E4DD"/>
                </a:solidFill>
                <a:latin typeface="JetBrains Mono" pitchFamily="49" charset="0"/>
                <a:ea typeface="JetBrains Mono" pitchFamily="49" charset="-122"/>
                <a:cs typeface="JetBrains Mono" pitchFamily="49" charset="-120"/>
              </a:rPr>
              <a:t>, prep), (</a:t>
            </a:r>
            <a:r>
              <a:rPr lang="en-US" sz="1300" dirty="0">
                <a:solidFill>
                  <a:srgbClr val="A6E3A1"/>
                </a:solidFill>
                <a:latin typeface="JetBrains Mono" pitchFamily="49" charset="0"/>
                <a:ea typeface="JetBrains Mono" pitchFamily="49" charset="-122"/>
                <a:cs typeface="JetBrains Mono" pitchFamily="49" charset="-120"/>
              </a:rPr>
              <a:t>"rf"</a:t>
            </a:r>
            <a:r>
              <a:rPr lang="en-US" sz="1300" dirty="0">
                <a:solidFill>
                  <a:srgbClr val="E6E4DD"/>
                </a:solidFill>
                <a:latin typeface="JetBrains Mono" pitchFamily="49" charset="0"/>
                <a:ea typeface="JetBrains Mono" pitchFamily="49" charset="-122"/>
                <a:cs typeface="JetBrains Mono" pitchFamily="49" charset="-120"/>
              </a:rPr>
              <a:t>, </a:t>
            </a:r>
            <a:r>
              <a:rPr lang="en-US" sz="1300" dirty="0">
                <a:solidFill>
                  <a:srgbClr val="8EC9FF"/>
                </a:solidFill>
                <a:latin typeface="JetBrains Mono" pitchFamily="49" charset="0"/>
                <a:ea typeface="JetBrains Mono" pitchFamily="49" charset="-122"/>
                <a:cs typeface="JetBrains Mono" pitchFamily="49" charset="-120"/>
              </a:rPr>
              <a:t>RandomForestRegressor</a:t>
            </a:r>
            <a:r>
              <a:rPr lang="en-US" sz="1300" dirty="0">
                <a:solidFill>
                  <a:srgbClr val="E6E4DD"/>
                </a:solidFill>
                <a:latin typeface="JetBrains Mono" pitchFamily="49" charset="0"/>
                <a:ea typeface="JetBrains Mono" pitchFamily="49" charset="-122"/>
                <a:cs typeface="JetBrains Mono" pitchFamily="49" charset="-120"/>
              </a:rPr>
              <a:t>())])</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model.</a:t>
            </a:r>
            <a:r>
              <a:rPr lang="en-US" sz="1300" dirty="0">
                <a:solidFill>
                  <a:srgbClr val="8EC9FF"/>
                </a:solidFill>
                <a:latin typeface="JetBrains Mono" pitchFamily="49" charset="0"/>
                <a:ea typeface="JetBrains Mono" pitchFamily="49" charset="-122"/>
                <a:cs typeface="JetBrains Mono" pitchFamily="49" charset="-120"/>
              </a:rPr>
              <a:t>fit</a:t>
            </a:r>
            <a:r>
              <a:rPr lang="en-US" sz="1300" dirty="0">
                <a:solidFill>
                  <a:srgbClr val="E6E4DD"/>
                </a:solidFill>
                <a:latin typeface="JetBrains Mono" pitchFamily="49" charset="0"/>
                <a:ea typeface="JetBrains Mono" pitchFamily="49" charset="-122"/>
                <a:cs typeface="JetBrains Mono" pitchFamily="49" charset="-120"/>
              </a:rPr>
              <a:t>(X_train, y_train)</a:t>
            </a:r>
            <a:r>
              <a:rPr lang="en-US" sz="1300" dirty="0">
                <a:solidFill>
                  <a:srgbClr val="8A92A3"/>
                </a:solidFill>
                <a:latin typeface="JetBrains Mono" pitchFamily="49" charset="0"/>
                <a:ea typeface="JetBrains Mono" pitchFamily="49" charset="-122"/>
                <a:cs typeface="JetBrains Mono" pitchFamily="49" charset="-120"/>
              </a:rPr>
              <a:t>   # learns medians + scale here</a:t>
            </a:r>
          </a:p>
          <a:p>
            <a:pPr algn="l" indent="0" marL="0">
              <a:lnSpc>
                <a:spcPts val="1750"/>
              </a:lnSpc>
              <a:buNone/>
            </a:pPr>
            <a:r>
              <a:rPr lang="en-US" sz="1300" dirty="0">
                <a:solidFill>
                  <a:srgbClr val="E6E4DD"/>
                </a:solidFill>
                <a:latin typeface="JetBrains Mono" pitchFamily="49" charset="0"/>
                <a:ea typeface="JetBrains Mono" pitchFamily="49" charset="-122"/>
                <a:cs typeface="JetBrains Mono" pitchFamily="49" charset="-120"/>
              </a:rPr>
              <a:t>model.</a:t>
            </a:r>
            <a:r>
              <a:rPr lang="en-US" sz="1300" dirty="0">
                <a:solidFill>
                  <a:srgbClr val="8EC9FF"/>
                </a:solidFill>
                <a:latin typeface="JetBrains Mono" pitchFamily="49" charset="0"/>
                <a:ea typeface="JetBrains Mono" pitchFamily="49" charset="-122"/>
                <a:cs typeface="JetBrains Mono" pitchFamily="49" charset="-120"/>
              </a:rPr>
              <a:t>predict</a:t>
            </a:r>
            <a:r>
              <a:rPr lang="en-US" sz="1300" dirty="0">
                <a:solidFill>
                  <a:srgbClr val="E6E4DD"/>
                </a:solidFill>
                <a:latin typeface="JetBrains Mono" pitchFamily="49" charset="0"/>
                <a:ea typeface="JetBrains Mono" pitchFamily="49" charset="-122"/>
                <a:cs typeface="JetBrains Mono" pitchFamily="49" charset="-120"/>
              </a:rPr>
              <a:t>(X_test)</a:t>
            </a:r>
            <a:r>
              <a:rPr lang="en-US" sz="1300" dirty="0">
                <a:solidFill>
                  <a:srgbClr val="8A92A3"/>
                </a:solidFill>
                <a:latin typeface="JetBrains Mono" pitchFamily="49" charset="0"/>
                <a:ea typeface="JetBrains Mono" pitchFamily="49" charset="-122"/>
                <a:cs typeface="JetBrains Mono" pitchFamily="49" charset="-120"/>
              </a:rPr>
              <a:t>          # only applies them</a:t>
            </a:r>
          </a:p>
        </p:txBody>
      </p:sp>
      <p:sp>
        <p:nvSpPr>
          <p:cNvPr id="12" name="Shape 10"/>
          <p:cNvSpPr/>
          <p:nvPr/>
        </p:nvSpPr>
        <p:spPr>
          <a:xfrm>
            <a:off x="7826375" y="1831876"/>
            <a:ext cx="3549650" cy="993775"/>
          </a:xfrm>
          <a:prstGeom prst="roundRect">
            <a:avLst>
              <a:gd name="adj" fmla="val 12460"/>
            </a:avLst>
          </a:prstGeom>
          <a:solidFill>
            <a:srgbClr val="171B23"/>
          </a:solidFill>
          <a:ln w="6350">
            <a:solidFill>
              <a:srgbClr val="2A2F3A"/>
            </a:solidFill>
            <a:prstDash val="solid"/>
          </a:ln>
        </p:spPr>
        <p:txBody>
          <a:bodyPr/>
          <a:p/>
        </p:txBody>
      </p:sp>
      <p:sp>
        <p:nvSpPr>
          <p:cNvPr id="13" name="Text 11"/>
          <p:cNvSpPr/>
          <p:nvPr/>
        </p:nvSpPr>
        <p:spPr>
          <a:xfrm>
            <a:off x="8007350" y="2095103"/>
            <a:ext cx="328333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CEAE4"/>
                </a:solidFill>
                <a:latin typeface="JetBrains Mono" pitchFamily="49" charset="0"/>
                <a:ea typeface="JetBrains Mono" pitchFamily="49" charset="-122"/>
                <a:cs typeface="JetBrains Mono" pitchFamily="49" charset="-120"/>
              </a:rPr>
              <a:t>SimpleImputer</a:t>
            </a:r>
            <a:endParaRPr lang="en-US" sz="1500" dirty="0"/>
          </a:p>
        </p:txBody>
      </p:sp>
      <p:sp>
        <p:nvSpPr>
          <p:cNvPr id="14" name="Text 12"/>
          <p:cNvSpPr/>
          <p:nvPr/>
        </p:nvSpPr>
        <p:spPr>
          <a:xfrm>
            <a:off x="8007350" y="2349103"/>
            <a:ext cx="3283331" cy="5486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8B4"/>
                </a:solidFill>
                <a:latin typeface="IBM Plex Sans" pitchFamily="34" charset="0"/>
                <a:ea typeface="IBM Plex Sans" pitchFamily="34" charset="-122"/>
                <a:cs typeface="IBM Plex Sans" pitchFamily="34" charset="-120"/>
              </a:rPr>
              <a:t>Fills the 6 gaps with the median of the training data.</a:t>
            </a:r>
            <a:endParaRPr lang="en-US" sz="1200" dirty="0"/>
          </a:p>
        </p:txBody>
      </p:sp>
      <p:sp>
        <p:nvSpPr>
          <p:cNvPr id="15" name="Shape 13"/>
          <p:cNvSpPr/>
          <p:nvPr/>
        </p:nvSpPr>
        <p:spPr>
          <a:xfrm>
            <a:off x="7826375" y="2908201"/>
            <a:ext cx="3549650" cy="993874"/>
          </a:xfrm>
          <a:prstGeom prst="roundRect">
            <a:avLst>
              <a:gd name="adj" fmla="val 12459"/>
            </a:avLst>
          </a:prstGeom>
          <a:solidFill>
            <a:srgbClr val="171B23"/>
          </a:solidFill>
          <a:ln w="6350">
            <a:solidFill>
              <a:srgbClr val="2A2F3A"/>
            </a:solidFill>
            <a:prstDash val="solid"/>
          </a:ln>
        </p:spPr>
        <p:txBody>
          <a:bodyPr/>
          <a:p/>
        </p:txBody>
      </p:sp>
      <p:sp>
        <p:nvSpPr>
          <p:cNvPr id="16" name="Text 14"/>
          <p:cNvSpPr/>
          <p:nvPr/>
        </p:nvSpPr>
        <p:spPr>
          <a:xfrm>
            <a:off x="8007350" y="3171428"/>
            <a:ext cx="328333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CEAE4"/>
                </a:solidFill>
                <a:latin typeface="JetBrains Mono" pitchFamily="49" charset="0"/>
                <a:ea typeface="JetBrains Mono" pitchFamily="49" charset="-122"/>
                <a:cs typeface="JetBrains Mono" pitchFamily="49" charset="-120"/>
              </a:rPr>
              <a:t>StandardScaler</a:t>
            </a:r>
            <a:endParaRPr lang="en-US" sz="1500" dirty="0"/>
          </a:p>
        </p:txBody>
      </p:sp>
      <p:sp>
        <p:nvSpPr>
          <p:cNvPr id="17" name="Text 15"/>
          <p:cNvSpPr/>
          <p:nvPr/>
        </p:nvSpPr>
        <p:spPr>
          <a:xfrm>
            <a:off x="8007350" y="3425428"/>
            <a:ext cx="3283331" cy="5486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8B4"/>
                </a:solidFill>
                <a:latin typeface="IBM Plex Sans" pitchFamily="34" charset="0"/>
                <a:ea typeface="IBM Plex Sans" pitchFamily="34" charset="-122"/>
                <a:cs typeface="IBM Plex Sans" pitchFamily="34" charset="-120"/>
              </a:rPr>
              <a:t>Mean 0, standard deviation 1, learned on train only.</a:t>
            </a:r>
            <a:endParaRPr lang="en-US" sz="1200" dirty="0"/>
          </a:p>
        </p:txBody>
      </p:sp>
      <p:sp>
        <p:nvSpPr>
          <p:cNvPr id="18" name="Shape 16"/>
          <p:cNvSpPr/>
          <p:nvPr/>
        </p:nvSpPr>
        <p:spPr>
          <a:xfrm>
            <a:off x="7826375" y="3984625"/>
            <a:ext cx="3549650" cy="993775"/>
          </a:xfrm>
          <a:prstGeom prst="roundRect">
            <a:avLst>
              <a:gd name="adj" fmla="val 12460"/>
            </a:avLst>
          </a:prstGeom>
          <a:solidFill>
            <a:srgbClr val="171B23"/>
          </a:solidFill>
          <a:ln w="6350">
            <a:solidFill>
              <a:srgbClr val="2A2F3A"/>
            </a:solidFill>
            <a:prstDash val="solid"/>
          </a:ln>
        </p:spPr>
        <p:txBody>
          <a:bodyPr/>
          <a:p/>
        </p:txBody>
      </p:sp>
      <p:sp>
        <p:nvSpPr>
          <p:cNvPr id="19" name="Text 17"/>
          <p:cNvSpPr/>
          <p:nvPr/>
        </p:nvSpPr>
        <p:spPr>
          <a:xfrm>
            <a:off x="8007350" y="4247852"/>
            <a:ext cx="328333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ECEAE4"/>
                </a:solidFill>
                <a:latin typeface="JetBrains Mono" pitchFamily="49" charset="0"/>
                <a:ea typeface="JetBrains Mono" pitchFamily="49" charset="-122"/>
                <a:cs typeface="JetBrains Mono" pitchFamily="49" charset="-120"/>
              </a:rPr>
              <a:t>ColumnTransformer</a:t>
            </a:r>
            <a:endParaRPr lang="en-US" sz="1500" dirty="0"/>
          </a:p>
        </p:txBody>
      </p:sp>
      <p:sp>
        <p:nvSpPr>
          <p:cNvPr id="20" name="Text 18"/>
          <p:cNvSpPr/>
          <p:nvPr/>
        </p:nvSpPr>
        <p:spPr>
          <a:xfrm>
            <a:off x="8007350" y="4501852"/>
            <a:ext cx="3283331" cy="5486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8B4"/>
                </a:solidFill>
                <a:latin typeface="IBM Plex Sans" pitchFamily="34" charset="0"/>
                <a:ea typeface="IBM Plex Sans" pitchFamily="34" charset="-122"/>
                <a:cs typeface="IBM Plex Sans" pitchFamily="34" charset="-120"/>
              </a:rPr>
              <a:t>Different treatment for number and text columns.</a:t>
            </a:r>
            <a:endParaRPr lang="en-US" sz="1200" dirty="0"/>
          </a:p>
        </p:txBody>
      </p:sp>
      <p:sp>
        <p:nvSpPr>
          <p:cNvPr id="21" name="Shape 19"/>
          <p:cNvSpPr/>
          <p:nvPr/>
        </p:nvSpPr>
        <p:spPr>
          <a:xfrm>
            <a:off x="7823200" y="5057775"/>
            <a:ext cx="3556000" cy="987425"/>
          </a:xfrm>
          <a:prstGeom prst="roundRect">
            <a:avLst>
              <a:gd name="adj" fmla="val 12862"/>
            </a:avLst>
          </a:prstGeom>
          <a:solidFill>
            <a:srgbClr val="FF7A45"/>
          </a:solidFill>
          <a:ln/>
        </p:spPr>
        <p:txBody>
          <a:bodyPr/>
          <a:p/>
        </p:txBody>
      </p:sp>
      <p:sp>
        <p:nvSpPr>
          <p:cNvPr id="22" name="Text 20"/>
          <p:cNvSpPr/>
          <p:nvPr/>
        </p:nvSpPr>
        <p:spPr>
          <a:xfrm>
            <a:off x="8001000" y="5211167"/>
            <a:ext cx="329641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F1115"/>
                </a:solidFill>
                <a:latin typeface="JetBrains Mono" pitchFamily="49" charset="0"/>
                <a:ea typeface="JetBrains Mono" pitchFamily="49" charset="-122"/>
                <a:cs typeface="JetBrains Mono" pitchFamily="49" charset="-120"/>
              </a:rPr>
              <a:t>Pipeline</a:t>
            </a:r>
            <a:endParaRPr lang="en-US" sz="1500" dirty="0"/>
          </a:p>
        </p:txBody>
      </p:sp>
      <p:sp>
        <p:nvSpPr>
          <p:cNvPr id="23" name="Text 21"/>
          <p:cNvSpPr/>
          <p:nvPr/>
        </p:nvSpPr>
        <p:spPr>
          <a:xfrm>
            <a:off x="8001000" y="5465167"/>
            <a:ext cx="329641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F1115"/>
                </a:solidFill>
                <a:latin typeface="IBM Plex Sans" pitchFamily="34" charset="0"/>
                <a:ea typeface="IBM Plex Sans" pitchFamily="34" charset="-122"/>
                <a:cs typeface="IBM Plex Sans" pitchFamily="34" charset="-120"/>
              </a:rPr>
              <a:t>One object: fit() on train, predict() on test. No leakage.</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20">
    <p:bg>
      <p:bgPr>
        <a:solidFill>
          <a:srgbClr val="F2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2410C"/>
                </a:solidFill>
                <a:latin typeface="JetBrains Mono" pitchFamily="49" charset="0"/>
                <a:ea typeface="JetBrains Mono" pitchFamily="49" charset="-122"/>
                <a:cs typeface="JetBrains Mono" pitchFamily="49" charset="-120"/>
              </a:rPr>
              <a:t>03 · FINALLY: TRAIN</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181D"/>
                </a:solidFill>
                <a:latin typeface="Space Grotesk" pitchFamily="34" charset="0"/>
                <a:ea typeface="Space Grotesk" pitchFamily="34" charset="-122"/>
                <a:cs typeface="Space Grotesk" pitchFamily="34" charset="-120"/>
              </a:rPr>
              <a:t>First a baseline, then real models</a:t>
            </a:r>
            <a:endParaRPr lang="en-US" sz="3200" dirty="0"/>
          </a:p>
        </p:txBody>
      </p:sp>
      <p:sp>
        <p:nvSpPr>
          <p:cNvPr id="4" name="Shape 2"/>
          <p:cNvSpPr/>
          <p:nvPr/>
        </p:nvSpPr>
        <p:spPr>
          <a:xfrm>
            <a:off x="812800" y="1879501"/>
            <a:ext cx="10566400" cy="2596753"/>
          </a:xfrm>
          <a:prstGeom prst="roundRect">
            <a:avLst>
              <a:gd name="adj" fmla="val 4891"/>
            </a:avLst>
          </a:prstGeom>
          <a:solidFill>
            <a:srgbClr val="FBFAF6"/>
          </a:solidFill>
          <a:ln/>
        </p:spPr>
        <p:txBody>
          <a:bodyPr/>
          <a:p/>
        </p:txBody>
      </p:sp>
      <p:sp>
        <p:nvSpPr>
          <p:cNvPr id="5" name="Shape 3"/>
          <p:cNvSpPr/>
          <p:nvPr/>
        </p:nvSpPr>
        <p:spPr>
          <a:xfrm>
            <a:off x="812800" y="1879501"/>
            <a:ext cx="10566400" cy="2596753"/>
          </a:xfrm>
          <a:custGeom>
            <a:avLst/>
            <a:gdLst/>
            <a:ahLst/>
            <a:cxnLst/>
            <a:rect l="l" t="t" r="r" b="b"/>
            <a:pathLst>
              <a:path w="10566400" h="2596753">
                <a:moveTo>
                  <a:pt x="10439400" y="0"/>
                </a:moveTo>
                <a:lnTo>
                  <a:pt x="10439400" y="0"/>
                </a:lnTo>
                <a:arcTo hR="127000" wR="127000" stAng="16200000" swAng="5400000"/>
                <a:lnTo>
                  <a:pt x="10566400" y="2469753"/>
                </a:lnTo>
                <a:arcTo hR="127000" wR="127000" stAng="0" swAng="5400000"/>
                <a:lnTo>
                  <a:pt x="127000" y="2596753"/>
                </a:lnTo>
                <a:arcTo hR="127000" wR="127000" stAng="5400000" swAng="5400000"/>
                <a:lnTo>
                  <a:pt x="0" y="2469753"/>
                </a:lnTo>
                <a:arcTo hR="120650" wR="127000" stAng="10800000" swAng="-5400000"/>
                <a:lnTo>
                  <a:pt x="10439400" y="2590403"/>
                </a:lnTo>
                <a:arcTo hR="120650" wR="120650" stAng="5400000" swAng="-5400000"/>
                <a:lnTo>
                  <a:pt x="10560050" y="127000"/>
                </a:lnTo>
                <a:arcTo hR="127000" wR="120650" stAng="0" swAng="-5400000"/>
                <a:close/>
              </a:path>
            </a:pathLst>
          </a:custGeom>
          <a:solidFill>
            <a:srgbClr val="E0DACB"/>
          </a:solidFill>
          <a:ln/>
        </p:spPr>
        <p:txBody>
          <a:bodyPr/>
          <a:p/>
        </p:txBody>
      </p:sp>
      <p:sp>
        <p:nvSpPr>
          <p:cNvPr id="6" name="Shape 4"/>
          <p:cNvSpPr/>
          <p:nvPr/>
        </p:nvSpPr>
        <p:spPr>
          <a:xfrm>
            <a:off x="812800" y="1879501"/>
            <a:ext cx="10566400" cy="2596753"/>
          </a:xfrm>
          <a:custGeom>
            <a:avLst/>
            <a:gdLst/>
            <a:ahLst/>
            <a:cxnLst/>
            <a:rect l="l" t="t" r="r" b="b"/>
            <a:pathLst>
              <a:path w="10566400" h="2596753">
                <a:moveTo>
                  <a:pt x="127000" y="2596753"/>
                </a:moveTo>
                <a:lnTo>
                  <a:pt x="127000" y="2596753"/>
                </a:lnTo>
                <a:arcTo hR="127000" wR="127000" stAng="5400000" swAng="5400000"/>
                <a:lnTo>
                  <a:pt x="0" y="127000"/>
                </a:lnTo>
                <a:arcTo hR="127000" wR="127000" stAng="10800000" swAng="5400000"/>
                <a:lnTo>
                  <a:pt x="10439400" y="0"/>
                </a:lnTo>
                <a:arcTo hR="127000" wR="127000" stAng="16200000" swAng="5400000"/>
                <a:lnTo>
                  <a:pt x="10566400" y="127000"/>
                </a:lnTo>
                <a:arcTo hR="114300" wR="127000" stAng="0" swAng="-5400000"/>
                <a:lnTo>
                  <a:pt x="127000" y="12700"/>
                </a:lnTo>
                <a:arcTo hR="114300" wR="114300" stAng="16200000" swAng="-5400000"/>
                <a:lnTo>
                  <a:pt x="12700" y="2469753"/>
                </a:lnTo>
                <a:arcTo hR="127000" wR="114300" stAng="10800000" swAng="-5400000"/>
                <a:close/>
              </a:path>
            </a:pathLst>
          </a:custGeom>
          <a:solidFill>
            <a:srgbClr val="141413">
              <a:alpha val="22000"/>
            </a:srgbClr>
          </a:solidFill>
          <a:ln/>
        </p:spPr>
        <p:txBody>
          <a:bodyPr/>
          <a:p/>
        </p:txBody>
      </p:sp>
      <p:sp>
        <p:nvSpPr>
          <p:cNvPr id="7" name="Shape 5"/>
          <p:cNvSpPr/>
          <p:nvPr/>
        </p:nvSpPr>
        <p:spPr>
          <a:xfrm>
            <a:off x="825500" y="1892201"/>
            <a:ext cx="10547350" cy="515541"/>
          </a:xfrm>
          <a:custGeom>
            <a:avLst/>
            <a:gdLst/>
            <a:ahLst/>
            <a:cxnLst/>
            <a:rect l="l" t="t" r="r" b="b"/>
            <a:pathLst>
              <a:path w="10547350" h="515541">
                <a:moveTo>
                  <a:pt x="0" y="114300"/>
                </a:moveTo>
                <a:arcTo hR="114300" wR="114300" stAng="10800000" swAng="5400000"/>
                <a:lnTo>
                  <a:pt x="10426700" y="0"/>
                </a:lnTo>
                <a:arcTo hR="120650" wR="120650" stAng="16200000" swAng="5400000"/>
                <a:lnTo>
                  <a:pt x="10547350" y="515541"/>
                </a:lnTo>
                <a:lnTo>
                  <a:pt x="0" y="515541"/>
                </a:lnTo>
                <a:close/>
              </a:path>
            </a:pathLst>
          </a:custGeom>
          <a:solidFill>
            <a:srgbClr val="E9E8E4"/>
          </a:solidFill>
          <a:ln/>
        </p:spPr>
        <p:txBody>
          <a:bodyPr/>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43032" cy="2577703"/>
        </p:xfrm>
        <a:graphic>
          <a:graphicData uri="http://schemas.openxmlformats.org/drawingml/2006/table">
            <a:tbl>
              <a:tblPr/>
              <a:tblGrid>
                <a:gridCol w="3383280"/>
                <a:gridCol w="1371600"/>
                <a:gridCol w="1371600"/>
                <a:gridCol w="4416552"/>
              </a:tblGrid>
              <a:tr h="515541">
                <a:tc>
                  <a:txBody>
                    <a:bodyPr/>
                    <a:lstStyle/>
                    <a:p>
                      <a:pPr indent="0" marL="0">
                        <a:lnSpc>
                          <a:spcPts val="1960"/>
                        </a:lnSpc>
                        <a:buNone/>
                      </a:pPr>
                      <a:r>
                        <a:rPr lang="en-US" sz="1400" dirty="0">
                          <a:solidFill>
                            <a:srgbClr val="8A909C"/>
                          </a:solidFill>
                          <a:latin typeface="IBM Plex Sans" charset="0"/>
                          <a:ea typeface="IBM Plex Sans" charset="0"/>
                          <a:cs typeface="IBM Plex Sans" charset="0"/>
                        </a:rPr>
                        <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BAB9B6"/>
                      </a:solidFill>
                      <a:prstDash val="solid"/>
                      <a:round/>
                      <a:headEnd type="none" w="med" len="med"/>
                      <a:tailEnd type="none" w="med" len="med"/>
                    </a:lnR>
                    <a:lnT w="0" cap="flat" cmpd="sng" algn="ctr">
                      <a:noFill/>
                    </a:lnT>
                    <a:lnB w="12700" cap="flat" cmpd="sng" algn="ctr">
                      <a:solidFill>
                        <a:srgbClr val="BAB9B6"/>
                      </a:solidFill>
                      <a:prstDash val="solid"/>
                      <a:round/>
                      <a:headEnd type="none" w="med" len="med"/>
                      <a:tailEnd type="none" w="med" len="med"/>
                    </a:lnB>
                  </a:tcPr>
                </a:tc>
                <a:tc>
                  <a:txBody>
                    <a:bodyPr/>
                    <a:lstStyle/>
                    <a:p>
                      <a:pPr indent="0" marL="0">
                        <a:lnSpc>
                          <a:spcPts val="1960"/>
                        </a:lnSpc>
                        <a:buNone/>
                      </a:pPr>
                      <a:r>
                        <a:rPr lang="en-US" sz="1400" b="1" dirty="0">
                          <a:solidFill>
                            <a:srgbClr val="C2410C"/>
                          </a:solidFill>
                          <a:latin typeface="IBM Plex Sans" pitchFamily="34" charset="0"/>
                          <a:ea typeface="IBM Plex Sans" pitchFamily="34" charset="-122"/>
                          <a:cs typeface="IBM Plex Sans" pitchFamily="34" charset="-120"/>
                        </a:rPr>
                        <a:t>MAE</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0" cap="flat" cmpd="sng" algn="ctr">
                      <a:noFill/>
                    </a:lnT>
                    <a:lnB w="12700" cap="flat" cmpd="sng" algn="ctr">
                      <a:solidFill>
                        <a:srgbClr val="BAB9B6"/>
                      </a:solidFill>
                      <a:prstDash val="solid"/>
                      <a:round/>
                      <a:headEnd type="none" w="med" len="med"/>
                      <a:tailEnd type="none" w="med" len="med"/>
                    </a:lnB>
                  </a:tcPr>
                </a:tc>
                <a:tc>
                  <a:txBody>
                    <a:bodyPr/>
                    <a:lstStyle/>
                    <a:p>
                      <a:pPr indent="0" marL="0">
                        <a:lnSpc>
                          <a:spcPts val="1960"/>
                        </a:lnSpc>
                        <a:buNone/>
                      </a:pPr>
                      <a:r>
                        <a:rPr lang="en-US" sz="1400" b="1" dirty="0">
                          <a:solidFill>
                            <a:srgbClr val="1D5FD6"/>
                          </a:solidFill>
                          <a:latin typeface="IBM Plex Sans" pitchFamily="34" charset="0"/>
                          <a:ea typeface="IBM Plex Sans" pitchFamily="34" charset="-122"/>
                          <a:cs typeface="IBM Plex Sans" pitchFamily="34" charset="-120"/>
                        </a:rPr>
                        <a:t>RMSE</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0" cap="flat" cmpd="sng" algn="ctr">
                      <a:noFill/>
                    </a:lnT>
                    <a:lnB w="12700" cap="flat" cmpd="sng" algn="ctr">
                      <a:solidFill>
                        <a:srgbClr val="BAB9B6"/>
                      </a:solidFill>
                      <a:prstDash val="solid"/>
                      <a:round/>
                      <a:headEnd type="none" w="med" len="med"/>
                      <a:tailEnd type="none" w="med" len="med"/>
                    </a:lnB>
                  </a:tcPr>
                </a:tc>
                <a:tc>
                  <a:txBody>
                    <a:bodyPr/>
                    <a:lstStyle/>
                    <a:p>
                      <a:pPr indent="0" marL="0">
                        <a:lnSpc>
                          <a:spcPts val="1960"/>
                        </a:lnSpc>
                        <a:buNone/>
                      </a:pPr>
                      <a:r>
                        <a:rPr lang="en-US" sz="1400" b="1" dirty="0">
                          <a:solidFill>
                            <a:srgbClr val="2F855A"/>
                          </a:solidFill>
                          <a:latin typeface="IBM Plex Sans" pitchFamily="34" charset="0"/>
                          <a:ea typeface="IBM Plex Sans" pitchFamily="34" charset="-122"/>
                          <a:cs typeface="IBM Plex Sans" pitchFamily="34" charset="-120"/>
                        </a:rPr>
                        <a:t>In words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0" cap="flat" cmpd="sng" algn="ctr">
                      <a:noFill/>
                    </a:lnT>
                    <a:lnB w="12700" cap="flat" cmpd="sng" algn="ctr">
                      <a:solidFill>
                        <a:srgbClr val="BAB9B6"/>
                      </a:solidFill>
                      <a:prstDash val="solid"/>
                      <a:round/>
                      <a:headEnd type="none" w="med" len="med"/>
                      <a:tailEnd type="none" w="med" len="med"/>
                    </a:lnB>
                  </a:tcPr>
                </a:tc>
              </a:tr>
              <a:tr h="515541">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Baseline: always the mean</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5.96</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7.35</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off by 6 mpg on average</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515541">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Linear regression</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2.29</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2.89</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already 2.6 × better</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515541">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Linear + power_to_weight</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2.22</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2.78</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our own feature helps a little</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515541">
                <a:tc>
                  <a:txBody>
                    <a:bodyPr/>
                    <a:lstStyle/>
                    <a:p>
                      <a:pPr indent="0" marL="0">
                        <a:lnSpc>
                          <a:spcPts val="1960"/>
                        </a:lnSpc>
                        <a:buNone/>
                      </a:pPr>
                      <a:r>
                        <a:rPr lang="en-US" sz="1400" dirty="0">
                          <a:solidFill>
                            <a:srgbClr val="FF7A45"/>
                          </a:solidFill>
                          <a:latin typeface="IBM Plex Sans" pitchFamily="34" charset="0"/>
                          <a:ea typeface="IBM Plex Sans" pitchFamily="34" charset="-122"/>
                          <a:cs typeface="IBM Plex Sans" pitchFamily="34" charset="-120"/>
                        </a:rPr>
                        <a:t>Random forest</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16171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71B"/>
                      </a:solidFill>
                      <a:prstDash val="solid"/>
                      <a:round/>
                      <a:headEnd type="none" w="med" len="med"/>
                      <a:tailEnd type="none" w="med" len="med"/>
                    </a:lnB>
                    <a:solidFill>
                      <a:srgbClr val="16181D"/>
                    </a:solidFill>
                  </a:tcPr>
                </a:tc>
                <a:tc>
                  <a:txBody>
                    <a:bodyPr/>
                    <a:lstStyle/>
                    <a:p>
                      <a:pPr indent="0" marL="0">
                        <a:lnSpc>
                          <a:spcPts val="1960"/>
                        </a:lnSpc>
                        <a:buNone/>
                      </a:pPr>
                      <a:r>
                        <a:rPr lang="en-US" sz="1400" dirty="0">
                          <a:solidFill>
                            <a:srgbClr val="ECEAE4"/>
                          </a:solidFill>
                          <a:latin typeface="IBM Plex Sans" pitchFamily="34" charset="0"/>
                          <a:ea typeface="IBM Plex Sans" pitchFamily="34" charset="-122"/>
                          <a:cs typeface="IBM Plex Sans" pitchFamily="34" charset="-120"/>
                        </a:rPr>
                        <a:t>1.63</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16171B"/>
                      </a:solidFill>
                      <a:prstDash val="solid"/>
                      <a:round/>
                      <a:headEnd type="none" w="med" len="med"/>
                      <a:tailEnd type="none" w="med" len="med"/>
                    </a:lnL>
                    <a:lnR w="12700" cap="flat" cmpd="sng" algn="ctr">
                      <a:solidFill>
                        <a:srgbClr val="16171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71B"/>
                      </a:solidFill>
                      <a:prstDash val="solid"/>
                      <a:round/>
                      <a:headEnd type="none" w="med" len="med"/>
                      <a:tailEnd type="none" w="med" len="med"/>
                    </a:lnB>
                    <a:solidFill>
                      <a:srgbClr val="16181D"/>
                    </a:solidFill>
                  </a:tcPr>
                </a:tc>
                <a:tc>
                  <a:txBody>
                    <a:bodyPr/>
                    <a:lstStyle/>
                    <a:p>
                      <a:pPr indent="0" marL="0">
                        <a:lnSpc>
                          <a:spcPts val="1960"/>
                        </a:lnSpc>
                        <a:buNone/>
                      </a:pPr>
                      <a:r>
                        <a:rPr lang="en-US" sz="1400" dirty="0">
                          <a:solidFill>
                            <a:srgbClr val="ECEAE4"/>
                          </a:solidFill>
                          <a:latin typeface="IBM Plex Sans" pitchFamily="34" charset="0"/>
                          <a:ea typeface="IBM Plex Sans" pitchFamily="34" charset="-122"/>
                          <a:cs typeface="IBM Plex Sans" pitchFamily="34" charset="-120"/>
                        </a:rPr>
                        <a:t>2.18</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16171B"/>
                      </a:solidFill>
                      <a:prstDash val="solid"/>
                      <a:round/>
                      <a:headEnd type="none" w="med" len="med"/>
                      <a:tailEnd type="none" w="med" len="med"/>
                    </a:lnL>
                    <a:lnR w="12700" cap="flat" cmpd="sng" algn="ctr">
                      <a:solidFill>
                        <a:srgbClr val="16171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71B"/>
                      </a:solidFill>
                      <a:prstDash val="solid"/>
                      <a:round/>
                      <a:headEnd type="none" w="med" len="med"/>
                      <a:tailEnd type="none" w="med" len="med"/>
                    </a:lnB>
                    <a:solidFill>
                      <a:srgbClr val="16181D"/>
                    </a:solidFill>
                  </a:tcPr>
                </a:tc>
                <a:tc>
                  <a:txBody>
                    <a:bodyPr/>
                    <a:lstStyle/>
                    <a:p>
                      <a:pPr indent="0" marL="0">
                        <a:lnSpc>
                          <a:spcPts val="1960"/>
                        </a:lnSpc>
                        <a:buNone/>
                      </a:pPr>
                      <a:r>
                        <a:rPr lang="en-US" sz="1400" dirty="0">
                          <a:solidFill>
                            <a:srgbClr val="ECEAE4"/>
                          </a:solidFill>
                          <a:latin typeface="IBM Plex Sans" pitchFamily="34" charset="0"/>
                          <a:ea typeface="IBM Plex Sans" pitchFamily="34" charset="-122"/>
                          <a:cs typeface="IBM Plex Sans" pitchFamily="34" charset="-120"/>
                        </a:rPr>
                        <a:t>off by 1.6 mpg on average</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16171B"/>
                      </a:solidFill>
                      <a:prstDash val="solid"/>
                      <a:round/>
                      <a:headEnd type="none" w="med" len="med"/>
                      <a:tailEnd type="none" w="med" len="med"/>
                    </a:lnL>
                    <a:lnR w="12700" cap="flat" cmpd="sng" algn="ctr">
                      <a:solidFill>
                        <a:srgbClr val="16171B"/>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16171B"/>
                      </a:solidFill>
                      <a:prstDash val="solid"/>
                      <a:round/>
                      <a:headEnd type="none" w="med" len="med"/>
                      <a:tailEnd type="none" w="med" len="med"/>
                    </a:lnB>
                    <a:solidFill>
                      <a:srgbClr val="16181D"/>
                    </a:solidFill>
                  </a:tcPr>
                </a:tc>
              </a:tr>
            </a:tbl>
          </a:graphicData>
        </a:graphic>
      </p:graphicFrame>
      <p:pic>
        <p:nvPicPr>
          <p:cNvPr id="9" name="Image 0" descr="Lightbulb">    </p:cNvPr>
          <p:cNvPicPr>
            <a:picLocks noChangeAspect="1"/>
          </p:cNvPicPr>
          <p:nvPr/>
        </p:nvPicPr>
        <p:blipFill>
          <a:blip r:embed="rId1"/>
          <a:srcRect l="0" r="0" t="0" b="0"/>
          <a:stretch/>
        </p:blipFill>
        <p:spPr>
          <a:xfrm>
            <a:off x="812800" y="4781054"/>
            <a:ext cx="279400" cy="279400"/>
          </a:xfrm>
          <a:prstGeom prst="rect">
            <a:avLst/>
          </a:prstGeom>
        </p:spPr>
      </p:pic>
      <p:sp>
        <p:nvSpPr>
          <p:cNvPr id="10" name="Text 6"/>
          <p:cNvSpPr/>
          <p:nvPr/>
        </p:nvSpPr>
        <p:spPr>
          <a:xfrm>
            <a:off x="1219200" y="4787404"/>
            <a:ext cx="878609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181D"/>
                </a:solidFill>
                <a:latin typeface="IBM Plex Sans" pitchFamily="34" charset="0"/>
                <a:ea typeface="IBM Plex Sans" pitchFamily="34" charset="-122"/>
                <a:cs typeface="IBM Plex Sans" pitchFamily="34" charset="-120"/>
              </a:rPr>
              <a:t>Without a baseline, “MAE = 1.63” means nothing. With one, it means: 3.7 × better than guessing.</a:t>
            </a:r>
            <a:endParaRPr lang="en-US" sz="15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11">
    <p:bg>
      <p:bgPr>
        <a:solidFill>
          <a:srgbClr val="F2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2410C"/>
                </a:solidFill>
                <a:latin typeface="JetBrains Mono" pitchFamily="49" charset="0"/>
                <a:ea typeface="JetBrains Mono" pitchFamily="49" charset="-122"/>
                <a:cs typeface="JetBrains Mono" pitchFamily="49" charset="-120"/>
              </a:rPr>
              <a:t>03 · WHAT THE MODEL LEARNED</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181D"/>
                </a:solidFill>
                <a:latin typeface="Space Grotesk" pitchFamily="34" charset="0"/>
                <a:ea typeface="Space Grotesk" pitchFamily="34" charset="-122"/>
                <a:cs typeface="Space Grotesk" pitchFamily="34" charset="-120"/>
              </a:rPr>
              <a:t>The forest relies on engine size and weight</a:t>
            </a:r>
            <a:endParaRPr lang="en-US" sz="3200" dirty="0"/>
          </a:p>
        </p:txBody>
      </p:sp>
      <p:sp>
        <p:nvSpPr>
          <p:cNvPr id="4" name="Shape 2"/>
          <p:cNvSpPr/>
          <p:nvPr/>
        </p:nvSpPr>
        <p:spPr>
          <a:xfrm>
            <a:off x="815975" y="1831876"/>
            <a:ext cx="7004050" cy="4210149"/>
          </a:xfrm>
          <a:prstGeom prst="roundRect">
            <a:avLst>
              <a:gd name="adj" fmla="val 3544"/>
            </a:avLst>
          </a:prstGeom>
          <a:solidFill>
            <a:srgbClr val="FBFAF6"/>
          </a:solidFill>
          <a:ln w="6350">
            <a:solidFill>
              <a:srgbClr val="E0DACB"/>
            </a:solidFill>
            <a:prstDash val="solid"/>
          </a:ln>
        </p:spPr>
        <p:txBody>
          <a:bodyPr/>
          <a:p/>
        </p:txBody>
      </p:sp>
      <p:sp>
        <p:nvSpPr>
          <p:cNvPr id="24" name="Shape 21"/>
          <p:cNvSpPr/>
          <p:nvPr/>
        </p:nvSpPr>
        <p:spPr>
          <a:xfrm>
            <a:off x="8080375" y="1831876"/>
            <a:ext cx="3295650" cy="1047055"/>
          </a:xfrm>
          <a:prstGeom prst="roundRect">
            <a:avLst>
              <a:gd name="adj" fmla="val 11826"/>
            </a:avLst>
          </a:prstGeom>
          <a:solidFill>
            <a:srgbClr val="FBFAF6"/>
          </a:solidFill>
          <a:ln w="6350">
            <a:solidFill>
              <a:srgbClr val="E0DACB"/>
            </a:solidFill>
            <a:prstDash val="solid"/>
          </a:ln>
        </p:spPr>
        <p:txBody>
          <a:bodyPr/>
          <a:p/>
        </p:txBody>
      </p:sp>
      <p:sp>
        <p:nvSpPr>
          <p:cNvPr id="25" name="Text 22"/>
          <p:cNvSpPr/>
          <p:nvPr/>
        </p:nvSpPr>
        <p:spPr>
          <a:xfrm>
            <a:off x="8261350" y="2012851"/>
            <a:ext cx="3021711" cy="251123"/>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81D"/>
                </a:solidFill>
                <a:latin typeface="Space Grotesk" pitchFamily="34" charset="0"/>
                <a:ea typeface="Space Grotesk" pitchFamily="34" charset="-122"/>
                <a:cs typeface="Space Grotesk" pitchFamily="34" charset="-120"/>
              </a:rPr>
              <a:t>Engine and weight</a:t>
            </a:r>
            <a:endParaRPr lang="en-US" sz="1500" dirty="0"/>
          </a:p>
        </p:txBody>
      </p:sp>
      <p:sp>
        <p:nvSpPr>
          <p:cNvPr id="26" name="Text 23"/>
          <p:cNvSpPr/>
          <p:nvPr/>
        </p:nvSpPr>
        <p:spPr>
          <a:xfrm>
            <a:off x="8261350" y="2276673"/>
            <a:ext cx="3021711" cy="446683"/>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545A66"/>
                </a:solidFill>
                <a:latin typeface="IBM Plex Sans" pitchFamily="34" charset="0"/>
                <a:ea typeface="IBM Plex Sans" pitchFamily="34" charset="-122"/>
                <a:cs typeface="IBM Plex Sans" pitchFamily="34" charset="-120"/>
              </a:rPr>
              <a:t>displacement, weight and cylinders: 71% together.</a:t>
            </a:r>
            <a:endParaRPr lang="en-US" sz="1185" dirty="0"/>
          </a:p>
        </p:txBody>
      </p:sp>
      <p:sp>
        <p:nvSpPr>
          <p:cNvPr id="27" name="Shape 24"/>
          <p:cNvSpPr/>
          <p:nvPr/>
        </p:nvSpPr>
        <p:spPr>
          <a:xfrm>
            <a:off x="8080375" y="2986881"/>
            <a:ext cx="3295650" cy="1046956"/>
          </a:xfrm>
          <a:prstGeom prst="roundRect">
            <a:avLst>
              <a:gd name="adj" fmla="val 11827"/>
            </a:avLst>
          </a:prstGeom>
          <a:solidFill>
            <a:srgbClr val="FBFAF6"/>
          </a:solidFill>
          <a:ln w="6350">
            <a:solidFill>
              <a:srgbClr val="E0DACB"/>
            </a:solidFill>
            <a:prstDash val="solid"/>
          </a:ln>
        </p:spPr>
        <p:txBody>
          <a:bodyPr/>
          <a:p/>
        </p:txBody>
      </p:sp>
      <p:sp>
        <p:nvSpPr>
          <p:cNvPr id="28" name="Text 25"/>
          <p:cNvSpPr/>
          <p:nvPr/>
        </p:nvSpPr>
        <p:spPr>
          <a:xfrm>
            <a:off x="8261350" y="3167856"/>
            <a:ext cx="3021711" cy="251123"/>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81D"/>
                </a:solidFill>
                <a:latin typeface="Space Grotesk" pitchFamily="34" charset="0"/>
                <a:ea typeface="Space Grotesk" pitchFamily="34" charset="-122"/>
                <a:cs typeface="Space Grotesk" pitchFamily="34" charset="-120"/>
              </a:rPr>
              <a:t>They are redundant</a:t>
            </a:r>
            <a:endParaRPr lang="en-US" sz="1500" dirty="0"/>
          </a:p>
        </p:txBody>
      </p:sp>
      <p:sp>
        <p:nvSpPr>
          <p:cNvPr id="29" name="Text 26"/>
          <p:cNvSpPr/>
          <p:nvPr/>
        </p:nvSpPr>
        <p:spPr>
          <a:xfrm>
            <a:off x="8261350" y="3431679"/>
            <a:ext cx="3021711" cy="446584"/>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545A66"/>
                </a:solidFill>
                <a:latin typeface="IBM Plex Sans" pitchFamily="34" charset="0"/>
                <a:ea typeface="IBM Plex Sans" pitchFamily="34" charset="-122"/>
                <a:cs typeface="IBM Plex Sans" pitchFamily="34" charset="-120"/>
              </a:rPr>
              <a:t>All three describe “big car”. Importance gets split between them.</a:t>
            </a:r>
            <a:endParaRPr lang="en-US" sz="1185" dirty="0"/>
          </a:p>
        </p:txBody>
      </p:sp>
      <p:sp>
        <p:nvSpPr>
          <p:cNvPr id="30" name="Shape 27"/>
          <p:cNvSpPr/>
          <p:nvPr/>
        </p:nvSpPr>
        <p:spPr>
          <a:xfrm>
            <a:off x="8080375" y="4141788"/>
            <a:ext cx="3295650" cy="1046956"/>
          </a:xfrm>
          <a:prstGeom prst="roundRect">
            <a:avLst>
              <a:gd name="adj" fmla="val 11827"/>
            </a:avLst>
          </a:prstGeom>
          <a:solidFill>
            <a:srgbClr val="FBFAF6"/>
          </a:solidFill>
          <a:ln w="6350">
            <a:solidFill>
              <a:srgbClr val="E0DACB"/>
            </a:solidFill>
            <a:prstDash val="solid"/>
          </a:ln>
        </p:spPr>
        <p:txBody>
          <a:bodyPr/>
          <a:p/>
        </p:txBody>
      </p:sp>
      <p:sp>
        <p:nvSpPr>
          <p:cNvPr id="31" name="Text 28"/>
          <p:cNvSpPr/>
          <p:nvPr/>
        </p:nvSpPr>
        <p:spPr>
          <a:xfrm>
            <a:off x="8261350" y="4322763"/>
            <a:ext cx="3021711" cy="251123"/>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81D"/>
                </a:solidFill>
                <a:latin typeface="Space Grotesk" pitchFamily="34" charset="0"/>
                <a:ea typeface="Space Grotesk" pitchFamily="34" charset="-122"/>
                <a:cs typeface="Space Grotesk" pitchFamily="34" charset="-120"/>
              </a:rPr>
              <a:t>origin ≈ 0</a:t>
            </a:r>
            <a:endParaRPr lang="en-US" sz="1500" dirty="0"/>
          </a:p>
        </p:txBody>
      </p:sp>
      <p:sp>
        <p:nvSpPr>
          <p:cNvPr id="32" name="Text 29"/>
          <p:cNvSpPr/>
          <p:nvPr/>
        </p:nvSpPr>
        <p:spPr>
          <a:xfrm>
            <a:off x="8261350" y="4586585"/>
            <a:ext cx="3021711" cy="446584"/>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545A66"/>
                </a:solidFill>
                <a:latin typeface="IBM Plex Sans" pitchFamily="34" charset="0"/>
                <a:ea typeface="IBM Plex Sans" pitchFamily="34" charset="-122"/>
                <a:cs typeface="IBM Plex Sans" pitchFamily="34" charset="-120"/>
              </a:rPr>
              <a:t>Once the forest knows the weight, the country adds nothing.</a:t>
            </a:r>
            <a:endParaRPr lang="en-US" sz="1185" dirty="0"/>
          </a:p>
        </p:txBody>
      </p:sp>
      <p:sp>
        <p:nvSpPr>
          <p:cNvPr id="33" name="Text 30"/>
          <p:cNvSpPr/>
          <p:nvPr/>
        </p:nvSpPr>
        <p:spPr>
          <a:xfrm>
            <a:off x="8077200" y="5395119"/>
            <a:ext cx="3302000" cy="650081"/>
          </a:xfrm>
          <a:prstGeom prst="roundRect">
            <a:avLst>
              <a:gd name="adj" fmla="val 15629"/>
            </a:avLst>
          </a:prstGeom>
          <a:solidFill>
            <a:srgbClr val="16181D"/>
          </a:solidFill>
          <a:ln/>
        </p:spPr>
        <p:txBody>
          <a:bodyPr wrap="square" lIns="122642" tIns="84542" rIns="32726" bIns="59142" rtlCol="0" anchor="t">
            <a:normAutofit/>
          </a:bodyPr>
          <a:lstStyle/>
          <a:p>
            <a:pPr algn="l" indent="0" marL="0">
              <a:lnSpc>
                <a:spcPts val="1659"/>
              </a:lnSpc>
              <a:buNone/>
            </a:pPr>
            <a:r>
              <a:rPr lang="en-US" sz="1185" b="1" dirty="0">
                <a:solidFill>
                  <a:srgbClr val="ECEAE4"/>
                </a:solidFill>
                <a:latin typeface="JetBrains Mono" pitchFamily="49" charset="0"/>
                <a:ea typeface="JetBrains Mono" pitchFamily="49" charset="-122"/>
                <a:cs typeface="JetBrains Mono" pitchFamily="49" charset="-120"/>
              </a:rPr>
              <a:t>Importance shows what the model uses, not what causes mpg.</a:t>
            </a:r>
            <a:endParaRPr lang="en-US" sz="1185" dirty="0"/>
          </a:p>
        </p:txBody>
      </p:sp>
      <p:graphicFrame>
        <p:nvGraphicFramePr>
          <p:cNvPr id="34" name="Chart 33"/>
          <p:cNvGraphicFramePr>
            <a:graphicFrameLocks noGrp="1"/>
          </p:cNvGraphicFramePr>
          <p:nvPr/>
        </p:nvGraphicFramePr>
        <p:xfrm>
          <a:off x="960120" y="2057400"/>
          <a:ext cx="6492240" cy="3840480"/>
        </p:xfrm>
        <a:graphic>
          <a:graphicData uri="http://schemas.openxmlformats.org/drawingml/2006/chart">
            <c:chart xmlns:c="http://schemas.openxmlformats.org/drawingml/2006/chart" r:id="rId3"/>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19">
    <p:bg>
      <p:bgPr>
        <a:solidFill>
          <a:srgbClr val="F2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2410C"/>
                </a:solidFill>
                <a:latin typeface="JetBrains Mono" pitchFamily="49" charset="0"/>
                <a:ea typeface="JetBrains Mono" pitchFamily="49" charset="-122"/>
                <a:cs typeface="JetBrains Mono" pitchFamily="49" charset="-120"/>
              </a:rPr>
              <a:t>LAB · YOUR TURN</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181D"/>
                </a:solidFill>
                <a:latin typeface="Space Grotesk" pitchFamily="34" charset="0"/>
                <a:ea typeface="Space Grotesk" pitchFamily="34" charset="-122"/>
                <a:cs typeface="Space Grotesk" pitchFamily="34" charset="-120"/>
              </a:rPr>
              <a:t>Same steps, your project dataset</a:t>
            </a:r>
            <a:endParaRPr lang="en-US" sz="3200" dirty="0"/>
          </a:p>
        </p:txBody>
      </p:sp>
      <p:sp>
        <p:nvSpPr>
          <p:cNvPr id="4" name="Shape 2"/>
          <p:cNvSpPr/>
          <p:nvPr/>
        </p:nvSpPr>
        <p:spPr>
          <a:xfrm>
            <a:off x="815975" y="1882676"/>
            <a:ext cx="3380284" cy="4159349"/>
          </a:xfrm>
          <a:prstGeom prst="roundRect">
            <a:avLst>
              <a:gd name="adj" fmla="val 4415"/>
            </a:avLst>
          </a:prstGeom>
          <a:solidFill>
            <a:srgbClr val="FBFAF6"/>
          </a:solidFill>
          <a:ln w="6350">
            <a:solidFill>
              <a:srgbClr val="E0DACB"/>
            </a:solidFill>
            <a:prstDash val="solid"/>
          </a:ln>
        </p:spPr>
        <p:txBody>
          <a:bodyPr/>
          <a:p/>
        </p:txBody>
      </p:sp>
      <p:sp>
        <p:nvSpPr>
          <p:cNvPr id="5" name="Text 3"/>
          <p:cNvSpPr/>
          <p:nvPr/>
        </p:nvSpPr>
        <p:spPr>
          <a:xfrm>
            <a:off x="1073150" y="2139851"/>
            <a:ext cx="1244600" cy="264120"/>
          </a:xfrm>
          <a:custGeom>
            <a:avLst/>
            <a:gdLst/>
            <a:ahLst/>
            <a:cxnLst/>
            <a:rect l="l" t="t" r="r" b="b"/>
            <a:pathLst>
              <a:path w="1244600" h="264120">
                <a:moveTo>
                  <a:pt x="132060" y="0"/>
                </a:moveTo>
                <a:lnTo>
                  <a:pt x="1112540" y="0"/>
                </a:lnTo>
                <a:arcTo hR="132060" wR="132060" stAng="16200000" swAng="5400000"/>
                <a:lnTo>
                  <a:pt x="1244600" y="132060"/>
                </a:lnTo>
                <a:arcTo hR="132060" wR="132060" stAng="0" swAng="5400000"/>
                <a:lnTo>
                  <a:pt x="132060" y="264120"/>
                </a:lnTo>
                <a:arcTo hR="132060" wR="132060" stAng="5400000" swAng="5400000"/>
                <a:lnTo>
                  <a:pt x="0" y="132060"/>
                </a:lnTo>
                <a:arcTo hR="132060" wR="132060" stAng="10800000" swAng="5400000"/>
                <a:close/>
              </a:path>
            </a:pathLst>
          </a:custGeom>
          <a:solidFill>
            <a:srgbClr val="C2410C"/>
          </a:solidFill>
          <a:ln/>
        </p:spPr>
        <p:txBody>
          <a:bodyPr wrap="none" lIns="0" tIns="0" rIns="0" bIns="0" rtlCol="0" anchor="ctr">
            <a:normAutofit/>
          </a:bodyPr>
          <a:lstStyle/>
          <a:p>
            <a:pPr algn="ctr" indent="0" marL="0">
              <a:lnSpc>
                <a:spcPts val="1680"/>
              </a:lnSpc>
              <a:buNone/>
            </a:pPr>
            <a:r>
              <a:rPr lang="en-US" sz="1200" b="1" spc="100" kern="0" dirty="0">
                <a:solidFill>
                  <a:srgbClr val="FBFAF6"/>
                </a:solidFill>
                <a:latin typeface="JetBrains Mono" pitchFamily="49" charset="0"/>
                <a:ea typeface="JetBrains Mono" pitchFamily="49" charset="-122"/>
                <a:cs typeface="JetBrains Mono" pitchFamily="49" charset="-120"/>
              </a:rPr>
              <a:t>PART A</a:t>
            </a:r>
            <a:endParaRPr lang="en-US" sz="1200" dirty="0"/>
          </a:p>
        </p:txBody>
      </p:sp>
      <p:sp>
        <p:nvSpPr>
          <p:cNvPr id="6" name="Text 4"/>
          <p:cNvSpPr/>
          <p:nvPr/>
        </p:nvSpPr>
        <p:spPr>
          <a:xfrm>
            <a:off x="1073150" y="2530971"/>
            <a:ext cx="2951912" cy="685800"/>
          </a:xfrm>
          <a:prstGeom prst="rect">
            <a:avLst/>
          </a:prstGeom>
          <a:noFill/>
          <a:ln/>
        </p:spPr>
        <p:txBody>
          <a:bodyPr wrap="square" lIns="0" tIns="0" rIns="0" bIns="0" rtlCol="0" anchor="t"/>
          <a:lstStyle/>
          <a:p>
            <a:pPr algn="l" indent="0" marL="0">
              <a:lnSpc>
                <a:spcPts val="2400"/>
              </a:lnSpc>
              <a:buNone/>
            </a:pPr>
            <a:r>
              <a:rPr lang="en-US" sz="2000" b="1" dirty="0">
                <a:solidFill>
                  <a:srgbClr val="16181D"/>
                </a:solidFill>
                <a:latin typeface="Space Grotesk" pitchFamily="34" charset="0"/>
                <a:ea typeface="Space Grotesk" pitchFamily="34" charset="-122"/>
                <a:cs typeface="Space Grotesk" pitchFamily="34" charset="-120"/>
              </a:rPr>
              <a:t>Clean and explore</a:t>
            </a:r>
            <a:endParaRPr lang="en-US" sz="2000" dirty="0"/>
          </a:p>
        </p:txBody>
      </p:sp>
      <p:sp>
        <p:nvSpPr>
          <p:cNvPr id="7" name="Text 5"/>
          <p:cNvSpPr/>
          <p:nvPr/>
        </p:nvSpPr>
        <p:spPr>
          <a:xfrm>
            <a:off x="1073150" y="3291840"/>
            <a:ext cx="2953512" cy="7315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45A66"/>
                </a:solidFill>
                <a:latin typeface="IBM Plex Sans" pitchFamily="34" charset="0"/>
                <a:ea typeface="IBM Plex Sans" pitchFamily="34" charset="-122"/>
                <a:cs typeface="IBM Plex Sans" pitchFamily="34" charset="-120"/>
              </a:rPr>
              <a:t>Load, info, missing values, duplicates, outliers. Then three questions you answer with groupby or a plot.</a:t>
            </a:r>
            <a:endParaRPr lang="en-US" sz="1200" dirty="0"/>
          </a:p>
        </p:txBody>
      </p:sp>
      <p:sp>
        <p:nvSpPr>
          <p:cNvPr id="8" name="Text 6"/>
          <p:cNvSpPr/>
          <p:nvPr/>
        </p:nvSpPr>
        <p:spPr>
          <a:xfrm>
            <a:off x="1073150" y="4160520"/>
            <a:ext cx="29519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45A66"/>
                </a:solidFill>
                <a:latin typeface="JetBrains Mono" pitchFamily="49" charset="0"/>
                <a:ea typeface="JetBrains Mono" pitchFamily="49" charset="-122"/>
                <a:cs typeface="JetBrains Mono" pitchFamily="49" charset="-120"/>
              </a:rPr>
              <a:t>DELIVER</a:t>
            </a:r>
            <a:endParaRPr lang="en-US" sz="1200" dirty="0"/>
          </a:p>
        </p:txBody>
      </p:sp>
      <p:sp>
        <p:nvSpPr>
          <p:cNvPr id="9" name="Text 7"/>
          <p:cNvSpPr/>
          <p:nvPr/>
        </p:nvSpPr>
        <p:spPr>
          <a:xfrm>
            <a:off x="1073150" y="4480560"/>
            <a:ext cx="295191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6181D"/>
                </a:solidFill>
                <a:latin typeface="IBM Plex Sans" pitchFamily="34" charset="0"/>
                <a:ea typeface="IBM Plex Sans" pitchFamily="34" charset="-122"/>
                <a:cs typeface="IBM Plex Sans" pitchFamily="34" charset="-120"/>
              </a:rPr>
              <a:t>one decision per problem,</a:t>
            </a:r>
            <a:endParaRPr lang="en-US" sz="1200" dirty="0"/>
          </a:p>
          <a:p>
            <a:pPr algn="l" indent="0" marL="0">
              <a:lnSpc>
                <a:spcPts val="1740"/>
              </a:lnSpc>
              <a:buNone/>
            </a:pPr>
            <a:r>
              <a:rPr lang="en-US" sz="1200" dirty="0">
                <a:solidFill>
                  <a:srgbClr val="16181D"/>
                </a:solidFill>
                <a:latin typeface="IBM Plex Sans" pitchFamily="34" charset="0"/>
                <a:ea typeface="IBM Plex Sans" pitchFamily="34" charset="-122"/>
                <a:cs typeface="IBM Plex Sans" pitchFamily="34" charset="-120"/>
              </a:rPr>
              <a:t>written down</a:t>
            </a:r>
            <a:endParaRPr lang="en-US" sz="1200" dirty="0"/>
          </a:p>
        </p:txBody>
      </p:sp>
      <p:sp>
        <p:nvSpPr>
          <p:cNvPr id="10" name="Shape 8"/>
          <p:cNvSpPr/>
          <p:nvPr/>
        </p:nvSpPr>
        <p:spPr>
          <a:xfrm>
            <a:off x="1073150" y="5441355"/>
            <a:ext cx="2865934" cy="0"/>
          </a:xfrm>
          <a:prstGeom prst="line">
            <a:avLst/>
          </a:prstGeom>
          <a:noFill/>
          <a:ln w="6350">
            <a:solidFill>
              <a:srgbClr val="E0DACB"/>
            </a:solidFill>
            <a:prstDash val="solid"/>
          </a:ln>
        </p:spPr>
        <p:txBody>
          <a:bodyPr/>
          <a:p/>
        </p:txBody>
      </p:sp>
      <p:sp>
        <p:nvSpPr>
          <p:cNvPr id="11" name="Text 9"/>
          <p:cNvSpPr/>
          <p:nvPr/>
        </p:nvSpPr>
        <p:spPr>
          <a:xfrm>
            <a:off x="1073150" y="5571530"/>
            <a:ext cx="29519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Heart disease or house prices</a:t>
            </a:r>
            <a:endParaRPr lang="en-US" sz="1200" dirty="0"/>
          </a:p>
        </p:txBody>
      </p:sp>
      <p:sp>
        <p:nvSpPr>
          <p:cNvPr id="12" name="Shape 10"/>
          <p:cNvSpPr/>
          <p:nvPr/>
        </p:nvSpPr>
        <p:spPr>
          <a:xfrm>
            <a:off x="4405809" y="1882676"/>
            <a:ext cx="3380383" cy="4159349"/>
          </a:xfrm>
          <a:prstGeom prst="roundRect">
            <a:avLst>
              <a:gd name="adj" fmla="val 4414"/>
            </a:avLst>
          </a:prstGeom>
          <a:solidFill>
            <a:srgbClr val="FBFAF6"/>
          </a:solidFill>
          <a:ln w="6350">
            <a:solidFill>
              <a:srgbClr val="E0DACB"/>
            </a:solidFill>
            <a:prstDash val="solid"/>
          </a:ln>
        </p:spPr>
        <p:txBody>
          <a:bodyPr/>
          <a:p/>
        </p:txBody>
      </p:sp>
      <p:sp>
        <p:nvSpPr>
          <p:cNvPr id="13" name="Text 11"/>
          <p:cNvSpPr/>
          <p:nvPr/>
        </p:nvSpPr>
        <p:spPr>
          <a:xfrm>
            <a:off x="4662984" y="2139851"/>
            <a:ext cx="1452959" cy="264120"/>
          </a:xfrm>
          <a:custGeom>
            <a:avLst/>
            <a:gdLst/>
            <a:ahLst/>
            <a:cxnLst/>
            <a:rect l="l" t="t" r="r" b="b"/>
            <a:pathLst>
              <a:path w="1452959" h="264120">
                <a:moveTo>
                  <a:pt x="132060" y="0"/>
                </a:moveTo>
                <a:lnTo>
                  <a:pt x="1320899" y="0"/>
                </a:lnTo>
                <a:arcTo hR="132060" wR="132060" stAng="16200000" swAng="5400000"/>
                <a:lnTo>
                  <a:pt x="1452959" y="132060"/>
                </a:lnTo>
                <a:arcTo hR="132060" wR="132060" stAng="0" swAng="5400000"/>
                <a:lnTo>
                  <a:pt x="132060" y="264120"/>
                </a:lnTo>
                <a:arcTo hR="132060" wR="132060" stAng="5400000" swAng="5400000"/>
                <a:lnTo>
                  <a:pt x="0" y="132060"/>
                </a:lnTo>
                <a:arcTo hR="132060" wR="132060" stAng="10800000" swAng="5400000"/>
                <a:close/>
              </a:path>
            </a:pathLst>
          </a:custGeom>
          <a:solidFill>
            <a:srgbClr val="1D5FD6"/>
          </a:solidFill>
          <a:ln/>
        </p:spPr>
        <p:txBody>
          <a:bodyPr wrap="none" lIns="0" tIns="0" rIns="0" bIns="0" rtlCol="0" anchor="ctr">
            <a:normAutofit/>
          </a:bodyPr>
          <a:lstStyle/>
          <a:p>
            <a:pPr algn="ctr" indent="0" marL="0">
              <a:lnSpc>
                <a:spcPts val="1680"/>
              </a:lnSpc>
              <a:buNone/>
            </a:pPr>
            <a:r>
              <a:rPr lang="en-US" sz="1200" b="1" spc="100" kern="0" dirty="0">
                <a:solidFill>
                  <a:srgbClr val="FBFAF6"/>
                </a:solidFill>
                <a:latin typeface="JetBrains Mono" pitchFamily="49" charset="0"/>
                <a:ea typeface="JetBrains Mono" pitchFamily="49" charset="-122"/>
                <a:cs typeface="JetBrains Mono" pitchFamily="49" charset="-120"/>
              </a:rPr>
              <a:t>PART B</a:t>
            </a:r>
            <a:endParaRPr lang="en-US" sz="1200" dirty="0"/>
          </a:p>
        </p:txBody>
      </p:sp>
      <p:sp>
        <p:nvSpPr>
          <p:cNvPr id="14" name="Text 12"/>
          <p:cNvSpPr/>
          <p:nvPr/>
        </p:nvSpPr>
        <p:spPr>
          <a:xfrm>
            <a:off x="4662984" y="2530971"/>
            <a:ext cx="2952014" cy="685800"/>
          </a:xfrm>
          <a:prstGeom prst="rect">
            <a:avLst/>
          </a:prstGeom>
          <a:noFill/>
          <a:ln/>
        </p:spPr>
        <p:txBody>
          <a:bodyPr wrap="square" lIns="0" tIns="0" rIns="0" bIns="0" rtlCol="0" anchor="t"/>
          <a:lstStyle/>
          <a:p>
            <a:pPr algn="l" indent="0" marL="0">
              <a:lnSpc>
                <a:spcPts val="2400"/>
              </a:lnSpc>
              <a:buNone/>
            </a:pPr>
            <a:r>
              <a:rPr lang="en-US" sz="2000" b="1" dirty="0">
                <a:solidFill>
                  <a:srgbClr val="16181D"/>
                </a:solidFill>
                <a:latin typeface="Space Grotesk" pitchFamily="34" charset="0"/>
                <a:ea typeface="Space Grotesk" pitchFamily="34" charset="-122"/>
                <a:cs typeface="Space Grotesk" pitchFamily="34" charset="-120"/>
              </a:rPr>
              <a:t>Features and split</a:t>
            </a:r>
            <a:endParaRPr lang="en-US" sz="2000" dirty="0"/>
          </a:p>
        </p:txBody>
      </p:sp>
      <p:sp>
        <p:nvSpPr>
          <p:cNvPr id="15" name="Text 13"/>
          <p:cNvSpPr/>
          <p:nvPr/>
        </p:nvSpPr>
        <p:spPr>
          <a:xfrm>
            <a:off x="4662984" y="3291840"/>
            <a:ext cx="2953512" cy="7315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45A66"/>
                </a:solidFill>
                <a:latin typeface="IBM Plex Sans" pitchFamily="34" charset="0"/>
                <a:ea typeface="IBM Plex Sans" pitchFamily="34" charset="-122"/>
                <a:cs typeface="IBM Plex Sans" pitchFamily="34" charset="-120"/>
              </a:rPr>
              <a:t>Encode categories, drop useless columns, build at least one feature of your own. Split before anything else.</a:t>
            </a:r>
            <a:endParaRPr lang="en-US" sz="1200" dirty="0"/>
          </a:p>
        </p:txBody>
      </p:sp>
      <p:sp>
        <p:nvSpPr>
          <p:cNvPr id="16" name="Text 14"/>
          <p:cNvSpPr/>
          <p:nvPr/>
        </p:nvSpPr>
        <p:spPr>
          <a:xfrm>
            <a:off x="4662984" y="4160520"/>
            <a:ext cx="295201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45A66"/>
                </a:solidFill>
                <a:latin typeface="JetBrains Mono" pitchFamily="49" charset="0"/>
                <a:ea typeface="JetBrains Mono" pitchFamily="49" charset="-122"/>
                <a:cs typeface="JetBrains Mono" pitchFamily="49" charset="-120"/>
              </a:rPr>
              <a:t>DELIVER</a:t>
            </a:r>
            <a:endParaRPr lang="en-US" sz="1200" dirty="0"/>
          </a:p>
        </p:txBody>
      </p:sp>
      <p:sp>
        <p:nvSpPr>
          <p:cNvPr id="17" name="Text 15"/>
          <p:cNvSpPr/>
          <p:nvPr/>
        </p:nvSpPr>
        <p:spPr>
          <a:xfrm>
            <a:off x="4662984" y="4480560"/>
            <a:ext cx="2952014"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6181D"/>
                </a:solidFill>
                <a:latin typeface="IBM Plex Sans" pitchFamily="34" charset="0"/>
                <a:ea typeface="IBM Plex Sans" pitchFamily="34" charset="-122"/>
                <a:cs typeface="IBM Plex Sans" pitchFamily="34" charset="-120"/>
              </a:rPr>
              <a:t>X_train, X_test,</a:t>
            </a:r>
            <a:endParaRPr lang="en-US" sz="1200" dirty="0"/>
          </a:p>
          <a:p>
            <a:pPr algn="l" indent="0" marL="0">
              <a:lnSpc>
                <a:spcPts val="1740"/>
              </a:lnSpc>
              <a:buNone/>
            </a:pPr>
            <a:r>
              <a:rPr lang="en-US" sz="1200" dirty="0">
                <a:solidFill>
                  <a:srgbClr val="16181D"/>
                </a:solidFill>
                <a:latin typeface="IBM Plex Sans" pitchFamily="34" charset="0"/>
                <a:ea typeface="IBM Plex Sans" pitchFamily="34" charset="-122"/>
                <a:cs typeface="IBM Plex Sans" pitchFamily="34" charset="-120"/>
              </a:rPr>
              <a:t>y_train, y_test</a:t>
            </a:r>
            <a:endParaRPr lang="en-US" sz="1200" dirty="0"/>
          </a:p>
        </p:txBody>
      </p:sp>
      <p:sp>
        <p:nvSpPr>
          <p:cNvPr id="18" name="Shape 16"/>
          <p:cNvSpPr/>
          <p:nvPr/>
        </p:nvSpPr>
        <p:spPr>
          <a:xfrm>
            <a:off x="4662984" y="5441355"/>
            <a:ext cx="2866033" cy="0"/>
          </a:xfrm>
          <a:prstGeom prst="line">
            <a:avLst/>
          </a:prstGeom>
          <a:noFill/>
          <a:ln w="6350">
            <a:solidFill>
              <a:srgbClr val="E0DACB"/>
            </a:solidFill>
            <a:prstDash val="solid"/>
          </a:ln>
        </p:spPr>
        <p:txBody>
          <a:bodyPr/>
          <a:p/>
        </p:txBody>
      </p:sp>
      <p:sp>
        <p:nvSpPr>
          <p:cNvPr id="19" name="Text 17"/>
          <p:cNvSpPr/>
          <p:nvPr/>
        </p:nvSpPr>
        <p:spPr>
          <a:xfrm>
            <a:off x="4662984" y="5571530"/>
            <a:ext cx="29520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Classification: stratify=y</a:t>
            </a:r>
            <a:endParaRPr lang="en-US" sz="1200" dirty="0"/>
          </a:p>
        </p:txBody>
      </p:sp>
      <p:sp>
        <p:nvSpPr>
          <p:cNvPr id="20" name="Shape 18"/>
          <p:cNvSpPr/>
          <p:nvPr/>
        </p:nvSpPr>
        <p:spPr>
          <a:xfrm>
            <a:off x="7995741" y="1882676"/>
            <a:ext cx="3380284" cy="4159349"/>
          </a:xfrm>
          <a:prstGeom prst="roundRect">
            <a:avLst>
              <a:gd name="adj" fmla="val 4415"/>
            </a:avLst>
          </a:prstGeom>
          <a:solidFill>
            <a:srgbClr val="FBFAF6"/>
          </a:solidFill>
          <a:ln w="6350">
            <a:solidFill>
              <a:srgbClr val="E0DACB"/>
            </a:solidFill>
            <a:prstDash val="solid"/>
          </a:ln>
        </p:spPr>
        <p:txBody>
          <a:bodyPr/>
          <a:p/>
        </p:txBody>
      </p:sp>
      <p:sp>
        <p:nvSpPr>
          <p:cNvPr id="21" name="Text 19"/>
          <p:cNvSpPr/>
          <p:nvPr/>
        </p:nvSpPr>
        <p:spPr>
          <a:xfrm>
            <a:off x="8252916" y="2139851"/>
            <a:ext cx="1557040" cy="264120"/>
          </a:xfrm>
          <a:custGeom>
            <a:avLst/>
            <a:gdLst/>
            <a:ahLst/>
            <a:cxnLst/>
            <a:rect l="l" t="t" r="r" b="b"/>
            <a:pathLst>
              <a:path w="1557040" h="264120">
                <a:moveTo>
                  <a:pt x="132060" y="0"/>
                </a:moveTo>
                <a:lnTo>
                  <a:pt x="1424980" y="0"/>
                </a:lnTo>
                <a:arcTo hR="132060" wR="132060" stAng="16200000" swAng="5400000"/>
                <a:lnTo>
                  <a:pt x="1557040" y="132060"/>
                </a:lnTo>
                <a:arcTo hR="132060" wR="132060" stAng="0" swAng="5400000"/>
                <a:lnTo>
                  <a:pt x="132060" y="264120"/>
                </a:lnTo>
                <a:arcTo hR="132060" wR="132060" stAng="5400000" swAng="5400000"/>
                <a:lnTo>
                  <a:pt x="0" y="132060"/>
                </a:lnTo>
                <a:arcTo hR="132060" wR="132060" stAng="10800000" swAng="5400000"/>
                <a:close/>
              </a:path>
            </a:pathLst>
          </a:custGeom>
          <a:solidFill>
            <a:srgbClr val="2F855A"/>
          </a:solidFill>
          <a:ln/>
        </p:spPr>
        <p:txBody>
          <a:bodyPr wrap="none" lIns="0" tIns="0" rIns="0" bIns="0" rtlCol="0" anchor="ctr">
            <a:normAutofit/>
          </a:bodyPr>
          <a:lstStyle/>
          <a:p>
            <a:pPr algn="ctr" indent="0" marL="0">
              <a:lnSpc>
                <a:spcPts val="1680"/>
              </a:lnSpc>
              <a:buNone/>
            </a:pPr>
            <a:r>
              <a:rPr lang="en-US" sz="1200" b="1" spc="100" kern="0" dirty="0">
                <a:solidFill>
                  <a:srgbClr val="FBFAF6"/>
                </a:solidFill>
                <a:latin typeface="JetBrains Mono" pitchFamily="49" charset="0"/>
                <a:ea typeface="JetBrains Mono" pitchFamily="49" charset="-122"/>
                <a:cs typeface="JetBrains Mono" pitchFamily="49" charset="-120"/>
              </a:rPr>
              <a:t>TRAIN</a:t>
            </a:r>
            <a:endParaRPr lang="en-US" sz="1200" dirty="0"/>
          </a:p>
        </p:txBody>
      </p:sp>
      <p:sp>
        <p:nvSpPr>
          <p:cNvPr id="22" name="Text 20"/>
          <p:cNvSpPr/>
          <p:nvPr/>
        </p:nvSpPr>
        <p:spPr>
          <a:xfrm>
            <a:off x="8252916" y="2530971"/>
            <a:ext cx="2951912" cy="685800"/>
          </a:xfrm>
          <a:prstGeom prst="rect">
            <a:avLst/>
          </a:prstGeom>
          <a:noFill/>
          <a:ln/>
        </p:spPr>
        <p:txBody>
          <a:bodyPr wrap="square" lIns="0" tIns="0" rIns="0" bIns="0" rtlCol="0" anchor="t"/>
          <a:lstStyle/>
          <a:p>
            <a:pPr algn="l" indent="0" marL="0">
              <a:lnSpc>
                <a:spcPts val="2400"/>
              </a:lnSpc>
              <a:buNone/>
            </a:pPr>
            <a:r>
              <a:rPr lang="en-US" sz="2000" b="1" dirty="0">
                <a:solidFill>
                  <a:srgbClr val="16181D"/>
                </a:solidFill>
                <a:latin typeface="Space Grotesk" pitchFamily="34" charset="0"/>
                <a:ea typeface="Space Grotesk" pitchFamily="34" charset="-122"/>
                <a:cs typeface="Space Grotesk" pitchFamily="34" charset="-120"/>
              </a:rPr>
              <a:t>Pipeline and baseline</a:t>
            </a:r>
            <a:endParaRPr lang="en-US" sz="2000" dirty="0"/>
          </a:p>
        </p:txBody>
      </p:sp>
      <p:sp>
        <p:nvSpPr>
          <p:cNvPr id="23" name="Text 21"/>
          <p:cNvSpPr/>
          <p:nvPr/>
        </p:nvSpPr>
        <p:spPr>
          <a:xfrm>
            <a:off x="8252916" y="3291840"/>
            <a:ext cx="2953512" cy="7315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45A66"/>
                </a:solidFill>
                <a:latin typeface="IBM Plex Sans" pitchFamily="34" charset="0"/>
                <a:ea typeface="IBM Plex Sans" pitchFamily="34" charset="-122"/>
                <a:cs typeface="IBM Plex Sans" pitchFamily="34" charset="-120"/>
              </a:rPr>
              <a:t>ColumnTransformer plus model in one Pipeline. Compare against a Dummy baseline.</a:t>
            </a:r>
            <a:endParaRPr lang="en-US" sz="1200" dirty="0"/>
          </a:p>
        </p:txBody>
      </p:sp>
      <p:sp>
        <p:nvSpPr>
          <p:cNvPr id="24" name="Text 22"/>
          <p:cNvSpPr/>
          <p:nvPr/>
        </p:nvSpPr>
        <p:spPr>
          <a:xfrm>
            <a:off x="8252916" y="4160520"/>
            <a:ext cx="29519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45A66"/>
                </a:solidFill>
                <a:latin typeface="JetBrains Mono" pitchFamily="49" charset="0"/>
                <a:ea typeface="JetBrains Mono" pitchFamily="49" charset="-122"/>
                <a:cs typeface="JetBrains Mono" pitchFamily="49" charset="-120"/>
              </a:rPr>
              <a:t>DELIVER</a:t>
            </a:r>
            <a:endParaRPr lang="en-US" sz="1200" dirty="0"/>
          </a:p>
        </p:txBody>
      </p:sp>
      <p:sp>
        <p:nvSpPr>
          <p:cNvPr id="25" name="Text 23"/>
          <p:cNvSpPr/>
          <p:nvPr/>
        </p:nvSpPr>
        <p:spPr>
          <a:xfrm>
            <a:off x="8252916" y="4480560"/>
            <a:ext cx="295191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6181D"/>
                </a:solidFill>
                <a:latin typeface="IBM Plex Sans" pitchFamily="34" charset="0"/>
                <a:ea typeface="IBM Plex Sans" pitchFamily="34" charset="-122"/>
                <a:cs typeface="IBM Plex Sans" pitchFamily="34" charset="-120"/>
              </a:rPr>
              <a:t>a results table</a:t>
            </a:r>
            <a:endParaRPr lang="en-US" sz="1200" dirty="0"/>
          </a:p>
          <a:p>
            <a:pPr algn="l" indent="0" marL="0">
              <a:lnSpc>
                <a:spcPts val="1740"/>
              </a:lnSpc>
              <a:buNone/>
            </a:pPr>
            <a:r>
              <a:rPr lang="en-US" sz="1200" dirty="0">
                <a:solidFill>
                  <a:srgbClr val="16181D"/>
                </a:solidFill>
                <a:latin typeface="IBM Plex Sans" pitchFamily="34" charset="0"/>
                <a:ea typeface="IBM Plex Sans" pitchFamily="34" charset="-122"/>
                <a:cs typeface="IBM Plex Sans" pitchFamily="34" charset="-120"/>
              </a:rPr>
              <a:t>like ours</a:t>
            </a:r>
            <a:endParaRPr lang="en-US" sz="1200" dirty="0"/>
          </a:p>
        </p:txBody>
      </p:sp>
      <p:sp>
        <p:nvSpPr>
          <p:cNvPr id="26" name="Shape 24"/>
          <p:cNvSpPr/>
          <p:nvPr/>
        </p:nvSpPr>
        <p:spPr>
          <a:xfrm>
            <a:off x="8252916" y="5441355"/>
            <a:ext cx="2865934" cy="0"/>
          </a:xfrm>
          <a:prstGeom prst="line">
            <a:avLst/>
          </a:prstGeom>
          <a:noFill/>
          <a:ln w="6350">
            <a:solidFill>
              <a:srgbClr val="E0DACB"/>
            </a:solidFill>
            <a:prstDash val="solid"/>
          </a:ln>
        </p:spPr>
        <p:txBody>
          <a:bodyPr/>
          <a:p/>
        </p:txBody>
      </p:sp>
      <p:sp>
        <p:nvSpPr>
          <p:cNvPr id="27" name="Text 25"/>
          <p:cNvSpPr/>
          <p:nvPr/>
        </p:nvSpPr>
        <p:spPr>
          <a:xfrm>
            <a:off x="8252916" y="5571530"/>
            <a:ext cx="29519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Classification: accuracy, F1</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35">
    <p:bg>
      <p:bgPr>
        <a:solidFill>
          <a:srgbClr val="FF7A4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F1115"/>
                </a:solidFill>
                <a:latin typeface="JetBrains Mono" pitchFamily="49" charset="0"/>
                <a:ea typeface="JetBrains Mono" pitchFamily="49" charset="-122"/>
                <a:cs typeface="JetBrains Mono" pitchFamily="49" charset="-120"/>
              </a:rPr>
              <a:t>RECAP</a:t>
            </a:r>
            <a:endParaRPr lang="en-US" sz="1200" dirty="0"/>
          </a:p>
        </p:txBody>
      </p:sp>
      <p:sp>
        <p:nvSpPr>
          <p:cNvPr id="3" name="Text 1"/>
          <p:cNvSpPr/>
          <p:nvPr>
            <p:ph type="title"/>
          </p:nvPr>
        </p:nvSpPr>
        <p:spPr>
          <a:xfrm>
            <a:off x="812800" y="1127720"/>
            <a:ext cx="10883392" cy="647105"/>
          </a:xfrm>
          <a:prstGeom prst="rect">
            <a:avLst/>
          </a:prstGeom>
          <a:noFill/>
          <a:ln/>
        </p:spPr>
        <p:txBody>
          <a:bodyPr wrap="square" lIns="0" tIns="0" rIns="0" bIns="0" rtlCol="0" anchor="t">
            <a:normAutofit/>
          </a:bodyPr>
          <a:lstStyle/>
          <a:p>
            <a:pPr algn="l" indent="0" marL="0">
              <a:lnSpc>
                <a:spcPts val="4896"/>
              </a:lnSpc>
              <a:buNone/>
            </a:pPr>
            <a:r>
              <a:rPr lang="en-US" sz="4800" b="1" i="0" spc="-100" kern="0" dirty="0">
                <a:solidFill>
                  <a:srgbClr val="0F1115"/>
                </a:solidFill>
                <a:latin typeface="Space Grotesk" pitchFamily="34" charset="0"/>
                <a:ea typeface="Space Grotesk" pitchFamily="34" charset="-122"/>
                <a:cs typeface="Space Grotesk" pitchFamily="34" charset="-120"/>
              </a:rPr>
              <a:t>What you should take home</a:t>
            </a:r>
            <a:endParaRPr lang="en-US" sz="4800" dirty="0"/>
          </a:p>
        </p:txBody>
      </p:sp>
      <p:sp>
        <p:nvSpPr>
          <p:cNvPr id="4" name="Shape 2"/>
          <p:cNvSpPr/>
          <p:nvPr/>
        </p:nvSpPr>
        <p:spPr>
          <a:xfrm>
            <a:off x="813816" y="2105025"/>
            <a:ext cx="2487168" cy="3940175"/>
          </a:xfrm>
          <a:prstGeom prst="roundRect">
            <a:avLst>
              <a:gd name="adj" fmla="val 4500"/>
            </a:avLst>
          </a:prstGeom>
          <a:solidFill>
            <a:srgbClr val="0F1115"/>
          </a:solidFill>
          <a:ln/>
        </p:spPr>
        <p:txBody>
          <a:bodyPr/>
          <a:p/>
        </p:txBody>
      </p:sp>
      <p:sp>
        <p:nvSpPr>
          <p:cNvPr id="5" name="Text 3"/>
          <p:cNvSpPr/>
          <p:nvPr/>
        </p:nvSpPr>
        <p:spPr>
          <a:xfrm>
            <a:off x="1069848" y="2384425"/>
            <a:ext cx="2029968" cy="635000"/>
          </a:xfrm>
          <a:prstGeom prst="rect">
            <a:avLst/>
          </a:prstGeom>
          <a:noFill/>
          <a:ln/>
        </p:spPr>
        <p:txBody>
          <a:bodyPr wrap="square" lIns="0" tIns="0" rIns="0" bIns="0" rtlCol="0" anchor="t">
            <a:normAutofit/>
          </a:bodyPr>
          <a:lstStyle/>
          <a:p>
            <a:pPr algn="l" indent="0" marL="0">
              <a:lnSpc>
                <a:spcPts val="4800"/>
              </a:lnSpc>
              <a:buNone/>
            </a:pPr>
            <a:r>
              <a:rPr lang="en-US" sz="4800" b="1" spc="-100" kern="0" dirty="0">
                <a:solidFill>
                  <a:srgbClr val="000000">
                    <a:alpha val="0"/>
                  </a:srgbClr>
                </a:solidFill>
                <a:latin typeface="Space Grotesk" pitchFamily="34" charset="0"/>
                <a:ea typeface="Space Grotesk" pitchFamily="34" charset="-122"/>
                <a:cs typeface="Space Grotesk" pitchFamily="34" charset="-120"/>
              </a:rPr>
              <a:t>01</a:t>
            </a:r>
            <a:endParaRPr lang="en-US" sz="4800" dirty="0"/>
          </a:p>
        </p:txBody>
      </p:sp>
      <p:sp>
        <p:nvSpPr>
          <p:cNvPr id="6" name="Text 4"/>
          <p:cNvSpPr/>
          <p:nvPr/>
        </p:nvSpPr>
        <p:spPr>
          <a:xfrm>
            <a:off x="1069848" y="4160520"/>
            <a:ext cx="20299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CEAE4"/>
                </a:solidFill>
                <a:latin typeface="Space Grotesk" pitchFamily="34" charset="0"/>
                <a:ea typeface="Space Grotesk" pitchFamily="34" charset="-122"/>
                <a:cs typeface="Space Grotesk" pitchFamily="34" charset="-120"/>
              </a:rPr>
              <a:t>Look first</a:t>
            </a:r>
            <a:endParaRPr lang="en-US" sz="2000" dirty="0"/>
          </a:p>
        </p:txBody>
      </p:sp>
      <p:sp>
        <p:nvSpPr>
          <p:cNvPr id="7" name="Text 5"/>
          <p:cNvSpPr/>
          <p:nvPr/>
        </p:nvSpPr>
        <p:spPr>
          <a:xfrm>
            <a:off x="1069848" y="4572000"/>
            <a:ext cx="2029968" cy="13258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3A8B4"/>
                </a:solidFill>
                <a:latin typeface="IBM Plex Sans" pitchFamily="34" charset="0"/>
                <a:ea typeface="IBM Plex Sans" pitchFamily="34" charset="-122"/>
                <a:cs typeface="IBM Plex Sans" pitchFamily="34" charset="-120"/>
              </a:rPr>
              <a:t>info, describe, groupby, plots. Every odd value gets a decision, not a reflex.</a:t>
            </a:r>
            <a:endParaRPr lang="en-US" sz="1200" dirty="0"/>
          </a:p>
        </p:txBody>
      </p:sp>
      <p:sp>
        <p:nvSpPr>
          <p:cNvPr id="8" name="Shape 6"/>
          <p:cNvSpPr/>
          <p:nvPr/>
        </p:nvSpPr>
        <p:spPr>
          <a:xfrm>
            <a:off x="3508552" y="2105025"/>
            <a:ext cx="2487168" cy="3940175"/>
          </a:xfrm>
          <a:prstGeom prst="roundRect">
            <a:avLst>
              <a:gd name="adj" fmla="val 4500"/>
            </a:avLst>
          </a:prstGeom>
          <a:solidFill>
            <a:srgbClr val="0F1115"/>
          </a:solidFill>
          <a:ln/>
        </p:spPr>
        <p:txBody>
          <a:bodyPr/>
          <a:p/>
        </p:txBody>
      </p:sp>
      <p:sp>
        <p:nvSpPr>
          <p:cNvPr id="9" name="Text 7"/>
          <p:cNvSpPr/>
          <p:nvPr/>
        </p:nvSpPr>
        <p:spPr>
          <a:xfrm>
            <a:off x="3764584" y="2384425"/>
            <a:ext cx="2029968" cy="635000"/>
          </a:xfrm>
          <a:prstGeom prst="rect">
            <a:avLst/>
          </a:prstGeom>
          <a:noFill/>
          <a:ln/>
        </p:spPr>
        <p:txBody>
          <a:bodyPr wrap="square" lIns="0" tIns="0" rIns="0" bIns="0" rtlCol="0" anchor="t">
            <a:normAutofit/>
          </a:bodyPr>
          <a:lstStyle/>
          <a:p>
            <a:pPr algn="l" indent="0" marL="0">
              <a:lnSpc>
                <a:spcPts val="4800"/>
              </a:lnSpc>
              <a:buNone/>
            </a:pPr>
            <a:r>
              <a:rPr lang="en-US" sz="4800" b="1" spc="-100" kern="0" dirty="0">
                <a:solidFill>
                  <a:srgbClr val="000000">
                    <a:alpha val="0"/>
                  </a:srgbClr>
                </a:solidFill>
                <a:latin typeface="Space Grotesk" pitchFamily="34" charset="0"/>
                <a:ea typeface="Space Grotesk" pitchFamily="34" charset="-122"/>
                <a:cs typeface="Space Grotesk" pitchFamily="34" charset="-120"/>
              </a:rPr>
              <a:t>02</a:t>
            </a:r>
            <a:endParaRPr lang="en-US" sz="4800" dirty="0"/>
          </a:p>
        </p:txBody>
      </p:sp>
      <p:sp>
        <p:nvSpPr>
          <p:cNvPr id="10" name="Text 8"/>
          <p:cNvSpPr/>
          <p:nvPr/>
        </p:nvSpPr>
        <p:spPr>
          <a:xfrm>
            <a:off x="3764584" y="4160520"/>
            <a:ext cx="20299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CEAE4"/>
                </a:solidFill>
                <a:latin typeface="Space Grotesk" pitchFamily="34" charset="0"/>
                <a:ea typeface="Space Grotesk" pitchFamily="34" charset="-122"/>
                <a:cs typeface="Space Grotesk" pitchFamily="34" charset="-120"/>
              </a:rPr>
              <a:t>Features</a:t>
            </a:r>
            <a:endParaRPr lang="en-US" sz="2000" dirty="0"/>
          </a:p>
        </p:txBody>
      </p:sp>
      <p:sp>
        <p:nvSpPr>
          <p:cNvPr id="11" name="Text 9"/>
          <p:cNvSpPr/>
          <p:nvPr/>
        </p:nvSpPr>
        <p:spPr>
          <a:xfrm>
            <a:off x="3764584" y="4572000"/>
            <a:ext cx="2029968" cy="13258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3A8B4"/>
                </a:solidFill>
                <a:latin typeface="IBM Plex Sans" pitchFamily="34" charset="0"/>
                <a:ea typeface="IBM Plex Sans" pitchFamily="34" charset="-122"/>
                <a:cs typeface="IBM Plex Sans" pitchFamily="34" charset="-120"/>
              </a:rPr>
              <a:t>Encode, drop, create. The model can only learn from what you give it.</a:t>
            </a:r>
            <a:endParaRPr lang="en-US" sz="1200" dirty="0"/>
          </a:p>
        </p:txBody>
      </p:sp>
      <p:sp>
        <p:nvSpPr>
          <p:cNvPr id="12" name="Shape 10"/>
          <p:cNvSpPr/>
          <p:nvPr/>
        </p:nvSpPr>
        <p:spPr>
          <a:xfrm>
            <a:off x="6203289" y="2105025"/>
            <a:ext cx="2487168" cy="3940175"/>
          </a:xfrm>
          <a:prstGeom prst="roundRect">
            <a:avLst>
              <a:gd name="adj" fmla="val 4500"/>
            </a:avLst>
          </a:prstGeom>
          <a:solidFill>
            <a:srgbClr val="0F1115"/>
          </a:solidFill>
          <a:ln/>
        </p:spPr>
        <p:txBody>
          <a:bodyPr/>
          <a:p/>
        </p:txBody>
      </p:sp>
      <p:sp>
        <p:nvSpPr>
          <p:cNvPr id="13" name="Text 11"/>
          <p:cNvSpPr/>
          <p:nvPr/>
        </p:nvSpPr>
        <p:spPr>
          <a:xfrm>
            <a:off x="6459321" y="2384425"/>
            <a:ext cx="2029968" cy="635000"/>
          </a:xfrm>
          <a:prstGeom prst="rect">
            <a:avLst/>
          </a:prstGeom>
          <a:noFill/>
          <a:ln/>
        </p:spPr>
        <p:txBody>
          <a:bodyPr wrap="square" lIns="0" tIns="0" rIns="0" bIns="0" rtlCol="0" anchor="t">
            <a:normAutofit/>
          </a:bodyPr>
          <a:lstStyle/>
          <a:p>
            <a:pPr algn="l" indent="0" marL="0">
              <a:lnSpc>
                <a:spcPts val="4800"/>
              </a:lnSpc>
              <a:buNone/>
            </a:pPr>
            <a:r>
              <a:rPr lang="en-US" sz="4800" b="1" spc="-100" kern="0" dirty="0">
                <a:solidFill>
                  <a:srgbClr val="000000">
                    <a:alpha val="0"/>
                  </a:srgbClr>
                </a:solidFill>
                <a:latin typeface="Space Grotesk" pitchFamily="34" charset="0"/>
                <a:ea typeface="Space Grotesk" pitchFamily="34" charset="-122"/>
                <a:cs typeface="Space Grotesk" pitchFamily="34" charset="-120"/>
              </a:rPr>
              <a:t>03</a:t>
            </a:r>
            <a:endParaRPr lang="en-US" sz="4800" dirty="0"/>
          </a:p>
        </p:txBody>
      </p:sp>
      <p:sp>
        <p:nvSpPr>
          <p:cNvPr id="14" name="Text 12"/>
          <p:cNvSpPr/>
          <p:nvPr/>
        </p:nvSpPr>
        <p:spPr>
          <a:xfrm>
            <a:off x="6459321" y="4160520"/>
            <a:ext cx="20299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CEAE4"/>
                </a:solidFill>
                <a:latin typeface="Space Grotesk" pitchFamily="34" charset="0"/>
                <a:ea typeface="Space Grotesk" pitchFamily="34" charset="-122"/>
                <a:cs typeface="Space Grotesk" pitchFamily="34" charset="-120"/>
              </a:rPr>
              <a:t>Split first</a:t>
            </a:r>
            <a:endParaRPr lang="en-US" sz="2000" dirty="0"/>
          </a:p>
        </p:txBody>
      </p:sp>
      <p:sp>
        <p:nvSpPr>
          <p:cNvPr id="15" name="Text 13"/>
          <p:cNvSpPr/>
          <p:nvPr/>
        </p:nvSpPr>
        <p:spPr>
          <a:xfrm>
            <a:off x="6459321" y="4572000"/>
            <a:ext cx="2029968" cy="13258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3A8B4"/>
                </a:solidFill>
                <a:latin typeface="IBM Plex Sans" pitchFamily="34" charset="0"/>
                <a:ea typeface="IBM Plex Sans" pitchFamily="34" charset="-122"/>
                <a:cs typeface="IBM Plex Sans" pitchFamily="34" charset="-120"/>
              </a:rPr>
              <a:t>Every statistic comes from the training data. A pipeline enforces it.</a:t>
            </a:r>
            <a:endParaRPr lang="en-US" sz="1200" dirty="0"/>
          </a:p>
        </p:txBody>
      </p:sp>
      <p:sp>
        <p:nvSpPr>
          <p:cNvPr id="900" name="New 0"/>
          <p:cNvSpPr/>
          <p:nvPr/>
        </p:nvSpPr>
        <p:spPr>
          <a:xfrm>
            <a:off x="8898026" y="2105025"/>
            <a:ext cx="2487168" cy="3940175"/>
          </a:xfrm>
          <a:prstGeom prst="roundRect">
            <a:avLst>
              <a:gd name="adj" fmla="val 4500"/>
            </a:avLst>
          </a:prstGeom>
          <a:solidFill>
            <a:srgbClr val="0F1115"/>
          </a:solidFill>
          <a:ln/>
        </p:spPr>
        <p:txBody>
          <a:bodyPr/>
          <a:p/>
        </p:txBody>
      </p:sp>
      <p:sp>
        <p:nvSpPr>
          <p:cNvPr id="901" name="New 1"/>
          <p:cNvSpPr/>
          <p:nvPr/>
        </p:nvSpPr>
        <p:spPr>
          <a:xfrm>
            <a:off x="9154058" y="2384425"/>
            <a:ext cx="2029968" cy="635000"/>
          </a:xfrm>
          <a:prstGeom prst="rect">
            <a:avLst/>
          </a:prstGeom>
          <a:noFill/>
          <a:ln/>
        </p:spPr>
        <p:txBody>
          <a:bodyPr wrap="square" lIns="0" tIns="0" rIns="0" bIns="0" rtlCol="0" anchor="t">
            <a:normAutofit/>
          </a:bodyPr>
          <a:lstStyle/>
          <a:p>
            <a:pPr algn="l" indent="0" marL="0">
              <a:lnSpc>
                <a:spcPts val="4800"/>
              </a:lnSpc>
              <a:buNone/>
            </a:pPr>
            <a:r>
              <a:rPr lang="en-US" sz="4800" b="1" spc="-100" kern="0" dirty="0">
                <a:solidFill>
                  <a:srgbClr val="000000">
                    <a:alpha val="0"/>
                  </a:srgbClr>
                </a:solidFill>
                <a:latin typeface="Space Grotesk" pitchFamily="34" charset="0"/>
                <a:ea typeface="Space Grotesk" pitchFamily="34" charset="-122"/>
                <a:cs typeface="Space Grotesk" pitchFamily="34" charset="-120"/>
              </a:rPr>
              <a:t>04</a:t>
            </a:r>
            <a:endParaRPr lang="en-US" sz="4800" dirty="0"/>
          </a:p>
        </p:txBody>
      </p:sp>
      <p:sp>
        <p:nvSpPr>
          <p:cNvPr id="902" name="New 2"/>
          <p:cNvSpPr/>
          <p:nvPr/>
        </p:nvSpPr>
        <p:spPr>
          <a:xfrm>
            <a:off x="9154058" y="4160520"/>
            <a:ext cx="20299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CEAE4"/>
                </a:solidFill>
                <a:latin typeface="Space Grotesk" pitchFamily="34" charset="0"/>
                <a:ea typeface="Space Grotesk" pitchFamily="34" charset="-122"/>
                <a:cs typeface="Space Grotesk" pitchFamily="34" charset="-120"/>
              </a:rPr>
              <a:t>Baseline first</a:t>
            </a:r>
            <a:endParaRPr lang="en-US" sz="2000" dirty="0"/>
          </a:p>
        </p:txBody>
      </p:sp>
      <p:sp>
        <p:nvSpPr>
          <p:cNvPr id="903" name="New 3"/>
          <p:cNvSpPr/>
          <p:nvPr/>
        </p:nvSpPr>
        <p:spPr>
          <a:xfrm>
            <a:off x="9154058" y="4572000"/>
            <a:ext cx="2029968" cy="13258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A3A8B4"/>
                </a:solidFill>
                <a:latin typeface="IBM Plex Sans" pitchFamily="34" charset="0"/>
                <a:ea typeface="IBM Plex Sans" pitchFamily="34" charset="-122"/>
                <a:cs typeface="IBM Plex Sans" pitchFamily="34" charset="-120"/>
              </a:rPr>
              <a:t>A number means nothing until you compare it to guessing.</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15">
    <p:bg>
      <p:bgPr>
        <a:solidFill>
          <a:srgbClr val="F2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2410C"/>
                </a:solidFill>
                <a:latin typeface="JetBrains Mono" pitchFamily="49" charset="0"/>
                <a:ea typeface="JetBrains Mono" pitchFamily="49" charset="-122"/>
                <a:cs typeface="JetBrains Mono" pitchFamily="49" charset="-120"/>
              </a:rPr>
              <a:t>FROM LAST TIME · THE SLOPE</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181D"/>
                </a:solidFill>
                <a:latin typeface="Space Grotesk" pitchFamily="34" charset="0"/>
                <a:ea typeface="Space Grotesk" pitchFamily="34" charset="-122"/>
                <a:cs typeface="Space Grotesk" pitchFamily="34" charset="-120"/>
              </a:rPr>
              <a:t>Where the slope comes from, in one example</a:t>
            </a:r>
            <a:endParaRPr lang="en-US" sz="3200" dirty="0"/>
          </a:p>
        </p:txBody>
      </p:sp>
      <p:sp>
        <p:nvSpPr>
          <p:cNvPr id="4" name="Shape 2"/>
          <p:cNvSpPr/>
          <p:nvPr/>
        </p:nvSpPr>
        <p:spPr>
          <a:xfrm>
            <a:off x="812800" y="1828701"/>
            <a:ext cx="7137400" cy="1810512"/>
          </a:xfrm>
          <a:prstGeom prst="roundRect">
            <a:avLst>
              <a:gd name="adj" fmla="val 5971"/>
            </a:avLst>
          </a:prstGeom>
          <a:solidFill>
            <a:srgbClr val="FBFAF6"/>
          </a:solidFill>
          <a:ln/>
        </p:spPr>
        <p:txBody>
          <a:bodyPr/>
          <a:p/>
        </p:txBody>
      </p:sp>
      <p:sp>
        <p:nvSpPr>
          <p:cNvPr id="5" name="Shape 3"/>
          <p:cNvSpPr/>
          <p:nvPr/>
        </p:nvSpPr>
        <p:spPr>
          <a:xfrm>
            <a:off x="812800" y="1828701"/>
            <a:ext cx="7137400" cy="1810512"/>
          </a:xfrm>
          <a:custGeom>
            <a:avLst/>
            <a:gdLst/>
            <a:ahLst/>
            <a:cxnLst/>
            <a:rect l="l" t="t" r="r" b="b"/>
            <a:pathLst>
              <a:path w="7137400" h="2126853">
                <a:moveTo>
                  <a:pt x="7010400" y="0"/>
                </a:moveTo>
                <a:lnTo>
                  <a:pt x="7010400" y="0"/>
                </a:lnTo>
                <a:arcTo hR="127000" wR="127000" stAng="16200000" swAng="5400000"/>
                <a:lnTo>
                  <a:pt x="7137400" y="1999853"/>
                </a:lnTo>
                <a:arcTo hR="127000" wR="127000" stAng="0" swAng="5400000"/>
                <a:lnTo>
                  <a:pt x="127000" y="2126853"/>
                </a:lnTo>
                <a:arcTo hR="127000" wR="127000" stAng="5400000" swAng="5400000"/>
                <a:lnTo>
                  <a:pt x="0" y="1999853"/>
                </a:lnTo>
                <a:arcTo hR="120650" wR="127000" stAng="10800000" swAng="-5400000"/>
                <a:lnTo>
                  <a:pt x="7010400" y="2120503"/>
                </a:lnTo>
                <a:arcTo hR="120650" wR="120650" stAng="5400000" swAng="-5400000"/>
                <a:lnTo>
                  <a:pt x="7131050" y="127000"/>
                </a:lnTo>
                <a:arcTo hR="127000" wR="120650" stAng="0" swAng="-5400000"/>
                <a:close/>
              </a:path>
            </a:pathLst>
          </a:custGeom>
          <a:solidFill>
            <a:srgbClr val="E0DACB"/>
          </a:solidFill>
          <a:ln/>
        </p:spPr>
        <p:txBody>
          <a:bodyPr/>
          <a:p/>
        </p:txBody>
      </p:sp>
      <p:sp>
        <p:nvSpPr>
          <p:cNvPr id="6" name="Shape 4"/>
          <p:cNvSpPr/>
          <p:nvPr/>
        </p:nvSpPr>
        <p:spPr>
          <a:xfrm>
            <a:off x="812800" y="1828701"/>
            <a:ext cx="7137400" cy="1810512"/>
          </a:xfrm>
          <a:custGeom>
            <a:avLst/>
            <a:gdLst/>
            <a:ahLst/>
            <a:cxnLst/>
            <a:rect l="l" t="t" r="r" b="b"/>
            <a:pathLst>
              <a:path w="7137400" h="2126853">
                <a:moveTo>
                  <a:pt x="127000" y="2126853"/>
                </a:moveTo>
                <a:lnTo>
                  <a:pt x="127000" y="2126853"/>
                </a:lnTo>
                <a:arcTo hR="127000" wR="127000" stAng="5400000" swAng="5400000"/>
                <a:lnTo>
                  <a:pt x="0" y="127000"/>
                </a:lnTo>
                <a:arcTo hR="127000" wR="127000" stAng="10800000" swAng="5400000"/>
                <a:lnTo>
                  <a:pt x="7010400" y="0"/>
                </a:lnTo>
                <a:arcTo hR="127000" wR="127000" stAng="16200000" swAng="5400000"/>
                <a:lnTo>
                  <a:pt x="7137400" y="127000"/>
                </a:lnTo>
                <a:arcTo hR="114300" wR="127000" stAng="0" swAng="-5400000"/>
                <a:lnTo>
                  <a:pt x="127000" y="12700"/>
                </a:lnTo>
                <a:arcTo hR="114300" wR="114300" stAng="16200000" swAng="-5400000"/>
                <a:lnTo>
                  <a:pt x="12700" y="1999853"/>
                </a:lnTo>
                <a:arcTo hR="127000" wR="114300" stAng="10800000" swAng="-5400000"/>
                <a:close/>
              </a:path>
            </a:pathLst>
          </a:custGeom>
          <a:solidFill>
            <a:srgbClr val="141413">
              <a:alpha val="22000"/>
            </a:srgbClr>
          </a:solidFill>
          <a:ln/>
        </p:spPr>
        <p:txBody>
          <a:bodyPr/>
          <a:p/>
        </p:txBody>
      </p:sp>
      <p:sp>
        <p:nvSpPr>
          <p:cNvPr id="7" name="Shape 5"/>
          <p:cNvSpPr/>
          <p:nvPr/>
        </p:nvSpPr>
        <p:spPr>
          <a:xfrm>
            <a:off x="825500" y="1841401"/>
            <a:ext cx="7118350" cy="420624"/>
          </a:xfrm>
          <a:custGeom>
            <a:avLst/>
            <a:gdLst/>
            <a:ahLst/>
            <a:cxnLst/>
            <a:rect l="l" t="t" r="r" b="b"/>
            <a:pathLst>
              <a:path w="7118350" h="713581">
                <a:moveTo>
                  <a:pt x="0" y="114300"/>
                </a:moveTo>
                <a:arcTo hR="114300" wR="114300" stAng="10800000" swAng="5400000"/>
                <a:lnTo>
                  <a:pt x="6997700" y="0"/>
                </a:lnTo>
                <a:arcTo hR="120650" wR="120650" stAng="16200000" swAng="5400000"/>
                <a:lnTo>
                  <a:pt x="7118350" y="713581"/>
                </a:lnTo>
                <a:lnTo>
                  <a:pt x="0" y="713581"/>
                </a:lnTo>
                <a:close/>
              </a:path>
            </a:pathLst>
          </a:custGeom>
          <a:solidFill>
            <a:srgbClr val="E9E8E4"/>
          </a:solidFill>
          <a:ln/>
        </p:spPr>
        <p:txBody>
          <a:bodyPr/>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841401"/>
          <a:ext cx="7118350" cy="1572768"/>
        </p:xfrm>
        <a:graphic>
          <a:graphicData uri="http://schemas.openxmlformats.org/drawingml/2006/table">
            <a:tbl>
              <a:tblPr/>
              <a:tblGrid>
                <a:gridCol w="854202"/>
                <a:gridCol w="1566037"/>
                <a:gridCol w="1566037"/>
                <a:gridCol w="1566037"/>
                <a:gridCol w="1566037"/>
              </a:tblGrid>
              <a:tr h="420624">
                <a:tc>
                  <a:txBody>
                    <a:bodyPr/>
                    <a:lstStyle/>
                    <a:p>
                      <a:pPr indent="0" marL="0">
                        <a:lnSpc>
                          <a:spcPts val="1960"/>
                        </a:lnSpc>
                        <a:buNone/>
                      </a:pPr>
                      <a:r>
                        <a:rPr lang="en-US" sz="1400" b="1" dirty="0">
                          <a:solidFill>
                            <a:srgbClr val="545A66"/>
                          </a:solidFill>
                          <a:latin typeface="JetBrains Mono" pitchFamily="49" charset="0"/>
                          <a:ea typeface="JetBrains Mono" pitchFamily="49" charset="-122"/>
                          <a:cs typeface="JetBrains Mono" pitchFamily="49" charset="-120"/>
                        </a:rPr>
                        <a:t>w</a:t>
                      </a:r>
                      <a:endParaRPr lang="en-US" sz="1400" dirty="0">
                        <a:latin typeface="JetBrains Mono" charset="0"/>
                        <a:ea typeface="JetBrains Mono" charset="0"/>
                        <a:cs typeface="JetBrains Mono" charset="0"/>
                      </a:endParaRPr>
                    </a:p>
                  </a:txBody>
                  <a:tcPr marL="152400" marR="152400" marT="101600" marB="101600" anchor="t">
                    <a:lnL w="0" cap="flat" cmpd="sng" algn="ctr">
                      <a:noFill/>
                    </a:lnL>
                    <a:lnR w="12700" cap="flat" cmpd="sng" algn="ctr">
                      <a:solidFill>
                        <a:srgbClr val="BAB9B6"/>
                      </a:solidFill>
                      <a:prstDash val="solid"/>
                      <a:round/>
                      <a:headEnd type="none" w="med" len="med"/>
                      <a:tailEnd type="none" w="med" len="med"/>
                    </a:lnR>
                    <a:lnT w="0" cap="flat" cmpd="sng" algn="ctr">
                      <a:noFill/>
                    </a:lnT>
                    <a:lnB w="12700" cap="flat" cmpd="sng" algn="ctr">
                      <a:solidFill>
                        <a:srgbClr val="BAB9B6"/>
                      </a:solidFill>
                      <a:prstDash val="solid"/>
                      <a:round/>
                      <a:headEnd type="none" w="med" len="med"/>
                      <a:tailEnd type="none" w="med" len="med"/>
                    </a:lnB>
                  </a:tcPr>
                </a:tc>
                <a:tc>
                  <a:txBody>
                    <a:bodyPr/>
                    <a:lstStyle/>
                    <a:p>
                      <a:pPr algn="r" indent="0" marL="0">
                        <a:lnSpc>
                          <a:spcPts val="1960"/>
                        </a:lnSpc>
                        <a:buNone/>
                      </a:pPr>
                      <a:r>
                        <a:rPr lang="en-US" sz="1400" b="1" dirty="0">
                          <a:solidFill>
                            <a:srgbClr val="545A66"/>
                          </a:solidFill>
                          <a:latin typeface="JetBrains Mono" pitchFamily="49" charset="0"/>
                          <a:ea typeface="JetBrains Mono" pitchFamily="49" charset="-122"/>
                          <a:cs typeface="JetBrains Mono" pitchFamily="49" charset="-120"/>
                        </a:rPr>
                        <a:t>ŷ = w · 2</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0" cap="flat" cmpd="sng" algn="ctr">
                      <a:noFill/>
                    </a:lnT>
                    <a:lnB w="12700" cap="flat" cmpd="sng" algn="ctr">
                      <a:solidFill>
                        <a:srgbClr val="BAB9B6"/>
                      </a:solidFill>
                      <a:prstDash val="solid"/>
                      <a:round/>
                      <a:headEnd type="none" w="med" len="med"/>
                      <a:tailEnd type="none" w="med" len="med"/>
                    </a:lnB>
                  </a:tcPr>
                </a:tc>
                <a:tc>
                  <a:txBody>
                    <a:bodyPr/>
                    <a:lstStyle/>
                    <a:p>
                      <a:pPr algn="r" indent="0" marL="0">
                        <a:lnSpc>
                          <a:spcPts val="1960"/>
                        </a:lnSpc>
                        <a:buNone/>
                      </a:pPr>
                      <a:r>
                        <a:rPr lang="en-US" sz="1400" b="1" dirty="0">
                          <a:solidFill>
                            <a:srgbClr val="545A66"/>
                          </a:solidFill>
                          <a:latin typeface="JetBrains Mono" pitchFamily="49" charset="0"/>
                          <a:ea typeface="JetBrains Mono" pitchFamily="49" charset="-122"/>
                          <a:cs typeface="JetBrains Mono" pitchFamily="49" charset="-120"/>
                        </a:rPr>
                        <a:t>Error ŷ − 6</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0" cap="flat" cmpd="sng" algn="ctr">
                      <a:noFill/>
                    </a:lnT>
                    <a:lnB w="12700" cap="flat" cmpd="sng" algn="ctr">
                      <a:solidFill>
                        <a:srgbClr val="BAB9B6"/>
                      </a:solidFill>
                      <a:prstDash val="solid"/>
                      <a:round/>
                      <a:headEnd type="none" w="med" len="med"/>
                      <a:tailEnd type="none" w="med" len="med"/>
                    </a:lnB>
                  </a:tcPr>
                </a:tc>
                <a:tc>
                  <a:txBody>
                    <a:bodyPr/>
                    <a:lstStyle/>
                    <a:p>
                      <a:pPr algn="r" indent="0" marL="0">
                        <a:lnSpc>
                          <a:spcPts val="1960"/>
                        </a:lnSpc>
                        <a:buNone/>
                      </a:pPr>
                      <a:r>
                        <a:rPr lang="en-US" sz="1400" b="1" dirty="0">
                          <a:solidFill>
                            <a:srgbClr val="545A66"/>
                          </a:solidFill>
                          <a:latin typeface="JetBrains Mono" pitchFamily="49" charset="0"/>
                          <a:ea typeface="JetBrains Mono" pitchFamily="49" charset="-122"/>
                          <a:cs typeface="JetBrains Mono" pitchFamily="49" charset="-120"/>
                        </a:rPr>
                        <a:t>Loss</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0" cap="flat" cmpd="sng" algn="ctr">
                      <a:noFill/>
                    </a:lnT>
                    <a:lnB w="12700" cap="flat" cmpd="sng" algn="ctr">
                      <a:solidFill>
                        <a:srgbClr val="BAB9B6"/>
                      </a:solidFill>
                      <a:prstDash val="solid"/>
                      <a:round/>
                      <a:headEnd type="none" w="med" len="med"/>
                      <a:tailEnd type="none" w="med" len="med"/>
                    </a:lnB>
                  </a:tcPr>
                </a:tc>
                <a:tc>
                  <a:txBody>
                    <a:bodyPr/>
                    <a:lstStyle/>
                    <a:p>
                      <a:pPr algn="r" indent="0" marL="0">
                        <a:lnSpc>
                          <a:spcPts val="1960"/>
                        </a:lnSpc>
                        <a:buNone/>
                      </a:pPr>
                      <a:r>
                        <a:rPr lang="en-US" sz="1400" b="1" dirty="0">
                          <a:solidFill>
                            <a:srgbClr val="C2410C"/>
                          </a:solidFill>
                          <a:latin typeface="JetBrains Mono" pitchFamily="49" charset="0"/>
                          <a:ea typeface="JetBrains Mono" pitchFamily="49" charset="-122"/>
                          <a:cs typeface="JetBrains Mono" pitchFamily="49" charset="-120"/>
                        </a:rPr>
                        <a:t>Slope</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0" cap="flat" cmpd="sng" algn="ctr">
                      <a:noFill/>
                    </a:lnT>
                    <a:lnB w="12700" cap="flat" cmpd="sng" algn="ctr">
                      <a:solidFill>
                        <a:srgbClr val="BAB9B6"/>
                      </a:solidFill>
                      <a:prstDash val="solid"/>
                      <a:round/>
                      <a:headEnd type="none" w="med" len="med"/>
                      <a:tailEnd type="none" w="med" len="med"/>
                    </a:lnB>
                  </a:tcPr>
                </a:tc>
              </a:tr>
              <a:tr h="384048">
                <a:tc>
                  <a:txBody>
                    <a:bodyPr/>
                    <a:lstStyle/>
                    <a:p>
                      <a:pPr indent="0" marL="0">
                        <a:lnSpc>
                          <a:spcPts val="1960"/>
                        </a:lnSpc>
                        <a:buNone/>
                      </a:pPr>
                      <a:r>
                        <a:rPr lang="en-US" sz="1400" dirty="0">
                          <a:solidFill>
                            <a:srgbClr val="16181D"/>
                          </a:solidFill>
                          <a:latin typeface="JetBrains Mono" pitchFamily="49" charset="0"/>
                          <a:ea typeface="JetBrains Mono" pitchFamily="49" charset="-122"/>
                          <a:cs typeface="JetBrains Mono" pitchFamily="49" charset="-120"/>
                        </a:rPr>
                        <a:t>1.00</a:t>
                      </a:r>
                      <a:endParaRPr lang="en-US" sz="1400" dirty="0">
                        <a:latin typeface="JetBrains Mono" charset="0"/>
                        <a:ea typeface="JetBrains Mono" charset="0"/>
                        <a:cs typeface="JetBrains Mono" charset="0"/>
                      </a:endParaRPr>
                    </a:p>
                  </a:txBody>
                  <a:tcPr marL="152400" marR="152400" marT="101600" marB="1016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960"/>
                        </a:lnSpc>
                        <a:buNone/>
                      </a:pPr>
                      <a:r>
                        <a:rPr lang="en-US" sz="1400" dirty="0">
                          <a:solidFill>
                            <a:srgbClr val="16181D"/>
                          </a:solidFill>
                          <a:latin typeface="JetBrains Mono" pitchFamily="49" charset="0"/>
                          <a:ea typeface="JetBrains Mono" pitchFamily="49" charset="-122"/>
                          <a:cs typeface="JetBrains Mono" pitchFamily="49" charset="-120"/>
                        </a:rPr>
                        <a:t>2.00</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960"/>
                        </a:lnSpc>
                        <a:buNone/>
                      </a:pPr>
                      <a:r>
                        <a:rPr lang="en-US" sz="1400" dirty="0">
                          <a:solidFill>
                            <a:srgbClr val="16181D"/>
                          </a:solidFill>
                          <a:latin typeface="JetBrains Mono" pitchFamily="49" charset="0"/>
                          <a:ea typeface="JetBrains Mono" pitchFamily="49" charset="-122"/>
                          <a:cs typeface="JetBrains Mono" pitchFamily="49" charset="-120"/>
                        </a:rPr>
                        <a:t>−4.00</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960"/>
                        </a:lnSpc>
                        <a:buNone/>
                      </a:pPr>
                      <a:r>
                        <a:rPr lang="en-US" sz="1400" dirty="0">
                          <a:solidFill>
                            <a:srgbClr val="16181D"/>
                          </a:solidFill>
                          <a:latin typeface="JetBrains Mono" pitchFamily="49" charset="0"/>
                          <a:ea typeface="JetBrains Mono" pitchFamily="49" charset="-122"/>
                          <a:cs typeface="JetBrains Mono" pitchFamily="49" charset="-120"/>
                        </a:rPr>
                        <a:t>16.00</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960"/>
                        </a:lnSpc>
                        <a:buNone/>
                      </a:pPr>
                      <a:r>
                        <a:rPr lang="en-US" sz="1400" dirty="0">
                          <a:solidFill>
                            <a:srgbClr val="C2410C"/>
                          </a:solidFill>
                          <a:latin typeface="JetBrains Mono" pitchFamily="49" charset="0"/>
                          <a:ea typeface="JetBrains Mono" pitchFamily="49" charset="-122"/>
                          <a:cs typeface="JetBrains Mono" pitchFamily="49" charset="-120"/>
                        </a:rPr>
                        <a:t>−16.0</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84048">
                <a:tc>
                  <a:txBody>
                    <a:bodyPr/>
                    <a:lstStyle/>
                    <a:p>
                      <a:pPr indent="0" marL="0">
                        <a:lnSpc>
                          <a:spcPts val="1960"/>
                        </a:lnSpc>
                        <a:buNone/>
                      </a:pPr>
                      <a:r>
                        <a:rPr lang="en-US" sz="1400" dirty="0">
                          <a:solidFill>
                            <a:srgbClr val="16181D"/>
                          </a:solidFill>
                          <a:latin typeface="JetBrains Mono" pitchFamily="49" charset="0"/>
                          <a:ea typeface="JetBrains Mono" pitchFamily="49" charset="-122"/>
                          <a:cs typeface="JetBrains Mono" pitchFamily="49" charset="-120"/>
                        </a:rPr>
                        <a:t>1.80</a:t>
                      </a:r>
                      <a:endParaRPr lang="en-US" sz="1400" dirty="0">
                        <a:latin typeface="JetBrains Mono" charset="0"/>
                        <a:ea typeface="JetBrains Mono" charset="0"/>
                        <a:cs typeface="JetBrains Mono" charset="0"/>
                      </a:endParaRPr>
                    </a:p>
                  </a:txBody>
                  <a:tcPr marL="152400" marR="152400" marT="101600" marB="1016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960"/>
                        </a:lnSpc>
                        <a:buNone/>
                      </a:pPr>
                      <a:r>
                        <a:rPr lang="en-US" sz="1400" dirty="0">
                          <a:solidFill>
                            <a:srgbClr val="16181D"/>
                          </a:solidFill>
                          <a:latin typeface="JetBrains Mono" pitchFamily="49" charset="0"/>
                          <a:ea typeface="JetBrains Mono" pitchFamily="49" charset="-122"/>
                          <a:cs typeface="JetBrains Mono" pitchFamily="49" charset="-120"/>
                        </a:rPr>
                        <a:t>3.60</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960"/>
                        </a:lnSpc>
                        <a:buNone/>
                      </a:pPr>
                      <a:r>
                        <a:rPr lang="en-US" sz="1400" dirty="0">
                          <a:solidFill>
                            <a:srgbClr val="16181D"/>
                          </a:solidFill>
                          <a:latin typeface="JetBrains Mono" pitchFamily="49" charset="0"/>
                          <a:ea typeface="JetBrains Mono" pitchFamily="49" charset="-122"/>
                          <a:cs typeface="JetBrains Mono" pitchFamily="49" charset="-120"/>
                        </a:rPr>
                        <a:t>−2.40</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960"/>
                        </a:lnSpc>
                        <a:buNone/>
                      </a:pPr>
                      <a:r>
                        <a:rPr lang="en-US" sz="1400" dirty="0">
                          <a:solidFill>
                            <a:srgbClr val="16181D"/>
                          </a:solidFill>
                          <a:latin typeface="JetBrains Mono" pitchFamily="49" charset="0"/>
                          <a:ea typeface="JetBrains Mono" pitchFamily="49" charset="-122"/>
                          <a:cs typeface="JetBrains Mono" pitchFamily="49" charset="-120"/>
                        </a:rPr>
                        <a:t>5.76</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960"/>
                        </a:lnSpc>
                        <a:buNone/>
                      </a:pPr>
                      <a:r>
                        <a:rPr lang="en-US" sz="1400" dirty="0">
                          <a:solidFill>
                            <a:srgbClr val="C2410C"/>
                          </a:solidFill>
                          <a:latin typeface="JetBrains Mono" pitchFamily="49" charset="0"/>
                          <a:ea typeface="JetBrains Mono" pitchFamily="49" charset="-122"/>
                          <a:cs typeface="JetBrains Mono" pitchFamily="49" charset="-120"/>
                        </a:rPr>
                        <a:t>−9.6</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384048">
                <a:tc>
                  <a:txBody>
                    <a:bodyPr/>
                    <a:lstStyle/>
                    <a:p>
                      <a:pPr indent="0" marL="0">
                        <a:lnSpc>
                          <a:spcPts val="1960"/>
                        </a:lnSpc>
                        <a:buNone/>
                      </a:pPr>
                      <a:r>
                        <a:rPr lang="en-US" sz="1400" dirty="0">
                          <a:solidFill>
                            <a:srgbClr val="16181D"/>
                          </a:solidFill>
                          <a:latin typeface="JetBrains Mono" pitchFamily="49" charset="0"/>
                          <a:ea typeface="JetBrains Mono" pitchFamily="49" charset="-122"/>
                          <a:cs typeface="JetBrains Mono" pitchFamily="49" charset="-120"/>
                        </a:rPr>
                        <a:t>2.28</a:t>
                      </a:r>
                      <a:endParaRPr lang="en-US" sz="1400" dirty="0">
                        <a:latin typeface="JetBrains Mono" charset="0"/>
                        <a:ea typeface="JetBrains Mono" charset="0"/>
                        <a:cs typeface="JetBrains Mono" charset="0"/>
                      </a:endParaRPr>
                    </a:p>
                  </a:txBody>
                  <a:tcPr marL="152400" marR="152400" marT="101600" marB="1016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960"/>
                        </a:lnSpc>
                        <a:buNone/>
                      </a:pPr>
                      <a:r>
                        <a:rPr lang="en-US" sz="1400" dirty="0">
                          <a:solidFill>
                            <a:srgbClr val="16181D"/>
                          </a:solidFill>
                          <a:latin typeface="JetBrains Mono" pitchFamily="49" charset="0"/>
                          <a:ea typeface="JetBrains Mono" pitchFamily="49" charset="-122"/>
                          <a:cs typeface="JetBrains Mono" pitchFamily="49" charset="-120"/>
                        </a:rPr>
                        <a:t>4.56</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960"/>
                        </a:lnSpc>
                        <a:buNone/>
                      </a:pPr>
                      <a:r>
                        <a:rPr lang="en-US" sz="1400" dirty="0">
                          <a:solidFill>
                            <a:srgbClr val="16181D"/>
                          </a:solidFill>
                          <a:latin typeface="JetBrains Mono" pitchFamily="49" charset="0"/>
                          <a:ea typeface="JetBrains Mono" pitchFamily="49" charset="-122"/>
                          <a:cs typeface="JetBrains Mono" pitchFamily="49" charset="-120"/>
                        </a:rPr>
                        <a:t>−1.44</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960"/>
                        </a:lnSpc>
                        <a:buNone/>
                      </a:pPr>
                      <a:r>
                        <a:rPr lang="en-US" sz="1400" dirty="0">
                          <a:solidFill>
                            <a:srgbClr val="16181D"/>
                          </a:solidFill>
                          <a:latin typeface="JetBrains Mono" pitchFamily="49" charset="0"/>
                          <a:ea typeface="JetBrains Mono" pitchFamily="49" charset="-122"/>
                          <a:cs typeface="JetBrains Mono" pitchFamily="49" charset="-120"/>
                        </a:rPr>
                        <a:t>2.07</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algn="r" indent="0" marL="0">
                        <a:lnSpc>
                          <a:spcPts val="1960"/>
                        </a:lnSpc>
                        <a:buNone/>
                      </a:pPr>
                      <a:r>
                        <a:rPr lang="en-US" sz="1400" dirty="0">
                          <a:solidFill>
                            <a:srgbClr val="C2410C"/>
                          </a:solidFill>
                          <a:latin typeface="JetBrains Mono" pitchFamily="49" charset="0"/>
                          <a:ea typeface="JetBrains Mono" pitchFamily="49" charset="-122"/>
                          <a:cs typeface="JetBrains Mono" pitchFamily="49" charset="-120"/>
                        </a:rPr>
                        <a:t>−5.8</a:t>
                      </a:r>
                      <a:endParaRPr lang="en-US" sz="1400" dirty="0">
                        <a:latin typeface="JetBrains Mono" charset="0"/>
                        <a:ea typeface="JetBrains Mono" charset="0"/>
                        <a:cs typeface="JetBrains Mono" charset="0"/>
                      </a:endParaRPr>
                    </a:p>
                  </a:txBody>
                  <a:tcPr marL="152400" marR="152400" marT="101600" marB="1016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C8C7C4"/>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bl>
          </a:graphicData>
        </a:graphic>
      </p:graphicFrame>
      <p:sp>
        <p:nvSpPr>
          <p:cNvPr id="9" name="Shape 6"/>
          <p:cNvSpPr/>
          <p:nvPr/>
        </p:nvSpPr>
        <p:spPr>
          <a:xfrm>
            <a:off x="812800" y="3840480"/>
            <a:ext cx="7137400" cy="2212848"/>
          </a:xfrm>
          <a:prstGeom prst="roundRect">
            <a:avLst>
              <a:gd name="adj" fmla="val 11473"/>
            </a:avLst>
          </a:prstGeom>
          <a:solidFill>
            <a:srgbClr val="16181D"/>
          </a:solidFill>
          <a:ln/>
        </p:spPr>
        <p:txBody>
          <a:bodyPr/>
          <a:p/>
        </p:txBody>
      </p:sp>
      <p:sp>
        <p:nvSpPr>
          <p:cNvPr id="10" name="Text 7"/>
          <p:cNvSpPr/>
          <p:nvPr/>
        </p:nvSpPr>
        <p:spPr>
          <a:xfrm>
            <a:off x="1066800" y="3986784"/>
            <a:ext cx="6828282" cy="238720"/>
          </a:xfrm>
          <a:prstGeom prst="rect">
            <a:avLst/>
          </a:prstGeom>
          <a:noFill/>
          <a:ln/>
        </p:spPr>
        <p:txBody>
          <a:bodyPr wrap="square" lIns="0" tIns="0" rIns="0" bIns="0" rtlCol="0" anchor="t"/>
          <a:lstStyle/>
          <a:p>
            <a:pPr algn="l" indent="0" marL="0">
              <a:lnSpc>
                <a:spcPts val="1680"/>
              </a:lnSpc>
              <a:buNone/>
            </a:pPr>
            <a:r>
              <a:rPr lang="en-US" sz="1200" spc="150" kern="0" dirty="0">
                <a:solidFill>
                  <a:srgbClr val="FF7A45"/>
                </a:solidFill>
                <a:latin typeface="JetBrains Mono" pitchFamily="49" charset="0"/>
                <a:ea typeface="JetBrains Mono" pitchFamily="49" charset="-122"/>
                <a:cs typeface="JetBrains Mono" pitchFamily="49" charset="-120"/>
              </a:rPr>
              <a:t>INPUT x = 2 · TARGET y = 6 · LEARNING RATE η = 0.05</a:t>
            </a:r>
            <a:endParaRPr lang="en-US" sz="1200" dirty="0"/>
          </a:p>
        </p:txBody>
      </p:sp>
      <p:sp>
        <p:nvSpPr>
          <p:cNvPr id="11" name="Text 8"/>
          <p:cNvSpPr/>
          <p:nvPr/>
        </p:nvSpPr>
        <p:spPr>
          <a:xfrm>
            <a:off x="1066800" y="4919472"/>
            <a:ext cx="682828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E4"/>
                </a:solidFill>
                <a:latin typeface="JetBrains Mono" pitchFamily="49" charset="0"/>
                <a:ea typeface="JetBrains Mono" pitchFamily="49" charset="-122"/>
                <a:cs typeface="JetBrains Mono" pitchFamily="49" charset="-120"/>
              </a:rPr>
              <a:t>slope = 2 · (ŷ − y) · x = 2 · (−4) · 2 = −16</a:t>
            </a:r>
            <a:endParaRPr lang="en-US" sz="1500" dirty="0"/>
          </a:p>
        </p:txBody>
      </p:sp>
      <p:sp>
        <p:nvSpPr>
          <p:cNvPr id="882" name="L3"/>
          <p:cNvSpPr/>
          <p:nvPr/>
        </p:nvSpPr>
        <p:spPr>
          <a:xfrm>
            <a:off x="1066800" y="5230368"/>
            <a:ext cx="682828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F7A45"/>
                </a:solidFill>
                <a:latin typeface="JetBrains Mono" pitchFamily="49" charset="0"/>
                <a:ea typeface="JetBrains Mono" pitchFamily="49" charset="-122"/>
                <a:cs typeface="JetBrains Mono" pitchFamily="49" charset="-120"/>
              </a:rPr>
              <a:t>next w = w − η · slope = 1 − 0.05 · (−16) = 1.80</a:t>
            </a:r>
            <a:endParaRPr lang="en-US" sz="1500" dirty="0"/>
          </a:p>
        </p:txBody>
      </p:sp>
      <p:sp>
        <p:nvSpPr>
          <p:cNvPr id="882" name="L2"/>
          <p:cNvSpPr/>
          <p:nvPr/>
        </p:nvSpPr>
        <p:spPr>
          <a:xfrm>
            <a:off x="1066800" y="4608576"/>
            <a:ext cx="682828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8A92A3"/>
                </a:solidFill>
                <a:latin typeface="JetBrains Mono" pitchFamily="49" charset="0"/>
                <a:ea typeface="JetBrains Mono" pitchFamily="49" charset="-122"/>
                <a:cs typeface="JetBrains Mono" pitchFamily="49" charset="-120"/>
              </a:rPr>
              <a:t>outer 2 · (ŷ − y)  ×  inner d(w·x − y)/dw = x</a:t>
            </a:r>
            <a:endParaRPr lang="en-US" sz="1500" dirty="0"/>
          </a:p>
        </p:txBody>
      </p:sp>
      <p:sp>
        <p:nvSpPr>
          <p:cNvPr id="882" name="L1"/>
          <p:cNvSpPr/>
          <p:nvPr/>
        </p:nvSpPr>
        <p:spPr>
          <a:xfrm>
            <a:off x="1066800" y="4297680"/>
            <a:ext cx="682828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8A92A3"/>
                </a:solidFill>
                <a:latin typeface="JetBrains Mono" pitchFamily="49" charset="0"/>
                <a:ea typeface="JetBrains Mono" pitchFamily="49" charset="-122"/>
                <a:cs typeface="JetBrains Mono" pitchFamily="49" charset="-120"/>
              </a:rPr>
              <a:t>loss  = (ŷ − y)² = (w · x − y)²</a:t>
            </a:r>
            <a:endParaRPr lang="en-US" sz="1500" dirty="0"/>
          </a:p>
        </p:txBody>
      </p:sp>
      <p:sp>
        <p:nvSpPr>
          <p:cNvPr id="12" name="Text 9"/>
          <p:cNvSpPr/>
          <p:nvPr/>
        </p:nvSpPr>
        <p:spPr>
          <a:xfrm>
            <a:off x="1066800" y="5605272"/>
            <a:ext cx="68282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8B4"/>
                </a:solidFill>
                <a:latin typeface="IBM Plex Sans" pitchFamily="34" charset="0"/>
                <a:ea typeface="IBM Plex Sans" pitchFamily="34" charset="-122"/>
                <a:cs typeface="IBM Plex Sans" pitchFamily="34" charset="-120"/>
              </a:rPr>
              <a:t>Chain rule: outer derivative × inner derivative. For the bias b the inner derivative is 1, so: 2 · (ŷ − y).</a:t>
            </a:r>
            <a:endParaRPr lang="en-US" sz="1200" dirty="0"/>
          </a:p>
        </p:txBody>
      </p:sp>
      <p:sp>
        <p:nvSpPr>
          <p:cNvPr id="13" name="Shape 10"/>
          <p:cNvSpPr/>
          <p:nvPr/>
        </p:nvSpPr>
        <p:spPr>
          <a:xfrm>
            <a:off x="8207375" y="1831876"/>
            <a:ext cx="3168650" cy="1331416"/>
          </a:xfrm>
          <a:prstGeom prst="roundRect">
            <a:avLst>
              <a:gd name="adj" fmla="val 9300"/>
            </a:avLst>
          </a:prstGeom>
          <a:solidFill>
            <a:srgbClr val="FBFAF6"/>
          </a:solidFill>
          <a:ln w="6350">
            <a:solidFill>
              <a:srgbClr val="E0DACB"/>
            </a:solidFill>
            <a:prstDash val="solid"/>
          </a:ln>
        </p:spPr>
        <p:txBody>
          <a:bodyPr/>
          <a:p/>
        </p:txBody>
      </p:sp>
      <p:sp>
        <p:nvSpPr>
          <p:cNvPr id="14" name="Text 11"/>
          <p:cNvSpPr/>
          <p:nvPr/>
        </p:nvSpPr>
        <p:spPr>
          <a:xfrm>
            <a:off x="8388350" y="2012851"/>
            <a:ext cx="289090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81D"/>
                </a:solidFill>
                <a:latin typeface="Space Grotesk" pitchFamily="34" charset="0"/>
                <a:ea typeface="Space Grotesk" pitchFamily="34" charset="-122"/>
                <a:cs typeface="Space Grotesk" pitchFamily="34" charset="-120"/>
              </a:rPr>
              <a:t>Sign = direction</a:t>
            </a:r>
            <a:endParaRPr lang="en-US" sz="1500" dirty="0"/>
          </a:p>
        </p:txBody>
      </p:sp>
      <p:sp>
        <p:nvSpPr>
          <p:cNvPr id="15" name="Text 12"/>
          <p:cNvSpPr/>
          <p:nvPr/>
        </p:nvSpPr>
        <p:spPr>
          <a:xfrm>
            <a:off x="8388350" y="2279551"/>
            <a:ext cx="289090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−16: the loss falls when w grows, so w goes up.</a:t>
            </a:r>
            <a:endParaRPr lang="en-US" sz="1200" dirty="0"/>
          </a:p>
        </p:txBody>
      </p:sp>
      <p:sp>
        <p:nvSpPr>
          <p:cNvPr id="16" name="Shape 13"/>
          <p:cNvSpPr/>
          <p:nvPr/>
        </p:nvSpPr>
        <p:spPr>
          <a:xfrm>
            <a:off x="8207375" y="3271242"/>
            <a:ext cx="3168650" cy="1331416"/>
          </a:xfrm>
          <a:prstGeom prst="roundRect">
            <a:avLst>
              <a:gd name="adj" fmla="val 9300"/>
            </a:avLst>
          </a:prstGeom>
          <a:solidFill>
            <a:srgbClr val="FBFAF6"/>
          </a:solidFill>
          <a:ln w="6350">
            <a:solidFill>
              <a:srgbClr val="E0DACB"/>
            </a:solidFill>
            <a:prstDash val="solid"/>
          </a:ln>
        </p:spPr>
        <p:txBody>
          <a:bodyPr/>
          <a:p/>
        </p:txBody>
      </p:sp>
      <p:sp>
        <p:nvSpPr>
          <p:cNvPr id="17" name="Text 14"/>
          <p:cNvSpPr/>
          <p:nvPr/>
        </p:nvSpPr>
        <p:spPr>
          <a:xfrm>
            <a:off x="8388350" y="3452217"/>
            <a:ext cx="289090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81D"/>
                </a:solidFill>
                <a:latin typeface="Space Grotesk" pitchFamily="34" charset="0"/>
                <a:ea typeface="Space Grotesk" pitchFamily="34" charset="-122"/>
                <a:cs typeface="Space Grotesk" pitchFamily="34" charset="-120"/>
              </a:rPr>
              <a:t>Size = steepness</a:t>
            </a:r>
            <a:endParaRPr lang="en-US" sz="1500" dirty="0"/>
          </a:p>
        </p:txBody>
      </p:sp>
      <p:sp>
        <p:nvSpPr>
          <p:cNvPr id="18" name="Text 15"/>
          <p:cNvSpPr/>
          <p:nvPr/>
        </p:nvSpPr>
        <p:spPr>
          <a:xfrm>
            <a:off x="8388350" y="3718917"/>
            <a:ext cx="289090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Far from w = 3 it is steep: big step. At w = 3 the slope is 0.</a:t>
            </a:r>
            <a:endParaRPr lang="en-US" sz="1200" dirty="0"/>
          </a:p>
        </p:txBody>
      </p:sp>
      <p:sp>
        <p:nvSpPr>
          <p:cNvPr id="19" name="Shape 16"/>
          <p:cNvSpPr/>
          <p:nvPr/>
        </p:nvSpPr>
        <p:spPr>
          <a:xfrm>
            <a:off x="8207375" y="4710609"/>
            <a:ext cx="3168650" cy="1331416"/>
          </a:xfrm>
          <a:prstGeom prst="roundRect">
            <a:avLst>
              <a:gd name="adj" fmla="val 9300"/>
            </a:avLst>
          </a:prstGeom>
          <a:solidFill>
            <a:srgbClr val="FBFAF6"/>
          </a:solidFill>
          <a:ln w="6350">
            <a:solidFill>
              <a:srgbClr val="E0DACB"/>
            </a:solidFill>
            <a:prstDash val="solid"/>
          </a:ln>
        </p:spPr>
        <p:txBody>
          <a:bodyPr/>
          <a:p/>
        </p:txBody>
      </p:sp>
      <p:sp>
        <p:nvSpPr>
          <p:cNvPr id="20" name="Text 17"/>
          <p:cNvSpPr/>
          <p:nvPr/>
        </p:nvSpPr>
        <p:spPr>
          <a:xfrm>
            <a:off x="8388350" y="4891584"/>
            <a:ext cx="289090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81D"/>
                </a:solidFill>
                <a:latin typeface="Space Grotesk" pitchFamily="34" charset="0"/>
                <a:ea typeface="Space Grotesk" pitchFamily="34" charset="-122"/>
                <a:cs typeface="Space Grotesk" pitchFamily="34" charset="-120"/>
              </a:rPr>
              <a:t>Check by nudging</a:t>
            </a:r>
            <a:endParaRPr lang="en-US" sz="1500" dirty="0"/>
          </a:p>
        </p:txBody>
      </p:sp>
      <p:sp>
        <p:nvSpPr>
          <p:cNvPr id="21" name="Text 18"/>
          <p:cNvSpPr/>
          <p:nvPr/>
        </p:nvSpPr>
        <p:spPr>
          <a:xfrm>
            <a:off x="8388350" y="5158284"/>
            <a:ext cx="289090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w = 1.01 gives loss 15.84. (15.84 − 16) / 0.01 ≈ −16.</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8">
    <p:bg>
      <p:bgPr>
        <a:solidFill>
          <a:srgbClr val="F2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2410C"/>
                </a:solidFill>
                <a:latin typeface="JetBrains Mono" pitchFamily="49" charset="0"/>
                <a:ea typeface="JetBrains Mono" pitchFamily="49" charset="-122"/>
                <a:cs typeface="JetBrains Mono" pitchFamily="49" charset="-120"/>
              </a:rPr>
              <a:t>03 · RANDOM FOREST · STEP 1</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181D"/>
                </a:solidFill>
                <a:latin typeface="Space Grotesk" pitchFamily="34" charset="0"/>
                <a:ea typeface="Space Grotesk" pitchFamily="34" charset="-122"/>
                <a:cs typeface="Space Grotesk" pitchFamily="34" charset="-120"/>
              </a:rPr>
              <a:t>First: one decision tree asks questions</a:t>
            </a:r>
            <a:endParaRPr lang="en-US" sz="3200" dirty="0"/>
          </a:p>
        </p:txBody>
      </p:sp>
      <p:sp>
        <p:nvSpPr>
          <p:cNvPr id="601" name="T601"/>
          <p:cNvSpPr/>
          <p:nvPr/>
        </p:nvSpPr>
        <p:spPr>
          <a:xfrm>
            <a:off x="4544568" y="1828800"/>
            <a:ext cx="3108960" cy="868680"/>
          </a:xfrm>
          <a:prstGeom prst="roundRect">
            <a:avLst>
              <a:gd name="adj" fmla="val 11416"/>
            </a:avLst>
          </a:prstGeom>
          <a:solidFill>
            <a:srgbClr val="16181D"/>
          </a:solidFill>
          <a:ln/>
        </p:spPr>
        <p:txBody>
          <a:bodyPr/>
          <a:p/>
        </p:txBody>
      </p:sp>
      <p:sp>
        <p:nvSpPr>
          <p:cNvPr id="602" name="T602"/>
          <p:cNvSpPr/>
          <p:nvPr/>
        </p:nvSpPr>
        <p:spPr>
          <a:xfrm>
            <a:off x="4727448" y="1965960"/>
            <a:ext cx="2788920" cy="27432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7A45"/>
                </a:solidFill>
                <a:latin typeface="JetBrains Mono" pitchFamily="49" charset="0"/>
                <a:ea typeface="JetBrains Mono" pitchFamily="49" charset="-122"/>
                <a:cs typeface="JetBrains Mono" pitchFamily="49" charset="-120"/>
              </a:rPr>
              <a:t>displacement ≤ 198?</a:t>
            </a:r>
            <a:endParaRPr lang="en-US" sz="1500" dirty="0"/>
          </a:p>
        </p:txBody>
      </p:sp>
      <p:sp>
        <p:nvSpPr>
          <p:cNvPr id="603" name="T603"/>
          <p:cNvSpPr/>
          <p:nvPr/>
        </p:nvSpPr>
        <p:spPr>
          <a:xfrm>
            <a:off x="4727448" y="2286000"/>
            <a:ext cx="2788920" cy="36575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3"/>
                </a:solidFill>
                <a:latin typeface="IBM Plex Sans" pitchFamily="34" charset="0"/>
                <a:ea typeface="IBM Plex Sans" pitchFamily="34" charset="-122"/>
                <a:cs typeface="IBM Plex Sans" pitchFamily="34" charset="-120"/>
              </a:rPr>
              <a:t>313 cars · mean 23.6 mpg</a:t>
            </a:r>
            <a:endParaRPr lang="en-US" sz="1200" dirty="0"/>
          </a:p>
        </p:txBody>
      </p:sp>
      <p:sp>
        <p:nvSpPr>
          <p:cNvPr id="604" name="T604"/>
          <p:cNvSpPr/>
          <p:nvPr/>
        </p:nvSpPr>
        <p:spPr>
          <a:xfrm>
            <a:off x="1691640" y="3063240"/>
            <a:ext cx="3017520" cy="868680"/>
          </a:xfrm>
          <a:prstGeom prst="roundRect">
            <a:avLst>
              <a:gd name="adj" fmla="val 11416"/>
            </a:avLst>
          </a:prstGeom>
          <a:solidFill>
            <a:srgbClr val="16181D"/>
          </a:solidFill>
          <a:ln/>
        </p:spPr>
        <p:txBody>
          <a:bodyPr/>
          <a:p/>
        </p:txBody>
      </p:sp>
      <p:sp>
        <p:nvSpPr>
          <p:cNvPr id="605" name="T605"/>
          <p:cNvSpPr/>
          <p:nvPr/>
        </p:nvSpPr>
        <p:spPr>
          <a:xfrm>
            <a:off x="1874520" y="3200400"/>
            <a:ext cx="2697479" cy="27432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7A45"/>
                </a:solidFill>
                <a:latin typeface="JetBrains Mono" pitchFamily="49" charset="0"/>
                <a:ea typeface="JetBrains Mono" pitchFamily="49" charset="-122"/>
                <a:cs typeface="JetBrains Mono" pitchFamily="49" charset="-120"/>
              </a:rPr>
              <a:t>horsepower ≤ 84?</a:t>
            </a:r>
            <a:endParaRPr lang="en-US" sz="1500" dirty="0"/>
          </a:p>
        </p:txBody>
      </p:sp>
      <p:sp>
        <p:nvSpPr>
          <p:cNvPr id="606" name="T606"/>
          <p:cNvSpPr/>
          <p:nvPr/>
        </p:nvSpPr>
        <p:spPr>
          <a:xfrm>
            <a:off x="1874520" y="3520440"/>
            <a:ext cx="2697479" cy="36575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3"/>
                </a:solidFill>
                <a:latin typeface="IBM Plex Sans" pitchFamily="34" charset="0"/>
                <a:ea typeface="IBM Plex Sans" pitchFamily="34" charset="-122"/>
                <a:cs typeface="IBM Plex Sans" pitchFamily="34" charset="-120"/>
              </a:rPr>
              <a:t>176 small engines · 29.0 mpg</a:t>
            </a:r>
            <a:endParaRPr lang="en-US" sz="1200" dirty="0"/>
          </a:p>
        </p:txBody>
      </p:sp>
      <p:sp>
        <p:nvSpPr>
          <p:cNvPr id="607" name="T607"/>
          <p:cNvSpPr/>
          <p:nvPr/>
        </p:nvSpPr>
        <p:spPr>
          <a:xfrm>
            <a:off x="7498079" y="3063240"/>
            <a:ext cx="3017520" cy="868680"/>
          </a:xfrm>
          <a:prstGeom prst="roundRect">
            <a:avLst>
              <a:gd name="adj" fmla="val 11416"/>
            </a:avLst>
          </a:prstGeom>
          <a:solidFill>
            <a:srgbClr val="16181D"/>
          </a:solidFill>
          <a:ln/>
        </p:spPr>
        <p:txBody>
          <a:bodyPr/>
          <a:p/>
        </p:txBody>
      </p:sp>
      <p:sp>
        <p:nvSpPr>
          <p:cNvPr id="608" name="T608"/>
          <p:cNvSpPr/>
          <p:nvPr/>
        </p:nvSpPr>
        <p:spPr>
          <a:xfrm>
            <a:off x="7680959" y="3200400"/>
            <a:ext cx="2697479" cy="27432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7A45"/>
                </a:solidFill>
                <a:latin typeface="JetBrains Mono" pitchFamily="49" charset="0"/>
                <a:ea typeface="JetBrains Mono" pitchFamily="49" charset="-122"/>
                <a:cs typeface="JetBrains Mono" pitchFamily="49" charset="-120"/>
              </a:rPr>
              <a:t>horsepower ≤ 127?</a:t>
            </a:r>
            <a:endParaRPr lang="en-US" sz="1500" dirty="0"/>
          </a:p>
        </p:txBody>
      </p:sp>
      <p:sp>
        <p:nvSpPr>
          <p:cNvPr id="609" name="T609"/>
          <p:cNvSpPr/>
          <p:nvPr/>
        </p:nvSpPr>
        <p:spPr>
          <a:xfrm>
            <a:off x="7680959" y="3520440"/>
            <a:ext cx="2697479" cy="36575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CCD3"/>
                </a:solidFill>
                <a:latin typeface="IBM Plex Sans" pitchFamily="34" charset="0"/>
                <a:ea typeface="IBM Plex Sans" pitchFamily="34" charset="-122"/>
                <a:cs typeface="IBM Plex Sans" pitchFamily="34" charset="-120"/>
              </a:rPr>
              <a:t>137 big engines · 16.7 mpg</a:t>
            </a:r>
            <a:endParaRPr lang="en-US" sz="1200" dirty="0"/>
          </a:p>
        </p:txBody>
      </p:sp>
      <p:sp>
        <p:nvSpPr>
          <p:cNvPr id="610" name="T610"/>
          <p:cNvSpPr/>
          <p:nvPr/>
        </p:nvSpPr>
        <p:spPr>
          <a:xfrm>
            <a:off x="813816" y="4343400"/>
            <a:ext cx="2167128" cy="868680"/>
          </a:xfrm>
          <a:prstGeom prst="roundRect">
            <a:avLst>
              <a:gd name="adj" fmla="val 11068"/>
            </a:avLst>
          </a:prstGeom>
          <a:solidFill>
            <a:srgbClr val="FBFAF6"/>
          </a:solidFill>
          <a:ln w="6350">
            <a:solidFill>
              <a:srgbClr val="E0DACB"/>
            </a:solidFill>
            <a:prstDash val="solid"/>
          </a:ln>
        </p:spPr>
        <p:txBody>
          <a:bodyPr/>
          <a:p/>
        </p:txBody>
      </p:sp>
      <p:sp>
        <p:nvSpPr>
          <p:cNvPr id="611" name="T611"/>
          <p:cNvSpPr/>
          <p:nvPr/>
        </p:nvSpPr>
        <p:spPr>
          <a:xfrm>
            <a:off x="996696" y="4480560"/>
            <a:ext cx="1847088" cy="27432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7A45"/>
                </a:solidFill>
                <a:latin typeface="JetBrains Mono" pitchFamily="49" charset="0"/>
                <a:ea typeface="JetBrains Mono" pitchFamily="49" charset="-122"/>
                <a:cs typeface="JetBrains Mono" pitchFamily="49" charset="-120"/>
              </a:rPr>
              <a:t>32.2 mpg</a:t>
            </a:r>
            <a:endParaRPr lang="en-US" sz="1500" dirty="0"/>
          </a:p>
        </p:txBody>
      </p:sp>
      <p:sp>
        <p:nvSpPr>
          <p:cNvPr id="612" name="T612"/>
          <p:cNvSpPr/>
          <p:nvPr/>
        </p:nvSpPr>
        <p:spPr>
          <a:xfrm>
            <a:off x="996696" y="4800600"/>
            <a:ext cx="1847088" cy="36575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101 cars: small and weak</a:t>
            </a:r>
            <a:endParaRPr lang="en-US" sz="1200" dirty="0"/>
          </a:p>
        </p:txBody>
      </p:sp>
      <p:sp>
        <p:nvSpPr>
          <p:cNvPr id="613" name="T613"/>
          <p:cNvSpPr/>
          <p:nvPr/>
        </p:nvSpPr>
        <p:spPr>
          <a:xfrm>
            <a:off x="3529584" y="4343400"/>
            <a:ext cx="2167128" cy="868680"/>
          </a:xfrm>
          <a:prstGeom prst="roundRect">
            <a:avLst>
              <a:gd name="adj" fmla="val 11068"/>
            </a:avLst>
          </a:prstGeom>
          <a:solidFill>
            <a:srgbClr val="FBFAF6"/>
          </a:solidFill>
          <a:ln w="6350">
            <a:solidFill>
              <a:srgbClr val="E0DACB"/>
            </a:solidFill>
            <a:prstDash val="solid"/>
          </a:ln>
        </p:spPr>
        <p:txBody>
          <a:bodyPr/>
          <a:p/>
        </p:txBody>
      </p:sp>
      <p:sp>
        <p:nvSpPr>
          <p:cNvPr id="614" name="T614"/>
          <p:cNvSpPr/>
          <p:nvPr/>
        </p:nvSpPr>
        <p:spPr>
          <a:xfrm>
            <a:off x="3712463" y="4480560"/>
            <a:ext cx="1847088" cy="27432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7A45"/>
                </a:solidFill>
                <a:latin typeface="JetBrains Mono" pitchFamily="49" charset="0"/>
                <a:ea typeface="JetBrains Mono" pitchFamily="49" charset="-122"/>
                <a:cs typeface="JetBrains Mono" pitchFamily="49" charset="-120"/>
              </a:rPr>
              <a:t>24.6 mpg</a:t>
            </a:r>
            <a:endParaRPr lang="en-US" sz="1500" dirty="0"/>
          </a:p>
        </p:txBody>
      </p:sp>
      <p:sp>
        <p:nvSpPr>
          <p:cNvPr id="615" name="T615"/>
          <p:cNvSpPr/>
          <p:nvPr/>
        </p:nvSpPr>
        <p:spPr>
          <a:xfrm>
            <a:off x="3712463" y="4800600"/>
            <a:ext cx="1847088" cy="36575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75 cars</a:t>
            </a:r>
            <a:endParaRPr lang="en-US" sz="1200" dirty="0"/>
          </a:p>
        </p:txBody>
      </p:sp>
      <p:sp>
        <p:nvSpPr>
          <p:cNvPr id="616" name="T616"/>
          <p:cNvSpPr/>
          <p:nvPr/>
        </p:nvSpPr>
        <p:spPr>
          <a:xfrm>
            <a:off x="6492240" y="4343400"/>
            <a:ext cx="2167128" cy="868680"/>
          </a:xfrm>
          <a:prstGeom prst="roundRect">
            <a:avLst>
              <a:gd name="adj" fmla="val 11068"/>
            </a:avLst>
          </a:prstGeom>
          <a:solidFill>
            <a:srgbClr val="FBFAF6"/>
          </a:solidFill>
          <a:ln w="6350">
            <a:solidFill>
              <a:srgbClr val="E0DACB"/>
            </a:solidFill>
            <a:prstDash val="solid"/>
          </a:ln>
        </p:spPr>
        <p:txBody>
          <a:bodyPr/>
          <a:p/>
        </p:txBody>
      </p:sp>
      <p:sp>
        <p:nvSpPr>
          <p:cNvPr id="617" name="T617"/>
          <p:cNvSpPr/>
          <p:nvPr/>
        </p:nvSpPr>
        <p:spPr>
          <a:xfrm>
            <a:off x="6675120" y="4480560"/>
            <a:ext cx="1847088" cy="27432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7A45"/>
                </a:solidFill>
                <a:latin typeface="JetBrains Mono" pitchFamily="49" charset="0"/>
                <a:ea typeface="JetBrains Mono" pitchFamily="49" charset="-122"/>
                <a:cs typeface="JetBrains Mono" pitchFamily="49" charset="-120"/>
              </a:rPr>
              <a:t>19.4 mpg</a:t>
            </a:r>
            <a:endParaRPr lang="en-US" sz="1500" dirty="0"/>
          </a:p>
        </p:txBody>
      </p:sp>
      <p:sp>
        <p:nvSpPr>
          <p:cNvPr id="618" name="T618"/>
          <p:cNvSpPr/>
          <p:nvPr/>
        </p:nvSpPr>
        <p:spPr>
          <a:xfrm>
            <a:off x="6675120" y="4800600"/>
            <a:ext cx="1847088" cy="36575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59 cars</a:t>
            </a:r>
            <a:endParaRPr lang="en-US" sz="1200" dirty="0"/>
          </a:p>
        </p:txBody>
      </p:sp>
      <p:sp>
        <p:nvSpPr>
          <p:cNvPr id="619" name="T619"/>
          <p:cNvSpPr/>
          <p:nvPr/>
        </p:nvSpPr>
        <p:spPr>
          <a:xfrm>
            <a:off x="9208008" y="4343400"/>
            <a:ext cx="2167128" cy="868680"/>
          </a:xfrm>
          <a:prstGeom prst="roundRect">
            <a:avLst>
              <a:gd name="adj" fmla="val 11068"/>
            </a:avLst>
          </a:prstGeom>
          <a:solidFill>
            <a:srgbClr val="FBFAF6"/>
          </a:solidFill>
          <a:ln w="6350">
            <a:solidFill>
              <a:srgbClr val="E0DACB"/>
            </a:solidFill>
            <a:prstDash val="solid"/>
          </a:ln>
        </p:spPr>
        <p:txBody>
          <a:bodyPr/>
          <a:p/>
        </p:txBody>
      </p:sp>
      <p:sp>
        <p:nvSpPr>
          <p:cNvPr id="620" name="T620"/>
          <p:cNvSpPr/>
          <p:nvPr/>
        </p:nvSpPr>
        <p:spPr>
          <a:xfrm>
            <a:off x="9390888" y="4480560"/>
            <a:ext cx="1847088" cy="27432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7A45"/>
                </a:solidFill>
                <a:latin typeface="JetBrains Mono" pitchFamily="49" charset="0"/>
                <a:ea typeface="JetBrains Mono" pitchFamily="49" charset="-122"/>
                <a:cs typeface="JetBrains Mono" pitchFamily="49" charset="-120"/>
              </a:rPr>
              <a:t>14.6 mpg</a:t>
            </a:r>
            <a:endParaRPr lang="en-US" sz="1500" dirty="0"/>
          </a:p>
        </p:txBody>
      </p:sp>
      <p:sp>
        <p:nvSpPr>
          <p:cNvPr id="621" name="T621"/>
          <p:cNvSpPr/>
          <p:nvPr/>
        </p:nvSpPr>
        <p:spPr>
          <a:xfrm>
            <a:off x="9390888" y="4800600"/>
            <a:ext cx="1847088" cy="36575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78 cars: big V8s</a:t>
            </a:r>
            <a:endParaRPr lang="en-US" sz="1200" dirty="0"/>
          </a:p>
        </p:txBody>
      </p:sp>
      <p:cxnSp>
        <p:nvCxnSpPr>
          <p:cNvPr id="622" name="Connector 621"/>
          <p:cNvCxnSpPr/>
          <p:nvPr/>
        </p:nvCxnSpPr>
        <p:spPr>
          <a:xfrm flipH="1">
            <a:off x="3200400" y="2697480"/>
            <a:ext cx="2103120" cy="365760"/>
          </a:xfrm>
          <a:prstGeom prst="line">
            <a:avLst/>
          </a:prstGeom>
          <a:ln w="22225">
            <a:solidFill>
              <a:srgbClr val="C2410C"/>
            </a:solidFill>
          </a:ln>
        </p:spPr>
        <p:style>
          <a:lnRef idx="2">
            <a:schemeClr val="accent1"/>
          </a:lnRef>
          <a:fillRef idx="0">
            <a:schemeClr val="accent1"/>
          </a:fillRef>
          <a:effectRef idx="1">
            <a:schemeClr val="accent1"/>
          </a:effectRef>
          <a:fontRef idx="minor">
            <a:schemeClr val="tx1"/>
          </a:fontRef>
        </p:style>
      </p:cxnSp>
      <p:sp>
        <p:nvSpPr>
          <p:cNvPr id="622" name="T622"/>
          <p:cNvSpPr/>
          <p:nvPr/>
        </p:nvSpPr>
        <p:spPr>
          <a:xfrm>
            <a:off x="3886200" y="2697480"/>
            <a:ext cx="548640" cy="2286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yes</a:t>
            </a:r>
            <a:endParaRPr lang="en-US" sz="1200" dirty="0"/>
          </a:p>
        </p:txBody>
      </p:sp>
      <p:cxnSp>
        <p:nvCxnSpPr>
          <p:cNvPr id="623" name="Connector 622"/>
          <p:cNvCxnSpPr/>
          <p:nvPr/>
        </p:nvCxnSpPr>
        <p:spPr>
          <a:xfrm>
            <a:off x="6903720" y="2697480"/>
            <a:ext cx="2103120" cy="365760"/>
          </a:xfrm>
          <a:prstGeom prst="line">
            <a:avLst/>
          </a:prstGeom>
          <a:ln w="22225">
            <a:solidFill>
              <a:srgbClr val="C2410C"/>
            </a:solidFill>
          </a:ln>
        </p:spPr>
        <p:style>
          <a:lnRef idx="2">
            <a:schemeClr val="accent1"/>
          </a:lnRef>
          <a:fillRef idx="0">
            <a:schemeClr val="accent1"/>
          </a:fillRef>
          <a:effectRef idx="1">
            <a:schemeClr val="accent1"/>
          </a:effectRef>
          <a:fontRef idx="minor">
            <a:schemeClr val="tx1"/>
          </a:fontRef>
        </p:style>
      </p:cxnSp>
      <p:sp>
        <p:nvSpPr>
          <p:cNvPr id="623" name="T623"/>
          <p:cNvSpPr/>
          <p:nvPr/>
        </p:nvSpPr>
        <p:spPr>
          <a:xfrm>
            <a:off x="8092440" y="2697480"/>
            <a:ext cx="548640" cy="2286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no</a:t>
            </a:r>
            <a:endParaRPr lang="en-US" sz="1200" dirty="0"/>
          </a:p>
        </p:txBody>
      </p:sp>
      <p:cxnSp>
        <p:nvCxnSpPr>
          <p:cNvPr id="624" name="Connector 623"/>
          <p:cNvCxnSpPr/>
          <p:nvPr/>
        </p:nvCxnSpPr>
        <p:spPr>
          <a:xfrm flipH="1">
            <a:off x="1892807" y="3931920"/>
            <a:ext cx="484633" cy="411480"/>
          </a:xfrm>
          <a:prstGeom prst="line">
            <a:avLst/>
          </a:prstGeom>
          <a:ln w="22225">
            <a:solidFill>
              <a:srgbClr val="C2410C"/>
            </a:solidFill>
          </a:ln>
        </p:spPr>
        <p:style>
          <a:lnRef idx="2">
            <a:schemeClr val="accent1"/>
          </a:lnRef>
          <a:fillRef idx="0">
            <a:schemeClr val="accent1"/>
          </a:fillRef>
          <a:effectRef idx="1">
            <a:schemeClr val="accent1"/>
          </a:effectRef>
          <a:fontRef idx="minor">
            <a:schemeClr val="tx1"/>
          </a:fontRef>
        </p:style>
      </p:cxnSp>
      <p:sp>
        <p:nvSpPr>
          <p:cNvPr id="624" name="T624"/>
          <p:cNvSpPr/>
          <p:nvPr/>
        </p:nvSpPr>
        <p:spPr>
          <a:xfrm>
            <a:off x="1600200" y="4005072"/>
            <a:ext cx="548640" cy="2286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yes</a:t>
            </a:r>
            <a:endParaRPr lang="en-US" sz="1200" dirty="0"/>
          </a:p>
        </p:txBody>
      </p:sp>
      <p:cxnSp>
        <p:nvCxnSpPr>
          <p:cNvPr id="625" name="Connector 624"/>
          <p:cNvCxnSpPr/>
          <p:nvPr/>
        </p:nvCxnSpPr>
        <p:spPr>
          <a:xfrm>
            <a:off x="4023360" y="3931920"/>
            <a:ext cx="585216" cy="411480"/>
          </a:xfrm>
          <a:prstGeom prst="line">
            <a:avLst/>
          </a:prstGeom>
          <a:ln w="22225">
            <a:solidFill>
              <a:srgbClr val="C2410C"/>
            </a:solidFill>
          </a:ln>
        </p:spPr>
        <p:style>
          <a:lnRef idx="2">
            <a:schemeClr val="accent1"/>
          </a:lnRef>
          <a:fillRef idx="0">
            <a:schemeClr val="accent1"/>
          </a:fillRef>
          <a:effectRef idx="1">
            <a:schemeClr val="accent1"/>
          </a:effectRef>
          <a:fontRef idx="minor">
            <a:schemeClr val="tx1"/>
          </a:fontRef>
        </p:style>
      </p:cxnSp>
      <p:sp>
        <p:nvSpPr>
          <p:cNvPr id="625" name="T625"/>
          <p:cNvSpPr/>
          <p:nvPr/>
        </p:nvSpPr>
        <p:spPr>
          <a:xfrm>
            <a:off x="4434840" y="4005072"/>
            <a:ext cx="548640" cy="2286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no</a:t>
            </a:r>
            <a:endParaRPr lang="en-US" sz="1200" dirty="0"/>
          </a:p>
        </p:txBody>
      </p:sp>
      <p:cxnSp>
        <p:nvCxnSpPr>
          <p:cNvPr id="626" name="Connector 625"/>
          <p:cNvCxnSpPr/>
          <p:nvPr/>
        </p:nvCxnSpPr>
        <p:spPr>
          <a:xfrm flipH="1">
            <a:off x="7571231" y="3931920"/>
            <a:ext cx="612648" cy="411480"/>
          </a:xfrm>
          <a:prstGeom prst="line">
            <a:avLst/>
          </a:prstGeom>
          <a:ln w="22225">
            <a:solidFill>
              <a:srgbClr val="C2410C"/>
            </a:solidFill>
          </a:ln>
        </p:spPr>
        <p:style>
          <a:lnRef idx="2">
            <a:schemeClr val="accent1"/>
          </a:lnRef>
          <a:fillRef idx="0">
            <a:schemeClr val="accent1"/>
          </a:fillRef>
          <a:effectRef idx="1">
            <a:schemeClr val="accent1"/>
          </a:effectRef>
          <a:fontRef idx="minor">
            <a:schemeClr val="tx1"/>
          </a:fontRef>
        </p:style>
      </p:cxnSp>
      <p:sp>
        <p:nvSpPr>
          <p:cNvPr id="626" name="T626"/>
          <p:cNvSpPr/>
          <p:nvPr/>
        </p:nvSpPr>
        <p:spPr>
          <a:xfrm>
            <a:off x="7269480" y="4005072"/>
            <a:ext cx="548640" cy="2286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yes</a:t>
            </a:r>
            <a:endParaRPr lang="en-US" sz="1200" dirty="0"/>
          </a:p>
        </p:txBody>
      </p:sp>
      <p:cxnSp>
        <p:nvCxnSpPr>
          <p:cNvPr id="627" name="Connector 626"/>
          <p:cNvCxnSpPr/>
          <p:nvPr/>
        </p:nvCxnSpPr>
        <p:spPr>
          <a:xfrm>
            <a:off x="9829800" y="3931920"/>
            <a:ext cx="457200" cy="411480"/>
          </a:xfrm>
          <a:prstGeom prst="line">
            <a:avLst/>
          </a:prstGeom>
          <a:ln w="22225">
            <a:solidFill>
              <a:srgbClr val="C2410C"/>
            </a:solidFill>
          </a:ln>
        </p:spPr>
        <p:style>
          <a:lnRef idx="2">
            <a:schemeClr val="accent1"/>
          </a:lnRef>
          <a:fillRef idx="0">
            <a:schemeClr val="accent1"/>
          </a:fillRef>
          <a:effectRef idx="1">
            <a:schemeClr val="accent1"/>
          </a:effectRef>
          <a:fontRef idx="minor">
            <a:schemeClr val="tx1"/>
          </a:fontRef>
        </p:style>
      </p:cxnSp>
      <p:sp>
        <p:nvSpPr>
          <p:cNvPr id="627" name="T627"/>
          <p:cNvSpPr/>
          <p:nvPr/>
        </p:nvSpPr>
        <p:spPr>
          <a:xfrm>
            <a:off x="10149840" y="4005072"/>
            <a:ext cx="548640" cy="2286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no</a:t>
            </a:r>
            <a:endParaRPr lang="en-US" sz="1200" dirty="0"/>
          </a:p>
        </p:txBody>
      </p:sp>
      <p:sp>
        <p:nvSpPr>
          <p:cNvPr id="628" name="T628"/>
          <p:cNvSpPr/>
          <p:nvPr/>
        </p:nvSpPr>
        <p:spPr>
          <a:xfrm>
            <a:off x="813816" y="5440680"/>
            <a:ext cx="10515600" cy="6400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A new car walks down the tree and gets the mean mpg of its leaf. Training picks each question so that the groups below are as uniform as possible. No gradient descent here.</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19">
    <p:bg>
      <p:bgPr>
        <a:solidFill>
          <a:srgbClr val="F2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2410C"/>
                </a:solidFill>
                <a:latin typeface="JetBrains Mono" pitchFamily="49" charset="0"/>
                <a:ea typeface="JetBrains Mono" pitchFamily="49" charset="-122"/>
                <a:cs typeface="JetBrains Mono" pitchFamily="49" charset="-120"/>
              </a:rPr>
              <a:t>03 · RANDOM FOREST · STEP 2</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181D"/>
                </a:solidFill>
                <a:latin typeface="Space Grotesk" pitchFamily="34" charset="0"/>
                <a:ea typeface="Space Grotesk" pitchFamily="34" charset="-122"/>
                <a:cs typeface="Space Grotesk" pitchFamily="34" charset="-120"/>
              </a:rPr>
              <a:t>Then: 300 different trees, one average</a:t>
            </a:r>
            <a:endParaRPr lang="en-US" sz="3200" dirty="0"/>
          </a:p>
        </p:txBody>
      </p:sp>
      <p:sp>
        <p:nvSpPr>
          <p:cNvPr id="4" name="Shape 2"/>
          <p:cNvSpPr/>
          <p:nvPr/>
        </p:nvSpPr>
        <p:spPr>
          <a:xfrm>
            <a:off x="815975" y="1882676"/>
            <a:ext cx="3380284" cy="4159349"/>
          </a:xfrm>
          <a:prstGeom prst="roundRect">
            <a:avLst>
              <a:gd name="adj" fmla="val 4415"/>
            </a:avLst>
          </a:prstGeom>
          <a:solidFill>
            <a:srgbClr val="FBFAF6"/>
          </a:solidFill>
          <a:ln w="6350">
            <a:solidFill>
              <a:srgbClr val="E0DACB"/>
            </a:solidFill>
            <a:prstDash val="solid"/>
          </a:ln>
        </p:spPr>
        <p:txBody>
          <a:bodyPr/>
          <a:p/>
        </p:txBody>
      </p:sp>
      <p:sp>
        <p:nvSpPr>
          <p:cNvPr id="5" name="Text 3"/>
          <p:cNvSpPr/>
          <p:nvPr/>
        </p:nvSpPr>
        <p:spPr>
          <a:xfrm>
            <a:off x="1073150" y="2139851"/>
            <a:ext cx="1244600" cy="264120"/>
          </a:xfrm>
          <a:custGeom>
            <a:avLst/>
            <a:gdLst/>
            <a:ahLst/>
            <a:cxnLst/>
            <a:rect l="l" t="t" r="r" b="b"/>
            <a:pathLst>
              <a:path w="1244600" h="264120">
                <a:moveTo>
                  <a:pt x="132060" y="0"/>
                </a:moveTo>
                <a:lnTo>
                  <a:pt x="1112540" y="0"/>
                </a:lnTo>
                <a:arcTo hR="132060" wR="132060" stAng="16200000" swAng="5400000"/>
                <a:lnTo>
                  <a:pt x="1244600" y="132060"/>
                </a:lnTo>
                <a:arcTo hR="132060" wR="132060" stAng="0" swAng="5400000"/>
                <a:lnTo>
                  <a:pt x="132060" y="264120"/>
                </a:lnTo>
                <a:arcTo hR="132060" wR="132060" stAng="5400000" swAng="5400000"/>
                <a:lnTo>
                  <a:pt x="0" y="132060"/>
                </a:lnTo>
                <a:arcTo hR="132060" wR="132060" stAng="10800000" swAng="5400000"/>
                <a:close/>
              </a:path>
            </a:pathLst>
          </a:custGeom>
          <a:solidFill>
            <a:srgbClr val="C2410C"/>
          </a:solidFill>
          <a:ln/>
        </p:spPr>
        <p:txBody>
          <a:bodyPr wrap="none" lIns="0" tIns="0" rIns="0" bIns="0" rtlCol="0" anchor="ctr">
            <a:normAutofit/>
          </a:bodyPr>
          <a:lstStyle/>
          <a:p>
            <a:pPr algn="ctr" indent="0" marL="0">
              <a:lnSpc>
                <a:spcPts val="1680"/>
              </a:lnSpc>
              <a:buNone/>
            </a:pPr>
            <a:r>
              <a:rPr lang="en-US" sz="1200" b="1" spc="100" kern="0" dirty="0">
                <a:solidFill>
                  <a:srgbClr val="FBFAF6"/>
                </a:solidFill>
                <a:latin typeface="JetBrains Mono" pitchFamily="49" charset="0"/>
                <a:ea typeface="JetBrains Mono" pitchFamily="49" charset="-122"/>
                <a:cs typeface="JetBrains Mono" pitchFamily="49" charset="-120"/>
              </a:rPr>
              <a:t>1 · ROWS</a:t>
            </a:r>
            <a:endParaRPr lang="en-US" sz="1200" dirty="0"/>
          </a:p>
        </p:txBody>
      </p:sp>
      <p:sp>
        <p:nvSpPr>
          <p:cNvPr id="6" name="Text 4"/>
          <p:cNvSpPr/>
          <p:nvPr/>
        </p:nvSpPr>
        <p:spPr>
          <a:xfrm>
            <a:off x="1073150" y="2530971"/>
            <a:ext cx="2951912" cy="640080"/>
          </a:xfrm>
          <a:prstGeom prst="rect">
            <a:avLst/>
          </a:prstGeom>
          <a:noFill/>
          <a:ln/>
        </p:spPr>
        <p:txBody>
          <a:bodyPr wrap="square" lIns="0" tIns="0" rIns="0" bIns="0" rtlCol="0" anchor="t"/>
          <a:lstStyle/>
          <a:p>
            <a:pPr algn="l" indent="0" marL="0">
              <a:lnSpc>
                <a:spcPts val="2400"/>
              </a:lnSpc>
              <a:buNone/>
            </a:pPr>
            <a:r>
              <a:rPr lang="en-US" sz="2000" b="1" dirty="0">
                <a:solidFill>
                  <a:srgbClr val="16181D"/>
                </a:solidFill>
                <a:latin typeface="Space Grotesk" pitchFamily="34" charset="0"/>
                <a:ea typeface="Space Grotesk" pitchFamily="34" charset="-122"/>
                <a:cs typeface="Space Grotesk" pitchFamily="34" charset="-120"/>
              </a:rPr>
              <a:t>Every tree gets its own sample</a:t>
            </a:r>
            <a:endParaRPr lang="en-US" sz="2000" dirty="0"/>
          </a:p>
        </p:txBody>
      </p:sp>
      <p:sp>
        <p:nvSpPr>
          <p:cNvPr id="7" name="Text 5"/>
          <p:cNvSpPr/>
          <p:nvPr/>
        </p:nvSpPr>
        <p:spPr>
          <a:xfrm>
            <a:off x="1073150" y="3200400"/>
            <a:ext cx="2953512" cy="7315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45A66"/>
                </a:solidFill>
                <a:latin typeface="IBM Plex Sans" pitchFamily="34" charset="0"/>
                <a:ea typeface="IBM Plex Sans" pitchFamily="34" charset="-122"/>
                <a:cs typeface="IBM Plex Sans" pitchFamily="34" charset="-120"/>
              </a:rPr>
              <a:t>Draw 318 cars with replacement: some twice, some not at all.</a:t>
            </a:r>
            <a:endParaRPr lang="en-US" sz="1200" dirty="0"/>
          </a:p>
        </p:txBody>
      </p:sp>
      <p:sp>
        <p:nvSpPr>
          <p:cNvPr id="8" name="Text 6"/>
          <p:cNvSpPr/>
          <p:nvPr/>
        </p:nvSpPr>
        <p:spPr>
          <a:xfrm>
            <a:off x="1073150" y="4069080"/>
            <a:ext cx="29519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45A66"/>
                </a:solidFill>
                <a:latin typeface="JetBrains Mono" pitchFamily="49" charset="0"/>
                <a:ea typeface="JetBrains Mono" pitchFamily="49" charset="-122"/>
                <a:cs typeface="JetBrains Mono" pitchFamily="49" charset="-120"/>
              </a:rPr>
              <a:t>EFFECT</a:t>
            </a:r>
            <a:endParaRPr lang="en-US" sz="1200" dirty="0"/>
          </a:p>
        </p:txBody>
      </p:sp>
      <p:sp>
        <p:nvSpPr>
          <p:cNvPr id="9" name="Text 7"/>
          <p:cNvSpPr/>
          <p:nvPr/>
        </p:nvSpPr>
        <p:spPr>
          <a:xfrm>
            <a:off x="1073150" y="4389120"/>
            <a:ext cx="295191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6181D"/>
                </a:solidFill>
                <a:latin typeface="IBM Plex Sans" pitchFamily="34" charset="0"/>
                <a:ea typeface="IBM Plex Sans" pitchFamily="34" charset="-122"/>
                <a:cs typeface="IBM Plex Sans" pitchFamily="34" charset="-120"/>
              </a:rPr>
              <a:t>every tree sees</a:t>
            </a:r>
            <a:endParaRPr lang="en-US" sz="1200" dirty="0"/>
          </a:p>
          <a:p>
            <a:pPr algn="l" indent="0" marL="0">
              <a:lnSpc>
                <a:spcPts val="1740"/>
              </a:lnSpc>
              <a:buNone/>
            </a:pPr>
            <a:r>
              <a:rPr lang="en-US" sz="1200" dirty="0">
                <a:solidFill>
                  <a:srgbClr val="16181D"/>
                </a:solidFill>
                <a:latin typeface="IBM Plex Sans" pitchFamily="34" charset="0"/>
                <a:ea typeface="IBM Plex Sans" pitchFamily="34" charset="-122"/>
                <a:cs typeface="IBM Plex Sans" pitchFamily="34" charset="-120"/>
              </a:rPr>
              <a:t>slightly different data</a:t>
            </a:r>
            <a:endParaRPr lang="en-US" sz="1200" dirty="0"/>
          </a:p>
        </p:txBody>
      </p:sp>
      <p:sp>
        <p:nvSpPr>
          <p:cNvPr id="10" name="Shape 8"/>
          <p:cNvSpPr/>
          <p:nvPr/>
        </p:nvSpPr>
        <p:spPr>
          <a:xfrm>
            <a:off x="1073150" y="5441355"/>
            <a:ext cx="2865934" cy="0"/>
          </a:xfrm>
          <a:prstGeom prst="line">
            <a:avLst/>
          </a:prstGeom>
          <a:noFill/>
          <a:ln w="6350">
            <a:solidFill>
              <a:srgbClr val="E0DACB"/>
            </a:solidFill>
            <a:prstDash val="solid"/>
          </a:ln>
        </p:spPr>
        <p:txBody>
          <a:bodyPr/>
          <a:p/>
        </p:txBody>
      </p:sp>
      <p:sp>
        <p:nvSpPr>
          <p:cNvPr id="11" name="Text 9"/>
          <p:cNvSpPr/>
          <p:nvPr/>
        </p:nvSpPr>
        <p:spPr>
          <a:xfrm>
            <a:off x="1073150" y="5571530"/>
            <a:ext cx="29519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bootstrap</a:t>
            </a:r>
            <a:endParaRPr lang="en-US" sz="1200" dirty="0"/>
          </a:p>
        </p:txBody>
      </p:sp>
      <p:sp>
        <p:nvSpPr>
          <p:cNvPr id="12" name="Shape 10"/>
          <p:cNvSpPr/>
          <p:nvPr/>
        </p:nvSpPr>
        <p:spPr>
          <a:xfrm>
            <a:off x="4405809" y="1882676"/>
            <a:ext cx="3380383" cy="4159349"/>
          </a:xfrm>
          <a:prstGeom prst="roundRect">
            <a:avLst>
              <a:gd name="adj" fmla="val 4414"/>
            </a:avLst>
          </a:prstGeom>
          <a:solidFill>
            <a:srgbClr val="FBFAF6"/>
          </a:solidFill>
          <a:ln w="6350">
            <a:solidFill>
              <a:srgbClr val="E0DACB"/>
            </a:solidFill>
            <a:prstDash val="solid"/>
          </a:ln>
        </p:spPr>
        <p:txBody>
          <a:bodyPr/>
          <a:p/>
        </p:txBody>
      </p:sp>
      <p:sp>
        <p:nvSpPr>
          <p:cNvPr id="13" name="Text 11"/>
          <p:cNvSpPr/>
          <p:nvPr/>
        </p:nvSpPr>
        <p:spPr>
          <a:xfrm>
            <a:off x="4662984" y="2139851"/>
            <a:ext cx="1452959" cy="264120"/>
          </a:xfrm>
          <a:custGeom>
            <a:avLst/>
            <a:gdLst/>
            <a:ahLst/>
            <a:cxnLst/>
            <a:rect l="l" t="t" r="r" b="b"/>
            <a:pathLst>
              <a:path w="1452959" h="264120">
                <a:moveTo>
                  <a:pt x="132060" y="0"/>
                </a:moveTo>
                <a:lnTo>
                  <a:pt x="1320899" y="0"/>
                </a:lnTo>
                <a:arcTo hR="132060" wR="132060" stAng="16200000" swAng="5400000"/>
                <a:lnTo>
                  <a:pt x="1452959" y="132060"/>
                </a:lnTo>
                <a:arcTo hR="132060" wR="132060" stAng="0" swAng="5400000"/>
                <a:lnTo>
                  <a:pt x="132060" y="264120"/>
                </a:lnTo>
                <a:arcTo hR="132060" wR="132060" stAng="5400000" swAng="5400000"/>
                <a:lnTo>
                  <a:pt x="0" y="132060"/>
                </a:lnTo>
                <a:arcTo hR="132060" wR="132060" stAng="10800000" swAng="5400000"/>
                <a:close/>
              </a:path>
            </a:pathLst>
          </a:custGeom>
          <a:solidFill>
            <a:srgbClr val="1D5FD6"/>
          </a:solidFill>
          <a:ln/>
        </p:spPr>
        <p:txBody>
          <a:bodyPr wrap="none" lIns="0" tIns="0" rIns="0" bIns="0" rtlCol="0" anchor="ctr">
            <a:normAutofit/>
          </a:bodyPr>
          <a:lstStyle/>
          <a:p>
            <a:pPr algn="ctr" indent="0" marL="0">
              <a:lnSpc>
                <a:spcPts val="1680"/>
              </a:lnSpc>
              <a:buNone/>
            </a:pPr>
            <a:r>
              <a:rPr lang="en-US" sz="1200" b="1" spc="100" kern="0" dirty="0">
                <a:solidFill>
                  <a:srgbClr val="FBFAF6"/>
                </a:solidFill>
                <a:latin typeface="JetBrains Mono" pitchFamily="49" charset="0"/>
                <a:ea typeface="JetBrains Mono" pitchFamily="49" charset="-122"/>
                <a:cs typeface="JetBrains Mono" pitchFamily="49" charset="-120"/>
              </a:rPr>
              <a:t>2 · COLUMNS</a:t>
            </a:r>
            <a:endParaRPr lang="en-US" sz="1200" dirty="0"/>
          </a:p>
        </p:txBody>
      </p:sp>
      <p:sp>
        <p:nvSpPr>
          <p:cNvPr id="14" name="Text 12"/>
          <p:cNvSpPr/>
          <p:nvPr/>
        </p:nvSpPr>
        <p:spPr>
          <a:xfrm>
            <a:off x="4662984" y="2530971"/>
            <a:ext cx="2952014" cy="640080"/>
          </a:xfrm>
          <a:prstGeom prst="rect">
            <a:avLst/>
          </a:prstGeom>
          <a:noFill/>
          <a:ln/>
        </p:spPr>
        <p:txBody>
          <a:bodyPr wrap="square" lIns="0" tIns="0" rIns="0" bIns="0" rtlCol="0" anchor="t"/>
          <a:lstStyle/>
          <a:p>
            <a:pPr algn="l" indent="0" marL="0">
              <a:lnSpc>
                <a:spcPts val="2400"/>
              </a:lnSpc>
              <a:buNone/>
            </a:pPr>
            <a:r>
              <a:rPr lang="en-US" sz="2000" b="1" dirty="0">
                <a:solidFill>
                  <a:srgbClr val="16181D"/>
                </a:solidFill>
                <a:latin typeface="Space Grotesk" pitchFamily="34" charset="0"/>
                <a:ea typeface="Space Grotesk" pitchFamily="34" charset="-122"/>
                <a:cs typeface="Space Grotesk" pitchFamily="34" charset="-120"/>
              </a:rPr>
              <a:t>Every question sees a few features</a:t>
            </a:r>
            <a:endParaRPr lang="en-US" sz="2000" dirty="0"/>
          </a:p>
        </p:txBody>
      </p:sp>
      <p:sp>
        <p:nvSpPr>
          <p:cNvPr id="15" name="Text 13"/>
          <p:cNvSpPr/>
          <p:nvPr/>
        </p:nvSpPr>
        <p:spPr>
          <a:xfrm>
            <a:off x="4662984" y="3200400"/>
            <a:ext cx="2953512" cy="7315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45A66"/>
                </a:solidFill>
                <a:latin typeface="IBM Plex Sans" pitchFamily="34" charset="0"/>
                <a:ea typeface="IBM Plex Sans" pitchFamily="34" charset="-122"/>
                <a:cs typeface="IBM Plex Sans" pitchFamily="34" charset="-120"/>
              </a:rPr>
              <a:t>At each split only a random subset of columns may be used.</a:t>
            </a:r>
            <a:endParaRPr lang="en-US" sz="1200" dirty="0"/>
          </a:p>
        </p:txBody>
      </p:sp>
      <p:sp>
        <p:nvSpPr>
          <p:cNvPr id="16" name="Text 14"/>
          <p:cNvSpPr/>
          <p:nvPr/>
        </p:nvSpPr>
        <p:spPr>
          <a:xfrm>
            <a:off x="4662984" y="4069080"/>
            <a:ext cx="295201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45A66"/>
                </a:solidFill>
                <a:latin typeface="JetBrains Mono" pitchFamily="49" charset="0"/>
                <a:ea typeface="JetBrains Mono" pitchFamily="49" charset="-122"/>
                <a:cs typeface="JetBrains Mono" pitchFamily="49" charset="-120"/>
              </a:rPr>
              <a:t>EFFECT</a:t>
            </a:r>
            <a:endParaRPr lang="en-US" sz="1200" dirty="0"/>
          </a:p>
        </p:txBody>
      </p:sp>
      <p:sp>
        <p:nvSpPr>
          <p:cNvPr id="17" name="Text 15"/>
          <p:cNvSpPr/>
          <p:nvPr/>
        </p:nvSpPr>
        <p:spPr>
          <a:xfrm>
            <a:off x="4662984" y="4389120"/>
            <a:ext cx="2952014"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6181D"/>
                </a:solidFill>
                <a:latin typeface="IBM Plex Sans" pitchFamily="34" charset="0"/>
                <a:ea typeface="IBM Plex Sans" pitchFamily="34" charset="-122"/>
                <a:cs typeface="IBM Plex Sans" pitchFamily="34" charset="-120"/>
              </a:rPr>
              <a:t>the trees don’t all</a:t>
            </a:r>
            <a:endParaRPr lang="en-US" sz="1200" dirty="0"/>
          </a:p>
          <a:p>
            <a:pPr algn="l" indent="0" marL="0">
              <a:lnSpc>
                <a:spcPts val="1740"/>
              </a:lnSpc>
              <a:buNone/>
            </a:pPr>
            <a:r>
              <a:rPr lang="en-US" sz="1200" dirty="0">
                <a:solidFill>
                  <a:srgbClr val="16181D"/>
                </a:solidFill>
                <a:latin typeface="IBM Plex Sans" pitchFamily="34" charset="0"/>
                <a:ea typeface="IBM Plex Sans" pitchFamily="34" charset="-122"/>
                <a:cs typeface="IBM Plex Sans" pitchFamily="34" charset="-120"/>
              </a:rPr>
              <a:t>ask the same thing</a:t>
            </a:r>
            <a:endParaRPr lang="en-US" sz="1200" dirty="0"/>
          </a:p>
        </p:txBody>
      </p:sp>
      <p:sp>
        <p:nvSpPr>
          <p:cNvPr id="18" name="Shape 16"/>
          <p:cNvSpPr/>
          <p:nvPr/>
        </p:nvSpPr>
        <p:spPr>
          <a:xfrm>
            <a:off x="4662984" y="5441355"/>
            <a:ext cx="2866033" cy="0"/>
          </a:xfrm>
          <a:prstGeom prst="line">
            <a:avLst/>
          </a:prstGeom>
          <a:noFill/>
          <a:ln w="6350">
            <a:solidFill>
              <a:srgbClr val="E0DACB"/>
            </a:solidFill>
            <a:prstDash val="solid"/>
          </a:ln>
        </p:spPr>
        <p:txBody>
          <a:bodyPr/>
          <a:p/>
        </p:txBody>
      </p:sp>
      <p:sp>
        <p:nvSpPr>
          <p:cNvPr id="19" name="Text 17"/>
          <p:cNvSpPr/>
          <p:nvPr/>
        </p:nvSpPr>
        <p:spPr>
          <a:xfrm>
            <a:off x="4662984" y="5571530"/>
            <a:ext cx="29520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max_features</a:t>
            </a:r>
            <a:endParaRPr lang="en-US" sz="1200" dirty="0"/>
          </a:p>
        </p:txBody>
      </p:sp>
      <p:sp>
        <p:nvSpPr>
          <p:cNvPr id="20" name="Shape 18"/>
          <p:cNvSpPr/>
          <p:nvPr/>
        </p:nvSpPr>
        <p:spPr>
          <a:xfrm>
            <a:off x="7995741" y="1882676"/>
            <a:ext cx="3380284" cy="4159349"/>
          </a:xfrm>
          <a:prstGeom prst="roundRect">
            <a:avLst>
              <a:gd name="adj" fmla="val 4415"/>
            </a:avLst>
          </a:prstGeom>
          <a:solidFill>
            <a:srgbClr val="FBFAF6"/>
          </a:solidFill>
          <a:ln w="6350">
            <a:solidFill>
              <a:srgbClr val="E0DACB"/>
            </a:solidFill>
            <a:prstDash val="solid"/>
          </a:ln>
        </p:spPr>
        <p:txBody>
          <a:bodyPr/>
          <a:p/>
        </p:txBody>
      </p:sp>
      <p:sp>
        <p:nvSpPr>
          <p:cNvPr id="21" name="Text 19"/>
          <p:cNvSpPr/>
          <p:nvPr/>
        </p:nvSpPr>
        <p:spPr>
          <a:xfrm>
            <a:off x="8252916" y="2139851"/>
            <a:ext cx="1557040" cy="264120"/>
          </a:xfrm>
          <a:custGeom>
            <a:avLst/>
            <a:gdLst/>
            <a:ahLst/>
            <a:cxnLst/>
            <a:rect l="l" t="t" r="r" b="b"/>
            <a:pathLst>
              <a:path w="1557040" h="264120">
                <a:moveTo>
                  <a:pt x="132060" y="0"/>
                </a:moveTo>
                <a:lnTo>
                  <a:pt x="1424980" y="0"/>
                </a:lnTo>
                <a:arcTo hR="132060" wR="132060" stAng="16200000" swAng="5400000"/>
                <a:lnTo>
                  <a:pt x="1557040" y="132060"/>
                </a:lnTo>
                <a:arcTo hR="132060" wR="132060" stAng="0" swAng="5400000"/>
                <a:lnTo>
                  <a:pt x="132060" y="264120"/>
                </a:lnTo>
                <a:arcTo hR="132060" wR="132060" stAng="5400000" swAng="5400000"/>
                <a:lnTo>
                  <a:pt x="0" y="132060"/>
                </a:lnTo>
                <a:arcTo hR="132060" wR="132060" stAng="10800000" swAng="5400000"/>
                <a:close/>
              </a:path>
            </a:pathLst>
          </a:custGeom>
          <a:solidFill>
            <a:srgbClr val="2F855A"/>
          </a:solidFill>
          <a:ln/>
        </p:spPr>
        <p:txBody>
          <a:bodyPr wrap="none" lIns="0" tIns="0" rIns="0" bIns="0" rtlCol="0" anchor="ctr">
            <a:normAutofit/>
          </a:bodyPr>
          <a:lstStyle/>
          <a:p>
            <a:pPr algn="ctr" indent="0" marL="0">
              <a:lnSpc>
                <a:spcPts val="1680"/>
              </a:lnSpc>
              <a:buNone/>
            </a:pPr>
            <a:r>
              <a:rPr lang="en-US" sz="1200" b="1" spc="100" kern="0" dirty="0">
                <a:solidFill>
                  <a:srgbClr val="FBFAF6"/>
                </a:solidFill>
                <a:latin typeface="JetBrains Mono" pitchFamily="49" charset="0"/>
                <a:ea typeface="JetBrains Mono" pitchFamily="49" charset="-122"/>
                <a:cs typeface="JetBrains Mono" pitchFamily="49" charset="-120"/>
              </a:rPr>
              <a:t>3 · AVERAGE</a:t>
            </a:r>
            <a:endParaRPr lang="en-US" sz="1200" dirty="0"/>
          </a:p>
        </p:txBody>
      </p:sp>
      <p:sp>
        <p:nvSpPr>
          <p:cNvPr id="22" name="Text 20"/>
          <p:cNvSpPr/>
          <p:nvPr/>
        </p:nvSpPr>
        <p:spPr>
          <a:xfrm>
            <a:off x="8252916" y="2530971"/>
            <a:ext cx="2951912" cy="640080"/>
          </a:xfrm>
          <a:prstGeom prst="rect">
            <a:avLst/>
          </a:prstGeom>
          <a:noFill/>
          <a:ln/>
        </p:spPr>
        <p:txBody>
          <a:bodyPr wrap="square" lIns="0" tIns="0" rIns="0" bIns="0" rtlCol="0" anchor="t"/>
          <a:lstStyle/>
          <a:p>
            <a:pPr algn="l" indent="0" marL="0">
              <a:lnSpc>
                <a:spcPts val="2400"/>
              </a:lnSpc>
              <a:buNone/>
            </a:pPr>
            <a:r>
              <a:rPr lang="en-US" sz="2000" b="1" dirty="0">
                <a:solidFill>
                  <a:srgbClr val="16181D"/>
                </a:solidFill>
                <a:latin typeface="Space Grotesk" pitchFamily="34" charset="0"/>
                <a:ea typeface="Space Grotesk" pitchFamily="34" charset="-122"/>
                <a:cs typeface="Space Grotesk" pitchFamily="34" charset="-120"/>
              </a:rPr>
              <a:t>The forest votes</a:t>
            </a:r>
            <a:endParaRPr lang="en-US" sz="2000" dirty="0"/>
          </a:p>
        </p:txBody>
      </p:sp>
      <p:sp>
        <p:nvSpPr>
          <p:cNvPr id="23" name="Text 21"/>
          <p:cNvSpPr/>
          <p:nvPr/>
        </p:nvSpPr>
        <p:spPr>
          <a:xfrm>
            <a:off x="8252916" y="3200400"/>
            <a:ext cx="2953512" cy="7315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45A66"/>
                </a:solidFill>
                <a:latin typeface="IBM Plex Sans" pitchFamily="34" charset="0"/>
                <a:ea typeface="IBM Plex Sans" pitchFamily="34" charset="-122"/>
                <a:cs typeface="IBM Plex Sans" pitchFamily="34" charset="-120"/>
              </a:rPr>
              <a:t>Prediction = mean of all 300 trees. Single trees err wildly, but in different directions.</a:t>
            </a:r>
            <a:endParaRPr lang="en-US" sz="1200" dirty="0"/>
          </a:p>
        </p:txBody>
      </p:sp>
      <p:sp>
        <p:nvSpPr>
          <p:cNvPr id="24" name="Text 22"/>
          <p:cNvSpPr/>
          <p:nvPr/>
        </p:nvSpPr>
        <p:spPr>
          <a:xfrm>
            <a:off x="8252916" y="4069080"/>
            <a:ext cx="29519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45A66"/>
                </a:solidFill>
                <a:latin typeface="JetBrains Mono" pitchFamily="49" charset="0"/>
                <a:ea typeface="JetBrains Mono" pitchFamily="49" charset="-122"/>
                <a:cs typeface="JetBrains Mono" pitchFamily="49" charset="-120"/>
              </a:rPr>
              <a:t>EFFECT</a:t>
            </a:r>
            <a:endParaRPr lang="en-US" sz="1200" dirty="0"/>
          </a:p>
        </p:txBody>
      </p:sp>
      <p:sp>
        <p:nvSpPr>
          <p:cNvPr id="25" name="Text 23"/>
          <p:cNvSpPr/>
          <p:nvPr/>
        </p:nvSpPr>
        <p:spPr>
          <a:xfrm>
            <a:off x="8252916" y="4389120"/>
            <a:ext cx="295191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6181D"/>
                </a:solidFill>
                <a:latin typeface="IBM Plex Sans" pitchFamily="34" charset="0"/>
                <a:ea typeface="IBM Plex Sans" pitchFamily="34" charset="-122"/>
                <a:cs typeface="IBM Plex Sans" pitchFamily="34" charset="-120"/>
              </a:rPr>
              <a:t>the errors cancel out:</a:t>
            </a:r>
            <a:endParaRPr lang="en-US" sz="1200" dirty="0"/>
          </a:p>
          <a:p>
            <a:pPr algn="l" indent="0" marL="0">
              <a:lnSpc>
                <a:spcPts val="1740"/>
              </a:lnSpc>
              <a:buNone/>
            </a:pPr>
            <a:r>
              <a:rPr lang="en-US" sz="1200" dirty="0">
                <a:solidFill>
                  <a:srgbClr val="16181D"/>
                </a:solidFill>
                <a:latin typeface="IBM Plex Sans" pitchFamily="34" charset="0"/>
                <a:ea typeface="IBM Plex Sans" pitchFamily="34" charset="-122"/>
                <a:cs typeface="IBM Plex Sans" pitchFamily="34" charset="-120"/>
              </a:rPr>
              <a:t>MAE 2.21 → 1.63</a:t>
            </a:r>
            <a:endParaRPr lang="en-US" sz="1200" dirty="0"/>
          </a:p>
        </p:txBody>
      </p:sp>
      <p:sp>
        <p:nvSpPr>
          <p:cNvPr id="26" name="Shape 24"/>
          <p:cNvSpPr/>
          <p:nvPr/>
        </p:nvSpPr>
        <p:spPr>
          <a:xfrm>
            <a:off x="8252916" y="5441355"/>
            <a:ext cx="2865934" cy="0"/>
          </a:xfrm>
          <a:prstGeom prst="line">
            <a:avLst/>
          </a:prstGeom>
          <a:noFill/>
          <a:ln w="6350">
            <a:solidFill>
              <a:srgbClr val="E0DACB"/>
            </a:solidFill>
            <a:prstDash val="solid"/>
          </a:ln>
        </p:spPr>
        <p:txBody>
          <a:bodyPr/>
          <a:p/>
        </p:txBody>
      </p:sp>
      <p:sp>
        <p:nvSpPr>
          <p:cNvPr id="27" name="Text 25"/>
          <p:cNvSpPr/>
          <p:nvPr/>
        </p:nvSpPr>
        <p:spPr>
          <a:xfrm>
            <a:off x="8252916" y="5571530"/>
            <a:ext cx="29519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45A66"/>
                </a:solidFill>
                <a:latin typeface="IBM Plex Sans" pitchFamily="34" charset="0"/>
                <a:ea typeface="IBM Plex Sans" pitchFamily="34" charset="-122"/>
                <a:cs typeface="IBM Plex Sans" pitchFamily="34" charset="-120"/>
              </a:rPr>
              <a:t>n_estimators=300</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20">
    <p:bg>
      <p:bgPr>
        <a:solidFill>
          <a:srgbClr val="F2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2410C"/>
                </a:solidFill>
                <a:latin typeface="JetBrains Mono" pitchFamily="49" charset="0"/>
                <a:ea typeface="JetBrains Mono" pitchFamily="49" charset="-122"/>
                <a:cs typeface="JetBrains Mono" pitchFamily="49" charset="-120"/>
              </a:rPr>
              <a:t>03 · ML ARCHITECTURES · 1/2</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181D"/>
                </a:solidFill>
                <a:latin typeface="Space Grotesk" pitchFamily="34" charset="0"/>
                <a:ea typeface="Space Grotesk" pitchFamily="34" charset="-122"/>
                <a:cs typeface="Space Grotesk" pitchFamily="34" charset="-120"/>
              </a:rPr>
              <a:t>Classical machine learning: the toolbox for tables</a:t>
            </a:r>
            <a:endParaRPr lang="en-US" sz="3200" dirty="0"/>
          </a:p>
        </p:txBody>
      </p:sp>
      <p:sp>
        <p:nvSpPr>
          <p:cNvPr id="4" name="Shape 2"/>
          <p:cNvSpPr/>
          <p:nvPr/>
        </p:nvSpPr>
        <p:spPr>
          <a:xfrm>
            <a:off x="812800" y="1879501"/>
            <a:ext cx="10566400" cy="3648456"/>
          </a:xfrm>
          <a:prstGeom prst="roundRect">
            <a:avLst>
              <a:gd name="adj" fmla="val 4891"/>
            </a:avLst>
          </a:prstGeom>
          <a:solidFill>
            <a:srgbClr val="FBFAF6"/>
          </a:solidFill>
          <a:ln/>
        </p:spPr>
        <p:txBody>
          <a:bodyPr/>
          <a:p/>
        </p:txBody>
      </p:sp>
      <p:sp>
        <p:nvSpPr>
          <p:cNvPr id="5" name="Shape 3"/>
          <p:cNvSpPr/>
          <p:nvPr/>
        </p:nvSpPr>
        <p:spPr>
          <a:xfrm>
            <a:off x="812800" y="1879501"/>
            <a:ext cx="10566400" cy="3648456"/>
          </a:xfrm>
          <a:custGeom>
            <a:avLst/>
            <a:gdLst/>
            <a:ahLst/>
            <a:cxnLst/>
            <a:rect l="l" t="t" r="r" b="b"/>
            <a:pathLst>
              <a:path w="10566400" h="2596753">
                <a:moveTo>
                  <a:pt x="10439400" y="0"/>
                </a:moveTo>
                <a:lnTo>
                  <a:pt x="10439400" y="0"/>
                </a:lnTo>
                <a:arcTo hR="127000" wR="127000" stAng="16200000" swAng="5400000"/>
                <a:lnTo>
                  <a:pt x="10566400" y="2469753"/>
                </a:lnTo>
                <a:arcTo hR="127000" wR="127000" stAng="0" swAng="5400000"/>
                <a:lnTo>
                  <a:pt x="127000" y="2596753"/>
                </a:lnTo>
                <a:arcTo hR="127000" wR="127000" stAng="5400000" swAng="5400000"/>
                <a:lnTo>
                  <a:pt x="0" y="2469753"/>
                </a:lnTo>
                <a:arcTo hR="120650" wR="127000" stAng="10800000" swAng="-5400000"/>
                <a:lnTo>
                  <a:pt x="10439400" y="2590403"/>
                </a:lnTo>
                <a:arcTo hR="120650" wR="120650" stAng="5400000" swAng="-5400000"/>
                <a:lnTo>
                  <a:pt x="10560050" y="127000"/>
                </a:lnTo>
                <a:arcTo hR="127000" wR="120650" stAng="0" swAng="-5400000"/>
                <a:close/>
              </a:path>
            </a:pathLst>
          </a:custGeom>
          <a:solidFill>
            <a:srgbClr val="E0DACB"/>
          </a:solidFill>
          <a:ln/>
        </p:spPr>
        <p:txBody>
          <a:bodyPr/>
          <a:p/>
        </p:txBody>
      </p:sp>
      <p:sp>
        <p:nvSpPr>
          <p:cNvPr id="6" name="Shape 4"/>
          <p:cNvSpPr/>
          <p:nvPr/>
        </p:nvSpPr>
        <p:spPr>
          <a:xfrm>
            <a:off x="812800" y="1879501"/>
            <a:ext cx="10566400" cy="3648456"/>
          </a:xfrm>
          <a:custGeom>
            <a:avLst/>
            <a:gdLst/>
            <a:ahLst/>
            <a:cxnLst/>
            <a:rect l="l" t="t" r="r" b="b"/>
            <a:pathLst>
              <a:path w="10566400" h="2596753">
                <a:moveTo>
                  <a:pt x="127000" y="2596753"/>
                </a:moveTo>
                <a:lnTo>
                  <a:pt x="127000" y="2596753"/>
                </a:lnTo>
                <a:arcTo hR="127000" wR="127000" stAng="5400000" swAng="5400000"/>
                <a:lnTo>
                  <a:pt x="0" y="127000"/>
                </a:lnTo>
                <a:arcTo hR="127000" wR="127000" stAng="10800000" swAng="5400000"/>
                <a:lnTo>
                  <a:pt x="10439400" y="0"/>
                </a:lnTo>
                <a:arcTo hR="127000" wR="127000" stAng="16200000" swAng="5400000"/>
                <a:lnTo>
                  <a:pt x="10566400" y="127000"/>
                </a:lnTo>
                <a:arcTo hR="114300" wR="127000" stAng="0" swAng="-5400000"/>
                <a:lnTo>
                  <a:pt x="127000" y="12700"/>
                </a:lnTo>
                <a:arcTo hR="114300" wR="114300" stAng="16200000" swAng="-5400000"/>
                <a:lnTo>
                  <a:pt x="12700" y="2469753"/>
                </a:lnTo>
                <a:arcTo hR="127000" wR="114300" stAng="10800000" swAng="-5400000"/>
                <a:close/>
              </a:path>
            </a:pathLst>
          </a:custGeom>
          <a:solidFill>
            <a:srgbClr val="141413">
              <a:alpha val="22000"/>
            </a:srgbClr>
          </a:solidFill>
          <a:ln/>
        </p:spPr>
        <p:txBody>
          <a:bodyPr/>
          <a:p/>
        </p:txBody>
      </p:sp>
      <p:sp>
        <p:nvSpPr>
          <p:cNvPr id="7" name="Shape 5"/>
          <p:cNvSpPr/>
          <p:nvPr/>
        </p:nvSpPr>
        <p:spPr>
          <a:xfrm>
            <a:off x="825500" y="1892201"/>
            <a:ext cx="10547350" cy="515541"/>
          </a:xfrm>
          <a:custGeom>
            <a:avLst/>
            <a:gdLst/>
            <a:ahLst/>
            <a:cxnLst/>
            <a:rect l="l" t="t" r="r" b="b"/>
            <a:pathLst>
              <a:path w="10547350" h="515541">
                <a:moveTo>
                  <a:pt x="0" y="114300"/>
                </a:moveTo>
                <a:arcTo hR="114300" wR="114300" stAng="10800000" swAng="5400000"/>
                <a:lnTo>
                  <a:pt x="10426700" y="0"/>
                </a:lnTo>
                <a:arcTo hR="120650" wR="120650" stAng="16200000" swAng="5400000"/>
                <a:lnTo>
                  <a:pt x="10547350" y="515541"/>
                </a:lnTo>
                <a:lnTo>
                  <a:pt x="0" y="515541"/>
                </a:lnTo>
                <a:close/>
              </a:path>
            </a:pathLst>
          </a:custGeom>
          <a:solidFill>
            <a:srgbClr val="E9E8E4"/>
          </a:solidFill>
          <a:ln/>
        </p:spPr>
        <p:txBody>
          <a:bodyPr/>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43032" cy="3630168"/>
        </p:xfrm>
        <a:graphic>
          <a:graphicData uri="http://schemas.openxmlformats.org/drawingml/2006/table">
            <a:tbl>
              <a:tblPr/>
              <a:tblGrid>
                <a:gridCol w="3108960"/>
                <a:gridCol w="3200400"/>
                <a:gridCol w="1371600"/>
                <a:gridCol w="2862072"/>
              </a:tblGrid>
              <a:tr h="457200">
                <a:tc>
                  <a:txBody>
                    <a:bodyPr/>
                    <a:lstStyle/>
                    <a:p>
                      <a:pPr indent="0" marL="0">
                        <a:lnSpc>
                          <a:spcPts val="1960"/>
                        </a:lnSpc>
                        <a:buNone/>
                      </a:pPr>
                      <a:r>
                        <a:rPr lang="en-US" sz="1400" dirty="0">
                          <a:solidFill>
                            <a:srgbClr val="8A909C"/>
                          </a:solidFill>
                          <a:latin typeface="IBM Plex Sans" charset="0"/>
                          <a:ea typeface="IBM Plex Sans" charset="0"/>
                          <a:cs typeface="IBM Plex Sans" charset="0"/>
                        </a:rPr>
                        <a:t>Architecture</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BAB9B6"/>
                      </a:solidFill>
                      <a:prstDash val="solid"/>
                      <a:round/>
                      <a:headEnd type="none" w="med" len="med"/>
                      <a:tailEnd type="none" w="med" len="med"/>
                    </a:lnR>
                    <a:lnT w="0" cap="flat" cmpd="sng" algn="ctr">
                      <a:noFill/>
                    </a:lnT>
                    <a:lnB w="12700" cap="flat" cmpd="sng" algn="ctr">
                      <a:solidFill>
                        <a:srgbClr val="BAB9B6"/>
                      </a:solidFill>
                      <a:prstDash val="solid"/>
                      <a:round/>
                      <a:headEnd type="none" w="med" len="med"/>
                      <a:tailEnd type="none" w="med" len="med"/>
                    </a:lnB>
                  </a:tcPr>
                </a:tc>
                <a:tc>
                  <a:txBody>
                    <a:bodyPr/>
                    <a:lstStyle/>
                    <a:p>
                      <a:pPr indent="0" marL="0">
                        <a:lnSpc>
                          <a:spcPts val="1960"/>
                        </a:lnSpc>
                        <a:buNone/>
                      </a:pPr>
                      <a:r>
                        <a:rPr lang="en-US" sz="1400" b="1" dirty="0">
                          <a:solidFill>
                            <a:srgbClr val="C2410C"/>
                          </a:solidFill>
                          <a:latin typeface="IBM Plex Sans" pitchFamily="34" charset="0"/>
                          <a:ea typeface="IBM Plex Sans" pitchFamily="34" charset="-122"/>
                          <a:cs typeface="IBM Plex Sans" pitchFamily="34" charset="-120"/>
                        </a:rPr>
                        <a:t>Good for</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0" cap="flat" cmpd="sng" algn="ctr">
                      <a:noFill/>
                    </a:lnT>
                    <a:lnB w="12700" cap="flat" cmpd="sng" algn="ctr">
                      <a:solidFill>
                        <a:srgbClr val="BAB9B6"/>
                      </a:solidFill>
                      <a:prstDash val="solid"/>
                      <a:round/>
                      <a:headEnd type="none" w="med" len="med"/>
                      <a:tailEnd type="none" w="med" len="med"/>
                    </a:lnB>
                  </a:tcPr>
                </a:tc>
                <a:tc>
                  <a:txBody>
                    <a:bodyPr/>
                    <a:lstStyle/>
                    <a:p>
                      <a:pPr indent="0" marL="0">
                        <a:lnSpc>
                          <a:spcPts val="1960"/>
                        </a:lnSpc>
                        <a:buNone/>
                      </a:pPr>
                      <a:r>
                        <a:rPr lang="en-US" sz="1400" b="1" dirty="0">
                          <a:solidFill>
                            <a:srgbClr val="1D5FD6"/>
                          </a:solidFill>
                          <a:latin typeface="IBM Plex Sans" pitchFamily="34" charset="0"/>
                          <a:ea typeface="IBM Plex Sans" pitchFamily="34" charset="-122"/>
                          <a:cs typeface="IBM Plex Sans" pitchFamily="34" charset="-120"/>
                        </a:rPr>
                        <a:t>Data</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0" cap="flat" cmpd="sng" algn="ctr">
                      <a:noFill/>
                    </a:lnT>
                    <a:lnB w="12700" cap="flat" cmpd="sng" algn="ctr">
                      <a:solidFill>
                        <a:srgbClr val="BAB9B6"/>
                      </a:solidFill>
                      <a:prstDash val="solid"/>
                      <a:round/>
                      <a:headEnd type="none" w="med" len="med"/>
                      <a:tailEnd type="none" w="med" len="med"/>
                    </a:lnB>
                  </a:tcPr>
                </a:tc>
                <a:tc>
                  <a:txBody>
                    <a:bodyPr/>
                    <a:lstStyle/>
                    <a:p>
                      <a:pPr indent="0" marL="0">
                        <a:lnSpc>
                          <a:spcPts val="1960"/>
                        </a:lnSpc>
                        <a:buNone/>
                      </a:pPr>
                      <a:r>
                        <a:rPr lang="en-US" sz="1400" b="1" dirty="0">
                          <a:solidFill>
                            <a:srgbClr val="2F855A"/>
                          </a:solidFill>
                          <a:latin typeface="IBM Plex Sans" pitchFamily="34" charset="0"/>
                          <a:ea typeface="IBM Plex Sans" pitchFamily="34" charset="-122"/>
                          <a:cs typeface="IBM Plex Sans" pitchFamily="34" charset="-120"/>
                        </a:rPr>
                        <a:t>Example</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0" cap="flat" cmpd="sng" algn="ctr">
                      <a:noFill/>
                    </a:lnT>
                    <a:lnB w="12700" cap="flat" cmpd="sng" algn="ctr">
                      <a:solidFill>
                        <a:srgbClr val="BAB9B6"/>
                      </a:solidFill>
                      <a:prstDash val="solid"/>
                      <a:round/>
                      <a:headEnd type="none" w="med" len="med"/>
                      <a:tailEnd type="none" w="med" len="med"/>
                    </a:lnB>
                  </a:tcPr>
                </a:tc>
              </a:tr>
              <a:tr h="475488">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Linear / logistic regression</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simple, fast, explainable</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tables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price, yes/no</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475488">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Decision tree</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rules a human can read</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tables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credit approval</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475488">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Random forest</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strong default, little tuning</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tables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our mpg model</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475488">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Gradient boosting (XGBoost)</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often the best on tables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tables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churn, fraud</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475488">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k-nearest neighbours</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“similar to these ones”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tables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recommendations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475488">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k-means · PCA</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groups, compression (no labels)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tables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customer segments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bl>
          </a:graphicData>
        </a:graphic>
      </p:graphicFrame>
      <p:pic>
        <p:nvPicPr>
          <p:cNvPr id="9" name="Image 0" descr="Lightbulb">    </p:cNvPr>
          <p:cNvPicPr>
            <a:picLocks noChangeAspect="1"/>
          </p:cNvPicPr>
          <p:nvPr/>
        </p:nvPicPr>
        <p:blipFill>
          <a:blip r:embed="rId1"/>
          <a:srcRect l="0" r="0" t="0" b="0"/>
          <a:stretch/>
        </p:blipFill>
        <p:spPr>
          <a:xfrm>
            <a:off x="812800" y="5751575"/>
            <a:ext cx="279400" cy="279400"/>
          </a:xfrm>
          <a:prstGeom prst="rect">
            <a:avLst/>
          </a:prstGeom>
        </p:spPr>
      </p:pic>
      <p:sp>
        <p:nvSpPr>
          <p:cNvPr id="10" name="Text 6"/>
          <p:cNvSpPr/>
          <p:nvPr/>
        </p:nvSpPr>
        <p:spPr>
          <a:xfrm>
            <a:off x="1219200" y="5760719"/>
            <a:ext cx="878609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181D"/>
                </a:solidFill>
                <a:latin typeface="IBM Plex Sans" pitchFamily="34" charset="0"/>
                <a:ea typeface="IBM Plex Sans" pitchFamily="34" charset="-122"/>
                <a:cs typeface="IBM Plex Sans" pitchFamily="34" charset="-120"/>
              </a:rPr>
              <a:t>Rule of thumb: tabular data → start with a random forest or gradient boosting.</a:t>
            </a:r>
            <a:endParaRPr lang="en-US" sz="15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20">
    <p:bg>
      <p:bgPr>
        <a:solidFill>
          <a:srgbClr val="F2EF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2410C"/>
                </a:solidFill>
                <a:latin typeface="JetBrains Mono" pitchFamily="49" charset="0"/>
                <a:ea typeface="JetBrains Mono" pitchFamily="49" charset="-122"/>
                <a:cs typeface="JetBrains Mono" pitchFamily="49" charset="-120"/>
              </a:rPr>
              <a:t>03 · ML ARCHITECTURES · 2/2</a:t>
            </a:r>
            <a:endParaRPr lang="en-US" sz="1200" dirty="0"/>
          </a:p>
        </p:txBody>
      </p:sp>
      <p:sp>
        <p:nvSpPr>
          <p:cNvPr id="3" name="Text 1"/>
          <p:cNvSpPr/>
          <p:nvPr>
            <p:ph type="title"/>
          </p:nvPr>
        </p:nvSpPr>
        <p:spPr>
          <a:xfrm>
            <a:off x="812800" y="1127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6181D"/>
                </a:solidFill>
                <a:latin typeface="Space Grotesk" pitchFamily="34" charset="0"/>
                <a:ea typeface="Space Grotesk" pitchFamily="34" charset="-122"/>
                <a:cs typeface="Space Grotesk" pitchFamily="34" charset="-120"/>
              </a:rPr>
              <a:t>Deep learning: neural networks for everything else</a:t>
            </a:r>
            <a:endParaRPr lang="en-US" sz="3200" dirty="0"/>
          </a:p>
        </p:txBody>
      </p:sp>
      <p:sp>
        <p:nvSpPr>
          <p:cNvPr id="4" name="Shape 2"/>
          <p:cNvSpPr/>
          <p:nvPr/>
        </p:nvSpPr>
        <p:spPr>
          <a:xfrm>
            <a:off x="812800" y="1879501"/>
            <a:ext cx="10566400" cy="4169663"/>
          </a:xfrm>
          <a:prstGeom prst="roundRect">
            <a:avLst>
              <a:gd name="adj" fmla="val 4891"/>
            </a:avLst>
          </a:prstGeom>
          <a:solidFill>
            <a:srgbClr val="FBFAF6"/>
          </a:solidFill>
          <a:ln/>
        </p:spPr>
        <p:txBody>
          <a:bodyPr/>
          <a:p/>
        </p:txBody>
      </p:sp>
      <p:sp>
        <p:nvSpPr>
          <p:cNvPr id="5" name="Shape 3"/>
          <p:cNvSpPr/>
          <p:nvPr/>
        </p:nvSpPr>
        <p:spPr>
          <a:xfrm>
            <a:off x="812800" y="1879501"/>
            <a:ext cx="10566400" cy="4169663"/>
          </a:xfrm>
          <a:custGeom>
            <a:avLst/>
            <a:gdLst/>
            <a:ahLst/>
            <a:cxnLst/>
            <a:rect l="l" t="t" r="r" b="b"/>
            <a:pathLst>
              <a:path w="10566400" h="2596753">
                <a:moveTo>
                  <a:pt x="10439400" y="0"/>
                </a:moveTo>
                <a:lnTo>
                  <a:pt x="10439400" y="0"/>
                </a:lnTo>
                <a:arcTo hR="127000" wR="127000" stAng="16200000" swAng="5400000"/>
                <a:lnTo>
                  <a:pt x="10566400" y="2469753"/>
                </a:lnTo>
                <a:arcTo hR="127000" wR="127000" stAng="0" swAng="5400000"/>
                <a:lnTo>
                  <a:pt x="127000" y="2596753"/>
                </a:lnTo>
                <a:arcTo hR="127000" wR="127000" stAng="5400000" swAng="5400000"/>
                <a:lnTo>
                  <a:pt x="0" y="2469753"/>
                </a:lnTo>
                <a:arcTo hR="120650" wR="127000" stAng="10800000" swAng="-5400000"/>
                <a:lnTo>
                  <a:pt x="10439400" y="2590403"/>
                </a:lnTo>
                <a:arcTo hR="120650" wR="120650" stAng="5400000" swAng="-5400000"/>
                <a:lnTo>
                  <a:pt x="10560050" y="127000"/>
                </a:lnTo>
                <a:arcTo hR="127000" wR="120650" stAng="0" swAng="-5400000"/>
                <a:close/>
              </a:path>
            </a:pathLst>
          </a:custGeom>
          <a:solidFill>
            <a:srgbClr val="E0DACB"/>
          </a:solidFill>
          <a:ln/>
        </p:spPr>
        <p:txBody>
          <a:bodyPr/>
          <a:p/>
        </p:txBody>
      </p:sp>
      <p:sp>
        <p:nvSpPr>
          <p:cNvPr id="6" name="Shape 4"/>
          <p:cNvSpPr/>
          <p:nvPr/>
        </p:nvSpPr>
        <p:spPr>
          <a:xfrm>
            <a:off x="812800" y="1879501"/>
            <a:ext cx="10566400" cy="4169663"/>
          </a:xfrm>
          <a:custGeom>
            <a:avLst/>
            <a:gdLst/>
            <a:ahLst/>
            <a:cxnLst/>
            <a:rect l="l" t="t" r="r" b="b"/>
            <a:pathLst>
              <a:path w="10566400" h="2596753">
                <a:moveTo>
                  <a:pt x="127000" y="2596753"/>
                </a:moveTo>
                <a:lnTo>
                  <a:pt x="127000" y="2596753"/>
                </a:lnTo>
                <a:arcTo hR="127000" wR="127000" stAng="5400000" swAng="5400000"/>
                <a:lnTo>
                  <a:pt x="0" y="127000"/>
                </a:lnTo>
                <a:arcTo hR="127000" wR="127000" stAng="10800000" swAng="5400000"/>
                <a:lnTo>
                  <a:pt x="10439400" y="0"/>
                </a:lnTo>
                <a:arcTo hR="127000" wR="127000" stAng="16200000" swAng="5400000"/>
                <a:lnTo>
                  <a:pt x="10566400" y="127000"/>
                </a:lnTo>
                <a:arcTo hR="114300" wR="127000" stAng="0" swAng="-5400000"/>
                <a:lnTo>
                  <a:pt x="127000" y="12700"/>
                </a:lnTo>
                <a:arcTo hR="114300" wR="114300" stAng="16200000" swAng="-5400000"/>
                <a:lnTo>
                  <a:pt x="12700" y="2469753"/>
                </a:lnTo>
                <a:arcTo hR="127000" wR="114300" stAng="10800000" swAng="-5400000"/>
                <a:close/>
              </a:path>
            </a:pathLst>
          </a:custGeom>
          <a:solidFill>
            <a:srgbClr val="141413">
              <a:alpha val="22000"/>
            </a:srgbClr>
          </a:solidFill>
          <a:ln/>
        </p:spPr>
        <p:txBody>
          <a:bodyPr/>
          <a:p/>
        </p:txBody>
      </p:sp>
      <p:sp>
        <p:nvSpPr>
          <p:cNvPr id="7" name="Shape 5"/>
          <p:cNvSpPr/>
          <p:nvPr/>
        </p:nvSpPr>
        <p:spPr>
          <a:xfrm>
            <a:off x="825500" y="1892201"/>
            <a:ext cx="10547350" cy="515541"/>
          </a:xfrm>
          <a:custGeom>
            <a:avLst/>
            <a:gdLst/>
            <a:ahLst/>
            <a:cxnLst/>
            <a:rect l="l" t="t" r="r" b="b"/>
            <a:pathLst>
              <a:path w="10547350" h="515541">
                <a:moveTo>
                  <a:pt x="0" y="114300"/>
                </a:moveTo>
                <a:arcTo hR="114300" wR="114300" stAng="10800000" swAng="5400000"/>
                <a:lnTo>
                  <a:pt x="10426700" y="0"/>
                </a:lnTo>
                <a:arcTo hR="120650" wR="120650" stAng="16200000" swAng="5400000"/>
                <a:lnTo>
                  <a:pt x="10547350" y="515541"/>
                </a:lnTo>
                <a:lnTo>
                  <a:pt x="0" y="515541"/>
                </a:lnTo>
                <a:close/>
              </a:path>
            </a:pathLst>
          </a:custGeom>
          <a:solidFill>
            <a:srgbClr val="E9E8E4"/>
          </a:solidFill>
          <a:ln/>
        </p:spPr>
        <p:txBody>
          <a:bodyPr/>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43032" cy="4151376"/>
        </p:xfrm>
        <a:graphic>
          <a:graphicData uri="http://schemas.openxmlformats.org/drawingml/2006/table">
            <a:tbl>
              <a:tblPr/>
              <a:tblGrid>
                <a:gridCol w="3108960"/>
                <a:gridCol w="3200400"/>
                <a:gridCol w="1554480"/>
                <a:gridCol w="2679192"/>
              </a:tblGrid>
              <a:tr h="457200">
                <a:tc>
                  <a:txBody>
                    <a:bodyPr/>
                    <a:lstStyle/>
                    <a:p>
                      <a:pPr indent="0" marL="0">
                        <a:lnSpc>
                          <a:spcPts val="1960"/>
                        </a:lnSpc>
                        <a:buNone/>
                      </a:pPr>
                      <a:r>
                        <a:rPr lang="en-US" sz="1400" dirty="0">
                          <a:solidFill>
                            <a:srgbClr val="8A909C"/>
                          </a:solidFill>
                          <a:latin typeface="IBM Plex Sans" charset="0"/>
                          <a:ea typeface="IBM Plex Sans" charset="0"/>
                          <a:cs typeface="IBM Plex Sans" charset="0"/>
                        </a:rPr>
                        <a:t>Architecture</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BAB9B6"/>
                      </a:solidFill>
                      <a:prstDash val="solid"/>
                      <a:round/>
                      <a:headEnd type="none" w="med" len="med"/>
                      <a:tailEnd type="none" w="med" len="med"/>
                    </a:lnR>
                    <a:lnT w="0" cap="flat" cmpd="sng" algn="ctr">
                      <a:noFill/>
                    </a:lnT>
                    <a:lnB w="12700" cap="flat" cmpd="sng" algn="ctr">
                      <a:solidFill>
                        <a:srgbClr val="BAB9B6"/>
                      </a:solidFill>
                      <a:prstDash val="solid"/>
                      <a:round/>
                      <a:headEnd type="none" w="med" len="med"/>
                      <a:tailEnd type="none" w="med" len="med"/>
                    </a:lnB>
                  </a:tcPr>
                </a:tc>
                <a:tc>
                  <a:txBody>
                    <a:bodyPr/>
                    <a:lstStyle/>
                    <a:p>
                      <a:pPr indent="0" marL="0">
                        <a:lnSpc>
                          <a:spcPts val="1960"/>
                        </a:lnSpc>
                        <a:buNone/>
                      </a:pPr>
                      <a:r>
                        <a:rPr lang="en-US" sz="1400" b="1" dirty="0">
                          <a:solidFill>
                            <a:srgbClr val="C2410C"/>
                          </a:solidFill>
                          <a:latin typeface="IBM Plex Sans" pitchFamily="34" charset="0"/>
                          <a:ea typeface="IBM Plex Sans" pitchFamily="34" charset="-122"/>
                          <a:cs typeface="IBM Plex Sans" pitchFamily="34" charset="-120"/>
                        </a:rPr>
                        <a:t>Good for</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0" cap="flat" cmpd="sng" algn="ctr">
                      <a:noFill/>
                    </a:lnT>
                    <a:lnB w="12700" cap="flat" cmpd="sng" algn="ctr">
                      <a:solidFill>
                        <a:srgbClr val="BAB9B6"/>
                      </a:solidFill>
                      <a:prstDash val="solid"/>
                      <a:round/>
                      <a:headEnd type="none" w="med" len="med"/>
                      <a:tailEnd type="none" w="med" len="med"/>
                    </a:lnB>
                  </a:tcPr>
                </a:tc>
                <a:tc>
                  <a:txBody>
                    <a:bodyPr/>
                    <a:lstStyle/>
                    <a:p>
                      <a:pPr indent="0" marL="0">
                        <a:lnSpc>
                          <a:spcPts val="1960"/>
                        </a:lnSpc>
                        <a:buNone/>
                      </a:pPr>
                      <a:r>
                        <a:rPr lang="en-US" sz="1400" b="1" dirty="0">
                          <a:solidFill>
                            <a:srgbClr val="1D5FD6"/>
                          </a:solidFill>
                          <a:latin typeface="IBM Plex Sans" pitchFamily="34" charset="0"/>
                          <a:ea typeface="IBM Plex Sans" pitchFamily="34" charset="-122"/>
                          <a:cs typeface="IBM Plex Sans" pitchFamily="34" charset="-120"/>
                        </a:rPr>
                        <a:t>Data</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0" cap="flat" cmpd="sng" algn="ctr">
                      <a:noFill/>
                    </a:lnT>
                    <a:lnB w="12700" cap="flat" cmpd="sng" algn="ctr">
                      <a:solidFill>
                        <a:srgbClr val="BAB9B6"/>
                      </a:solidFill>
                      <a:prstDash val="solid"/>
                      <a:round/>
                      <a:headEnd type="none" w="med" len="med"/>
                      <a:tailEnd type="none" w="med" len="med"/>
                    </a:lnB>
                  </a:tcPr>
                </a:tc>
                <a:tc>
                  <a:txBody>
                    <a:bodyPr/>
                    <a:lstStyle/>
                    <a:p>
                      <a:pPr indent="0" marL="0">
                        <a:lnSpc>
                          <a:spcPts val="1960"/>
                        </a:lnSpc>
                        <a:buNone/>
                      </a:pPr>
                      <a:r>
                        <a:rPr lang="en-US" sz="1400" b="1" dirty="0">
                          <a:solidFill>
                            <a:srgbClr val="2F855A"/>
                          </a:solidFill>
                          <a:latin typeface="IBM Plex Sans" pitchFamily="34" charset="0"/>
                          <a:ea typeface="IBM Plex Sans" pitchFamily="34" charset="-122"/>
                          <a:cs typeface="IBM Plex Sans" pitchFamily="34" charset="-120"/>
                        </a:rPr>
                        <a:t>Example</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BAB9B6"/>
                      </a:solidFill>
                      <a:prstDash val="solid"/>
                      <a:round/>
                      <a:headEnd type="none" w="med" len="med"/>
                      <a:tailEnd type="none" w="med" len="med"/>
                    </a:lnL>
                    <a:lnR w="12700" cap="flat" cmpd="sng" algn="ctr">
                      <a:solidFill>
                        <a:srgbClr val="BAB9B6"/>
                      </a:solidFill>
                      <a:prstDash val="solid"/>
                      <a:round/>
                      <a:headEnd type="none" w="med" len="med"/>
                      <a:tailEnd type="none" w="med" len="med"/>
                    </a:lnR>
                    <a:lnT w="0" cap="flat" cmpd="sng" algn="ctr">
                      <a:noFill/>
                    </a:lnT>
                    <a:lnB w="12700" cap="flat" cmpd="sng" algn="ctr">
                      <a:solidFill>
                        <a:srgbClr val="BAB9B6"/>
                      </a:solidFill>
                      <a:prstDash val="solid"/>
                      <a:round/>
                      <a:headEnd type="none" w="med" len="med"/>
                      <a:tailEnd type="none" w="med" len="med"/>
                    </a:lnB>
                  </a:tcPr>
                </a:tc>
              </a:tr>
              <a:tr h="475488">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MLP (fully connected)</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stacked perceptrons, any numbers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vectors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small classifiers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475488">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CNN (convolutional)</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local patterns in grids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images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skin cancer</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475488">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RNN · LSTM</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order matters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sequences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energy demand</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475488">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Transformer</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attention: text and almost anything</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text, images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ChatGPT, Claude</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475488">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Autoencoder</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compression, anomalies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any</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failing machine</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475488">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Diffusion model</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generating images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images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Stable Diffusion</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r h="475488">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DQN · PPO (reinforcement)</a:t>
                      </a:r>
                      <a:endParaRPr lang="en-US" sz="1400" dirty="0">
                        <a:latin typeface="IBM Plex Sans" charset="0"/>
                        <a:ea typeface="IBM Plex Sans" charset="0"/>
                        <a:cs typeface="IBM Plex Sans" charset="0"/>
                      </a:endParaRPr>
                    </a:p>
                  </a:txBody>
                  <a:tcPr marL="177800" marR="177800" marT="127000" marB="127000" anchor="t">
                    <a:lnL w="0" cap="flat" cmpd="sng" algn="ctr">
                      <a:noFill/>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decisions by trial and error</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rewards</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c>
                  <a:txBody>
                    <a:bodyPr/>
                    <a:lstStyle/>
                    <a:p>
                      <a:pPr indent="0" marL="0">
                        <a:lnSpc>
                          <a:spcPts val="1960"/>
                        </a:lnSpc>
                        <a:buNone/>
                      </a:pPr>
                      <a:r>
                        <a:rPr lang="en-US" sz="1400" dirty="0">
                          <a:solidFill>
                            <a:srgbClr val="16181D"/>
                          </a:solidFill>
                          <a:latin typeface="IBM Plex Sans" pitchFamily="34" charset="0"/>
                          <a:ea typeface="IBM Plex Sans" pitchFamily="34" charset="-122"/>
                          <a:cs typeface="IBM Plex Sans" pitchFamily="34" charset="-120"/>
                        </a:rPr>
                        <a:t>data-centre cooling</a:t>
                      </a:r>
                      <a:endParaRPr lang="en-US" sz="1400" dirty="0">
                        <a:latin typeface="IBM Plex Sans" charset="0"/>
                        <a:ea typeface="IBM Plex Sans" charset="0"/>
                        <a:cs typeface="IBM Plex Sans" charset="0"/>
                      </a:endParaRPr>
                    </a:p>
                  </a:txBody>
                  <a:tcPr marL="177800" marR="177800" marT="127000" marB="127000" anchor="t">
                    <a:lnL w="12700" cap="flat" cmpd="sng" algn="ctr">
                      <a:solidFill>
                        <a:srgbClr val="C8C7C4"/>
                      </a:solidFill>
                      <a:prstDash val="solid"/>
                      <a:round/>
                      <a:headEnd type="none" w="med" len="med"/>
                      <a:tailEnd type="none" w="med" len="med"/>
                    </a:lnL>
                    <a:lnR w="12700" cap="flat" cmpd="sng" algn="ctr">
                      <a:solidFill>
                        <a:srgbClr val="C8C7C4"/>
                      </a:solidFill>
                      <a:prstDash val="solid"/>
                      <a:round/>
                      <a:headEnd type="none" w="med" len="med"/>
                      <a:tailEnd type="none" w="med" len="med"/>
                    </a:lnR>
                    <a:lnT w="12700" cap="flat" cmpd="sng" algn="ctr">
                      <a:solidFill>
                        <a:srgbClr val="BAB9B6"/>
                      </a:solidFill>
                      <a:prstDash val="solid"/>
                      <a:round/>
                      <a:headEnd type="none" w="med" len="med"/>
                      <a:tailEnd type="none" w="med" len="med"/>
                    </a:lnT>
                    <a:lnB w="12700" cap="flat" cmpd="sng" algn="ctr">
                      <a:solidFill>
                        <a:srgbClr val="C8C7C4"/>
                      </a:solidFill>
                      <a:prstDash val="solid"/>
                      <a:round/>
                      <a:headEnd type="none" w="med" len="med"/>
                      <a:tailEnd type="none" w="med" len="med"/>
                    </a:lnB>
                  </a:tcPr>
                </a:tc>
              </a:tr>
            </a:tbl>
          </a:graphicData>
        </a:graphic>
      </p:graphicFrame>
      <p:pic>
        <p:nvPicPr>
          <p:cNvPr id="9" name="Image 0" descr="Lightbulb">    </p:cNvPr>
          <p:cNvPicPr>
            <a:picLocks noChangeAspect="1"/>
          </p:cNvPicPr>
          <p:nvPr/>
        </p:nvPicPr>
        <p:blipFill>
          <a:blip r:embed="rId1"/>
          <a:srcRect l="0" r="0" t="0" b="0"/>
          <a:stretch/>
        </p:blipFill>
        <p:spPr>
          <a:xfrm>
            <a:off x="812800" y="6272783"/>
            <a:ext cx="279400" cy="279400"/>
          </a:xfrm>
          <a:prstGeom prst="rect">
            <a:avLst/>
          </a:prstGeom>
        </p:spPr>
      </p:pic>
      <p:sp>
        <p:nvSpPr>
          <p:cNvPr id="10" name="Text 6"/>
          <p:cNvSpPr/>
          <p:nvPr/>
        </p:nvSpPr>
        <p:spPr>
          <a:xfrm>
            <a:off x="1219200" y="6281927"/>
            <a:ext cx="878609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181D"/>
                </a:solidFill>
                <a:latin typeface="IBM Plex Sans" pitchFamily="34" charset="0"/>
                <a:ea typeface="IBM Plex Sans" pitchFamily="34" charset="-122"/>
                <a:cs typeface="IBM Plex Sans" pitchFamily="34" charset="-120"/>
              </a:rPr>
              <a:t>All of these learn with the loop from session 2: loss, slope, gradient step.</a:t>
            </a:r>
            <a:endParaRPr lang="en-US" sz="1500" dirty="0"/>
          </a:p>
        </p:txBody>
      </p:sp>
    </p:spTree>
  </p:cSld>
  <p:clrMapOvr>
    <a:masterClrMapping/>
  </p:clrMapOvr>
</p:sld>
</file>

<file path=ppt/theme/theme1.xml><?xml version="1.0" encoding="utf-8"?>
<a:theme xmlns:a="http://schemas.openxmlformats.org/drawingml/2006/main" name="SE &amp; ML — Session 2: How Machine Learning Gets Made">
  <a:themeElements>
    <a:clrScheme name="SE &amp; ML — Session 2: How Machine Learning Gets Made">
      <a:dk1>
        <a:srgbClr val="16181D"/>
      </a:dk1>
      <a:lt1>
        <a:srgbClr val="F2EFE7"/>
      </a:lt1>
      <a:dk2>
        <a:srgbClr val="4D4E50"/>
      </a:dk2>
      <a:lt2>
        <a:srgbClr val="DCDAD3"/>
      </a:lt2>
      <a:accent1>
        <a:srgbClr val="C2410C"/>
      </a:accent1>
      <a:accent2>
        <a:srgbClr val="FF7A45"/>
      </a:accent2>
      <a:accent3>
        <a:srgbClr val="1D5FD6"/>
      </a:accent3>
      <a:accent4>
        <a:srgbClr val="F6DCCD"/>
      </a:accent4>
      <a:accent5>
        <a:srgbClr val="2F855A"/>
      </a:accent5>
      <a:accent6>
        <a:srgbClr val="7FB4FF"/>
      </a:accent6>
      <a:hlink>
        <a:srgbClr val="0563C1"/>
      </a:hlink>
      <a:folHlink>
        <a:srgbClr val="954F72"/>
      </a:folHlink>
    </a:clrScheme>
    <a:fontScheme name="SE &amp; ML — Session 2: How Machine Learning Gets Mad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 &amp; ML — Session 2: How Machine Learning Gets Made</dc:title>
  <dc:subject/>
  <dc:creator/>
  <cp:lastModifiedBy/>
  <cp:revision>1</cp:revision>
  <dcterms:created xsi:type="dcterms:W3CDTF">2026-10-19T06:16:00Z</dcterms:created>
  <dcterms:modified xsi:type="dcterms:W3CDTF">2026-10-19T06:16:00Z</dcterms:modified>
</cp:coreProperties>
</file>